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Lst>
  <p:sldSz cx="10287000" cy="10287000"/>
  <p:notesSz cx="6858000" cy="9144000"/>
  <p:embeddedFontLst>
    <p:embeddedFont>
      <p:font typeface="Gagalin" charset="1" panose="00000500000000000000"/>
      <p:regular r:id="rId78"/>
    </p:embeddedFont>
    <p:embeddedFont>
      <p:font typeface="Canva Student Font" charset="1" panose="00000000000000000000"/>
      <p:regular r:id="rId7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fonts/font78.fntdata" Type="http://schemas.openxmlformats.org/officeDocument/2006/relationships/font"/><Relationship Id="rId79" Target="fonts/font79.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96411" y="93113"/>
            <a:ext cx="9894179" cy="2716530"/>
          </a:xfrm>
          <a:prstGeom prst="rect">
            <a:avLst/>
          </a:prstGeom>
        </p:spPr>
        <p:txBody>
          <a:bodyPr anchor="t" rtlCol="false" tIns="0" lIns="0" bIns="0" rIns="0">
            <a:spAutoFit/>
          </a:bodyPr>
          <a:lstStyle/>
          <a:p>
            <a:pPr algn="ctr">
              <a:lnSpc>
                <a:spcPts val="10919"/>
              </a:lnSpc>
            </a:pPr>
            <a:r>
              <a:rPr lang="en-US" sz="7800">
                <a:solidFill>
                  <a:srgbClr val="000000"/>
                </a:solidFill>
                <a:latin typeface="Gagalin"/>
                <a:ea typeface="Gagalin"/>
                <a:cs typeface="Gagalin"/>
                <a:sym typeface="Gagalin"/>
              </a:rPr>
              <a:t>general security concepts</a:t>
            </a:r>
          </a:p>
        </p:txBody>
      </p:sp>
      <p:sp>
        <p:nvSpPr>
          <p:cNvPr name="TextBox 3" id="3"/>
          <p:cNvSpPr txBox="true"/>
          <p:nvPr/>
        </p:nvSpPr>
        <p:spPr>
          <a:xfrm rot="0">
            <a:off x="3000673" y="2723918"/>
            <a:ext cx="4645372" cy="755015"/>
          </a:xfrm>
          <a:prstGeom prst="rect">
            <a:avLst/>
          </a:prstGeom>
        </p:spPr>
        <p:txBody>
          <a:bodyPr anchor="t" rtlCol="false" tIns="0" lIns="0" bIns="0" rIns="0">
            <a:spAutoFit/>
          </a:bodyPr>
          <a:lstStyle/>
          <a:p>
            <a:pPr algn="ctr">
              <a:lnSpc>
                <a:spcPts val="6160"/>
              </a:lnSpc>
            </a:pP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security controls</a:t>
            </a:r>
          </a:p>
        </p:txBody>
      </p:sp>
      <p:sp>
        <p:nvSpPr>
          <p:cNvPr name="TextBox 4" id="4"/>
          <p:cNvSpPr txBox="true"/>
          <p:nvPr/>
        </p:nvSpPr>
        <p:spPr>
          <a:xfrm rot="0">
            <a:off x="-4762" y="3634309"/>
            <a:ext cx="5148262" cy="2886706"/>
          </a:xfrm>
          <a:prstGeom prst="rect">
            <a:avLst/>
          </a:prstGeom>
        </p:spPr>
        <p:txBody>
          <a:bodyPr anchor="t" rtlCol="false" tIns="0" lIns="0" bIns="0" rIns="0">
            <a:spAutoFit/>
          </a:bodyPr>
          <a:lstStyle/>
          <a:p>
            <a:pPr algn="l" marL="885225" indent="-442612"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measures used to protects assets- i.e data, physical property, or computer systems.</a:t>
            </a:r>
          </a:p>
        </p:txBody>
      </p:sp>
      <p:sp>
        <p:nvSpPr>
          <p:cNvPr name="TextBox 5" id="5"/>
          <p:cNvSpPr txBox="true"/>
          <p:nvPr/>
        </p:nvSpPr>
        <p:spPr>
          <a:xfrm rot="0">
            <a:off x="2929086" y="7397315"/>
            <a:ext cx="5148262" cy="2162810"/>
          </a:xfrm>
          <a:prstGeom prst="rect">
            <a:avLst/>
          </a:prstGeom>
        </p:spPr>
        <p:txBody>
          <a:bodyPr anchor="t" rtlCol="false" tIns="0" lIns="0" bIns="0" rIns="0">
            <a:spAutoFit/>
          </a:bodyPr>
          <a:lstStyle/>
          <a:p>
            <a:pPr algn="l" marL="885191" indent="-442595"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help prevent security incidents, reduce their impact and limit damage.</a:t>
            </a:r>
          </a:p>
        </p:txBody>
      </p:sp>
      <p:sp>
        <p:nvSpPr>
          <p:cNvPr name="TextBox 6" id="6"/>
          <p:cNvSpPr txBox="true"/>
          <p:nvPr/>
        </p:nvSpPr>
        <p:spPr>
          <a:xfrm rot="0">
            <a:off x="5143500" y="3660124"/>
            <a:ext cx="5148262" cy="2886710"/>
          </a:xfrm>
          <a:prstGeom prst="rect">
            <a:avLst/>
          </a:prstGeom>
        </p:spPr>
        <p:txBody>
          <a:bodyPr anchor="t" rtlCol="false" tIns="0" lIns="0" bIns="0" rIns="0">
            <a:spAutoFit/>
          </a:bodyPr>
          <a:lstStyle/>
          <a:p>
            <a:pPr algn="l" marL="885191" indent="-442595"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ensure confidentiality, integrity, availability, and non-repudiation (ensures action cant be denied.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755476" y="5926575"/>
            <a:ext cx="3278686" cy="2602250"/>
          </a:xfrm>
          <a:prstGeom prst="rect">
            <a:avLst/>
          </a:prstGeom>
        </p:spPr>
      </p:pic>
      <p:sp>
        <p:nvSpPr>
          <p:cNvPr name="TextBox 3" id="3"/>
          <p:cNvSpPr txBox="true"/>
          <p:nvPr/>
        </p:nvSpPr>
        <p:spPr>
          <a:xfrm rot="0">
            <a:off x="2682255" y="323219"/>
            <a:ext cx="4922490" cy="755011"/>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0CC0DF">
                        <a:alpha val="100000"/>
                      </a:srgbClr>
                    </a:gs>
                    <a:gs pos="100000">
                      <a:srgbClr val="FFDE59">
                        <a:alpha val="100000"/>
                      </a:srgbClr>
                    </a:gs>
                  </a:gsLst>
                  <a:lin ang="0"/>
                </a:gradFill>
                <a:latin typeface="Gagalin"/>
                <a:ea typeface="Gagalin"/>
                <a:cs typeface="Gagalin"/>
                <a:sym typeface="Gagalin"/>
              </a:rPr>
              <a:t>CONTROL CATEGORIES</a:t>
            </a:r>
          </a:p>
        </p:txBody>
      </p:sp>
      <p:sp>
        <p:nvSpPr>
          <p:cNvPr name="TextBox 4" id="4"/>
          <p:cNvSpPr txBox="true"/>
          <p:nvPr/>
        </p:nvSpPr>
        <p:spPr>
          <a:xfrm rot="0">
            <a:off x="0" y="1141389"/>
            <a:ext cx="7880032" cy="50584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technical controls</a:t>
            </a:r>
            <a:r>
              <a:rPr lang="en-US" sz="4100">
                <a:solidFill>
                  <a:srgbClr val="000000"/>
                </a:solidFill>
                <a:latin typeface="Canva Student Font"/>
                <a:ea typeface="Canva Student Font"/>
                <a:cs typeface="Canva Student Font"/>
                <a:sym typeface="Canva Student Font"/>
              </a:rPr>
              <a:t> also known as logical controls. implemented to manage and reduce risks using computer systems such as hardware, software, or firmware. e.g. firewalls, AV Software, access control, least privilege, IDS &amp; IPS, encryption, Radius servers, RAID arrays etc,</a:t>
            </a:r>
          </a:p>
        </p:txBody>
      </p:sp>
      <p:sp>
        <p:nvSpPr>
          <p:cNvPr name="TextBox 5" id="5"/>
          <p:cNvSpPr txBox="true"/>
          <p:nvPr/>
        </p:nvSpPr>
        <p:spPr>
          <a:xfrm rot="0">
            <a:off x="4464540" y="6371590"/>
            <a:ext cx="5148262" cy="3610610"/>
          </a:xfrm>
          <a:prstGeom prst="rect">
            <a:avLst/>
          </a:prstGeom>
        </p:spPr>
        <p:txBody>
          <a:bodyPr anchor="t" rtlCol="false" tIns="0" lIns="0" bIns="0" rIns="0">
            <a:spAutoFit/>
          </a:bodyPr>
          <a:lstStyle/>
          <a:p>
            <a:pPr algn="l" marL="885192" indent="-442596" lvl="1">
              <a:lnSpc>
                <a:spcPts val="5740"/>
              </a:lnSpc>
              <a:buFont typeface="Arial"/>
              <a:buChar char="•"/>
            </a:pPr>
            <a:r>
              <a:rPr lang="en-US" sz="4100">
                <a:solidFill>
                  <a:srgbClr val="FF66C4"/>
                </a:solidFill>
                <a:latin typeface="Canva Student Font"/>
                <a:ea typeface="Canva Student Font"/>
                <a:cs typeface="Canva Student Font"/>
                <a:sym typeface="Canva Student Font"/>
              </a:rPr>
              <a:t>Radius servers fall under access control.</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RAID arrays fall under data protection and availability</a:t>
            </a:r>
          </a:p>
        </p:txBody>
      </p:sp>
      <p:sp>
        <p:nvSpPr>
          <p:cNvPr name="TextBox 6" id="6"/>
          <p:cNvSpPr txBox="true"/>
          <p:nvPr/>
        </p:nvSpPr>
        <p:spPr>
          <a:xfrm rot="0">
            <a:off x="9017845" y="254929"/>
            <a:ext cx="9525" cy="715010"/>
          </a:xfrm>
          <a:prstGeom prst="rect">
            <a:avLst/>
          </a:prstGeom>
        </p:spPr>
        <p:txBody>
          <a:bodyPr anchor="t" rtlCol="false" tIns="0" lIns="0" bIns="0" rIns="0">
            <a:spAutoFit/>
          </a:bodyPr>
          <a:lstStyle/>
          <a:p>
            <a:pPr algn="ctr">
              <a:lnSpc>
                <a:spcPts val="574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022006" y="98172"/>
            <a:ext cx="2242989" cy="7150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Radius Server</a:t>
            </a:r>
          </a:p>
        </p:txBody>
      </p:sp>
      <p:sp>
        <p:nvSpPr>
          <p:cNvPr name="TextBox 3" id="3"/>
          <p:cNvSpPr txBox="true"/>
          <p:nvPr/>
        </p:nvSpPr>
        <p:spPr>
          <a:xfrm rot="0">
            <a:off x="447526" y="717932"/>
            <a:ext cx="9459962" cy="698500"/>
          </a:xfrm>
          <a:prstGeom prst="rect">
            <a:avLst/>
          </a:prstGeom>
        </p:spPr>
        <p:txBody>
          <a:bodyPr anchor="t" rtlCol="false" tIns="0" lIns="0" bIns="0" rIns="0">
            <a:spAutoFit/>
          </a:bodyPr>
          <a:lstStyle/>
          <a:p>
            <a:pPr algn="l" marL="863603" indent="-431801" lvl="1">
              <a:lnSpc>
                <a:spcPts val="5600"/>
              </a:lnSpc>
              <a:spcBef>
                <a:spcPct val="0"/>
              </a:spcBef>
              <a:buFont typeface="Arial"/>
              <a:buChar char="•"/>
            </a:pPr>
            <a:r>
              <a:rPr lang="en-US" sz="4000">
                <a:solidFill>
                  <a:srgbClr val="000000"/>
                </a:solidFill>
                <a:latin typeface="Canva Student Font"/>
                <a:ea typeface="Canva Student Font"/>
                <a:cs typeface="Canva Student Font"/>
                <a:sym typeface="Canva Student Font"/>
              </a:rPr>
              <a:t>stands for Remote Authentication Dial-In User Service.</a:t>
            </a:r>
          </a:p>
        </p:txBody>
      </p:sp>
      <p:sp>
        <p:nvSpPr>
          <p:cNvPr name="TextBox 4" id="4"/>
          <p:cNvSpPr txBox="true"/>
          <p:nvPr/>
        </p:nvSpPr>
        <p:spPr>
          <a:xfrm rot="0">
            <a:off x="457051" y="1321181"/>
            <a:ext cx="9220200" cy="698500"/>
          </a:xfrm>
          <a:prstGeom prst="rect">
            <a:avLst/>
          </a:prstGeom>
        </p:spPr>
        <p:txBody>
          <a:bodyPr anchor="t" rtlCol="false" tIns="0" lIns="0" bIns="0" rIns="0">
            <a:spAutoFit/>
          </a:bodyPr>
          <a:lstStyle/>
          <a:p>
            <a:pPr algn="l" marL="863603" indent="-431801" lvl="1">
              <a:lnSpc>
                <a:spcPts val="5600"/>
              </a:lnSpc>
              <a:spcBef>
                <a:spcPct val="0"/>
              </a:spcBef>
              <a:buFont typeface="Arial"/>
              <a:buChar char="•"/>
            </a:pPr>
            <a:r>
              <a:rPr lang="en-US" sz="4000">
                <a:solidFill>
                  <a:srgbClr val="000000"/>
                </a:solidFill>
                <a:latin typeface="Canva Student Font"/>
                <a:ea typeface="Canva Student Font"/>
                <a:cs typeface="Canva Student Font"/>
                <a:sym typeface="Canva Student Font"/>
              </a:rPr>
              <a:t>C</a:t>
            </a:r>
            <a:r>
              <a:rPr lang="en-US" sz="4000">
                <a:solidFill>
                  <a:srgbClr val="000000"/>
                </a:solidFill>
                <a:latin typeface="Canva Student Font"/>
                <a:ea typeface="Canva Student Font"/>
                <a:cs typeface="Canva Student Font"/>
                <a:sym typeface="Canva Student Font"/>
              </a:rPr>
              <a:t>ontrols network access against unauthorised access</a:t>
            </a:r>
          </a:p>
        </p:txBody>
      </p:sp>
      <p:sp>
        <p:nvSpPr>
          <p:cNvPr name="TextBox 5" id="5"/>
          <p:cNvSpPr txBox="true"/>
          <p:nvPr/>
        </p:nvSpPr>
        <p:spPr>
          <a:xfrm rot="0">
            <a:off x="0" y="3625850"/>
            <a:ext cx="10287000" cy="5632450"/>
          </a:xfrm>
          <a:prstGeom prst="rect">
            <a:avLst/>
          </a:prstGeom>
        </p:spPr>
        <p:txBody>
          <a:bodyPr anchor="t" rtlCol="false" tIns="0" lIns="0" bIns="0" rIns="0">
            <a:spAutoFit/>
          </a:bodyPr>
          <a:lstStyle/>
          <a:p>
            <a:pPr algn="ctr">
              <a:lnSpc>
                <a:spcPts val="5600"/>
              </a:lnSpc>
            </a:pPr>
            <a:r>
              <a:rPr lang="en-US" sz="4000">
                <a:solidFill>
                  <a:srgbClr val="000000"/>
                </a:solidFill>
                <a:latin typeface="Canva Student Font"/>
                <a:ea typeface="Canva Student Font"/>
                <a:cs typeface="Canva Student Font"/>
                <a:sym typeface="Canva Student Font"/>
              </a:rPr>
              <a:t>Imagine you arrive at work and connect to the company's Wi-Fi.</a:t>
            </a:r>
          </a:p>
          <a:p>
            <a:pPr algn="ctr" marL="863603" indent="-431801" lvl="1">
              <a:lnSpc>
                <a:spcPts val="5600"/>
              </a:lnSpc>
              <a:spcBef>
                <a:spcPct val="0"/>
              </a:spcBef>
              <a:buAutoNum type="arabicPeriod" startAt="1"/>
            </a:pPr>
            <a:r>
              <a:rPr lang="en-US" sz="4000">
                <a:solidFill>
                  <a:srgbClr val="000000"/>
                </a:solidFill>
                <a:latin typeface="Canva Student Font"/>
                <a:ea typeface="Canva Student Font"/>
                <a:cs typeface="Canva Student Font"/>
                <a:sym typeface="Canva Student Font"/>
              </a:rPr>
              <a:t>You enter your username and password.</a:t>
            </a:r>
          </a:p>
          <a:p>
            <a:pPr algn="ctr" marL="863603" indent="-431801" lvl="1">
              <a:lnSpc>
                <a:spcPts val="5600"/>
              </a:lnSpc>
              <a:spcBef>
                <a:spcPct val="0"/>
              </a:spcBef>
              <a:buAutoNum type="arabicPeriod" startAt="1"/>
            </a:pPr>
            <a:r>
              <a:rPr lang="en-US" sz="4000">
                <a:solidFill>
                  <a:srgbClr val="000000"/>
                </a:solidFill>
                <a:latin typeface="Canva Student Font"/>
                <a:ea typeface="Canva Student Font"/>
                <a:cs typeface="Canva Student Font"/>
                <a:sym typeface="Canva Student Font"/>
              </a:rPr>
              <a:t>The network asks the RADIUS server to check your login details.</a:t>
            </a:r>
          </a:p>
          <a:p>
            <a:pPr algn="ctr" marL="863603" indent="-431801" lvl="1">
              <a:lnSpc>
                <a:spcPts val="5600"/>
              </a:lnSpc>
              <a:spcBef>
                <a:spcPct val="0"/>
              </a:spcBef>
              <a:buAutoNum type="arabicPeriod" startAt="1"/>
            </a:pPr>
            <a:r>
              <a:rPr lang="en-US" sz="4000">
                <a:solidFill>
                  <a:srgbClr val="000000"/>
                </a:solidFill>
                <a:latin typeface="Canva Student Font"/>
                <a:ea typeface="Canva Student Font"/>
                <a:cs typeface="Canva Student Font"/>
                <a:sym typeface="Canva Student Font"/>
              </a:rPr>
              <a:t>The server verifies whether you are authorised.</a:t>
            </a:r>
          </a:p>
          <a:p>
            <a:pPr algn="ctr" marL="863603" indent="-431801" lvl="1">
              <a:lnSpc>
                <a:spcPts val="5600"/>
              </a:lnSpc>
              <a:spcBef>
                <a:spcPct val="0"/>
              </a:spcBef>
              <a:buAutoNum type="arabicPeriod" startAt="1"/>
            </a:pPr>
            <a:r>
              <a:rPr lang="en-US" sz="4000">
                <a:solidFill>
                  <a:srgbClr val="000000"/>
                </a:solidFill>
                <a:latin typeface="Canva Student Font"/>
                <a:ea typeface="Canva Student Font"/>
                <a:cs typeface="Canva Student Font"/>
                <a:sym typeface="Canva Student Font"/>
              </a:rPr>
              <a:t>If your details are valid, you are allowed to connect. If not, access is denied.</a:t>
            </a:r>
          </a:p>
          <a:p>
            <a:pPr algn="ctr">
              <a:lnSpc>
                <a:spcPts val="5600"/>
              </a:lnSpc>
              <a:spcBef>
                <a:spcPct val="0"/>
              </a:spcBef>
            </a:pPr>
          </a:p>
        </p:txBody>
      </p:sp>
      <p:sp>
        <p:nvSpPr>
          <p:cNvPr name="TextBox 6" id="6"/>
          <p:cNvSpPr txBox="true"/>
          <p:nvPr/>
        </p:nvSpPr>
        <p:spPr>
          <a:xfrm rot="0">
            <a:off x="457051" y="1946183"/>
            <a:ext cx="7905824" cy="14389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Verifies users' identities before granting network access.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41497" y="6279288"/>
            <a:ext cx="5709390" cy="3845787"/>
          </a:xfrm>
          <a:custGeom>
            <a:avLst/>
            <a:gdLst/>
            <a:ahLst/>
            <a:cxnLst/>
            <a:rect r="r" b="b" t="t" l="l"/>
            <a:pathLst>
              <a:path h="3845787" w="5709390">
                <a:moveTo>
                  <a:pt x="0" y="0"/>
                </a:moveTo>
                <a:lnTo>
                  <a:pt x="5709390" y="0"/>
                </a:lnTo>
                <a:lnTo>
                  <a:pt x="5709390" y="3845787"/>
                </a:lnTo>
                <a:lnTo>
                  <a:pt x="0" y="3845787"/>
                </a:lnTo>
                <a:lnTo>
                  <a:pt x="0" y="0"/>
                </a:lnTo>
                <a:close/>
              </a:path>
            </a:pathLst>
          </a:custGeom>
          <a:blipFill>
            <a:blip r:embed="rId2"/>
            <a:stretch>
              <a:fillRect l="-5183" t="-10863" r="-5183" b="-12024"/>
            </a:stretch>
          </a:blipFill>
        </p:spPr>
      </p:sp>
      <p:sp>
        <p:nvSpPr>
          <p:cNvPr name="TextBox 3" id="3"/>
          <p:cNvSpPr txBox="true"/>
          <p:nvPr/>
        </p:nvSpPr>
        <p:spPr>
          <a:xfrm rot="0">
            <a:off x="3983491" y="147275"/>
            <a:ext cx="2025402" cy="7150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RAID Arrays</a:t>
            </a:r>
          </a:p>
        </p:txBody>
      </p:sp>
      <p:sp>
        <p:nvSpPr>
          <p:cNvPr name="TextBox 4" id="4"/>
          <p:cNvSpPr txBox="true"/>
          <p:nvPr/>
        </p:nvSpPr>
        <p:spPr>
          <a:xfrm rot="0">
            <a:off x="-28635" y="933450"/>
            <a:ext cx="10049655" cy="698500"/>
          </a:xfrm>
          <a:prstGeom prst="rect">
            <a:avLst/>
          </a:prstGeom>
        </p:spPr>
        <p:txBody>
          <a:bodyPr anchor="t" rtlCol="false" tIns="0" lIns="0" bIns="0" rIns="0">
            <a:spAutoFit/>
          </a:bodyPr>
          <a:lstStyle/>
          <a:p>
            <a:pPr algn="l" marL="863603" indent="-431801" lvl="1">
              <a:lnSpc>
                <a:spcPts val="5600"/>
              </a:lnSpc>
              <a:spcBef>
                <a:spcPct val="0"/>
              </a:spcBef>
              <a:buFont typeface="Arial"/>
              <a:buChar char="•"/>
            </a:pPr>
            <a:r>
              <a:rPr lang="en-US" sz="4000">
                <a:solidFill>
                  <a:srgbClr val="000000"/>
                </a:solidFill>
                <a:latin typeface="Canva Student Font"/>
                <a:ea typeface="Canva Student Font"/>
                <a:cs typeface="Canva Student Font"/>
                <a:sym typeface="Canva Student Font"/>
              </a:rPr>
              <a:t>RAID stands f</a:t>
            </a:r>
            <a:r>
              <a:rPr lang="en-US" sz="4000">
                <a:solidFill>
                  <a:srgbClr val="000000"/>
                </a:solidFill>
                <a:latin typeface="Canva Student Font"/>
                <a:ea typeface="Canva Student Font"/>
                <a:cs typeface="Canva Student Font"/>
                <a:sym typeface="Canva Student Font"/>
              </a:rPr>
              <a:t>or Redundant Array of Independent Disks.</a:t>
            </a:r>
          </a:p>
        </p:txBody>
      </p:sp>
      <p:sp>
        <p:nvSpPr>
          <p:cNvPr name="TextBox 5" id="5"/>
          <p:cNvSpPr txBox="true"/>
          <p:nvPr/>
        </p:nvSpPr>
        <p:spPr>
          <a:xfrm rot="0">
            <a:off x="-57270" y="1792809"/>
            <a:ext cx="10049655" cy="2108200"/>
          </a:xfrm>
          <a:prstGeom prst="rect">
            <a:avLst/>
          </a:prstGeom>
        </p:spPr>
        <p:txBody>
          <a:bodyPr anchor="t" rtlCol="false" tIns="0" lIns="0" bIns="0" rIns="0">
            <a:spAutoFit/>
          </a:bodyPr>
          <a:lstStyle/>
          <a:p>
            <a:pPr algn="l" marL="863603" indent="-431801" lvl="1">
              <a:lnSpc>
                <a:spcPts val="5600"/>
              </a:lnSpc>
              <a:spcBef>
                <a:spcPct val="0"/>
              </a:spcBef>
              <a:buFont typeface="Arial"/>
              <a:buChar char="•"/>
            </a:pPr>
            <a:r>
              <a:rPr lang="en-US" sz="4000">
                <a:solidFill>
                  <a:srgbClr val="000000"/>
                </a:solidFill>
                <a:latin typeface="Canva Student Font"/>
                <a:ea typeface="Canva Student Font"/>
                <a:cs typeface="Canva Student Font"/>
                <a:sym typeface="Canva Student Font"/>
              </a:rPr>
              <a:t>A RAID array c</a:t>
            </a:r>
            <a:r>
              <a:rPr lang="en-US" sz="4000">
                <a:solidFill>
                  <a:srgbClr val="000000"/>
                </a:solidFill>
                <a:latin typeface="Canva Student Font"/>
                <a:ea typeface="Canva Student Font"/>
                <a:cs typeface="Canva Student Font"/>
                <a:sym typeface="Canva Student Font"/>
              </a:rPr>
              <a:t>ombines multiple hard drives or solid-state drives to improve data reliability, performance, or both, depending on how it is configured.</a:t>
            </a:r>
          </a:p>
        </p:txBody>
      </p:sp>
      <p:sp>
        <p:nvSpPr>
          <p:cNvPr name="TextBox 6" id="6"/>
          <p:cNvSpPr txBox="true"/>
          <p:nvPr/>
        </p:nvSpPr>
        <p:spPr>
          <a:xfrm rot="0">
            <a:off x="0" y="4116479"/>
            <a:ext cx="9992384" cy="2108200"/>
          </a:xfrm>
          <a:prstGeom prst="rect">
            <a:avLst/>
          </a:prstGeom>
        </p:spPr>
        <p:txBody>
          <a:bodyPr anchor="t" rtlCol="false" tIns="0" lIns="0" bIns="0" rIns="0">
            <a:spAutoFit/>
          </a:bodyPr>
          <a:lstStyle/>
          <a:p>
            <a:pPr algn="ctr">
              <a:lnSpc>
                <a:spcPts val="5600"/>
              </a:lnSpc>
              <a:spcBef>
                <a:spcPct val="0"/>
              </a:spcBef>
            </a:pPr>
            <a:r>
              <a:rPr lang="en-US" sz="4000">
                <a:solidFill>
                  <a:srgbClr val="000000"/>
                </a:solidFill>
                <a:latin typeface="Canva Student Font"/>
                <a:ea typeface="Canva Student Font"/>
                <a:cs typeface="Canva Student Font"/>
                <a:sym typeface="Canva Student Font"/>
              </a:rPr>
              <a:t>Why is it a technical control?</a:t>
            </a:r>
          </a:p>
          <a:p>
            <a:pPr algn="ctr">
              <a:lnSpc>
                <a:spcPts val="5600"/>
              </a:lnSpc>
              <a:spcBef>
                <a:spcPct val="0"/>
              </a:spcBef>
            </a:pPr>
            <a:r>
              <a:rPr lang="en-US" sz="4000">
                <a:solidFill>
                  <a:srgbClr val="000000"/>
                </a:solidFill>
                <a:latin typeface="Canva Student Font"/>
                <a:ea typeface="Canva Student Font"/>
                <a:cs typeface="Canva Student Font"/>
                <a:sym typeface="Canva Student Font"/>
              </a:rPr>
              <a:t>It can improve data availability and protect against data loss caused by certain hardware failures.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5058410"/>
          </a:xfrm>
          <a:prstGeom prst="rect">
            <a:avLst/>
          </a:prstGeom>
        </p:spPr>
        <p:txBody>
          <a:bodyPr anchor="t" rtlCol="false" tIns="0" lIns="0" bIns="0" rIns="0">
            <a:spAutoFit/>
          </a:bodyPr>
          <a:lstStyle/>
          <a:p>
            <a:pPr algn="l" marL="885191" indent="-442595"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operational controls</a:t>
            </a:r>
            <a:r>
              <a:rPr lang="en-US" sz="4100">
                <a:solidFill>
                  <a:srgbClr val="000000"/>
                </a:solidFill>
                <a:latin typeface="Canva Student Font"/>
                <a:ea typeface="Canva Student Font"/>
                <a:cs typeface="Canva Student Font"/>
                <a:sym typeface="Canva Student Font"/>
              </a:rPr>
              <a:t> are procedures and measures that are designed to protect data on a day-to-day basis. Are mainly governed by internal processes and human actions. e.g. user access reviews, log monitoring, and vulnerability management, awareness and training,  configuration management, media protection, physical and environmental protection</a:t>
            </a:r>
          </a:p>
        </p:txBody>
      </p:sp>
      <p:sp>
        <p:nvSpPr>
          <p:cNvPr name="TextBox 3" id="3"/>
          <p:cNvSpPr txBox="true"/>
          <p:nvPr/>
        </p:nvSpPr>
        <p:spPr>
          <a:xfrm rot="0">
            <a:off x="0" y="5048250"/>
            <a:ext cx="10098622" cy="5058410"/>
          </a:xfrm>
          <a:prstGeom prst="rect">
            <a:avLst/>
          </a:prstGeom>
        </p:spPr>
        <p:txBody>
          <a:bodyPr anchor="t" rtlCol="false" tIns="0" lIns="0" bIns="0" rIns="0">
            <a:spAutoFit/>
          </a:bodyPr>
          <a:lstStyle/>
          <a:p>
            <a:pPr algn="l" marL="885191" indent="-442595"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managerial controls</a:t>
            </a:r>
            <a:r>
              <a:rPr lang="en-US" sz="4100">
                <a:solidFill>
                  <a:srgbClr val="000000"/>
                </a:solidFill>
                <a:latin typeface="Canva Student Font"/>
                <a:ea typeface="Canva Student Font"/>
                <a:cs typeface="Canva Student Font"/>
                <a:sym typeface="Canva Student Font"/>
              </a:rPr>
              <a:t> a.k.a administrative controls are all about the  mechanics of risk management process such as identifying risks and choosing the right control. often linked to security policies and standard operating procedures. e.g. risk assesments, vulnerability assessments, security awareness training, formal change management.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025693" y="3067411"/>
            <a:ext cx="3297232" cy="2616970"/>
          </a:xfrm>
          <a:prstGeom prst="rect">
            <a:avLst/>
          </a:prstGeom>
        </p:spPr>
      </p:pic>
      <p:sp>
        <p:nvSpPr>
          <p:cNvPr name="TextBox 3" id="3"/>
          <p:cNvSpPr txBox="true"/>
          <p:nvPr/>
        </p:nvSpPr>
        <p:spPr>
          <a:xfrm rot="0">
            <a:off x="261897" y="261620"/>
            <a:ext cx="10025103" cy="28867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physical controls</a:t>
            </a:r>
            <a:r>
              <a:rPr lang="en-US" sz="4100">
                <a:solidFill>
                  <a:srgbClr val="000000"/>
                </a:solidFill>
                <a:latin typeface="Canva Student Font"/>
                <a:ea typeface="Canva Student Font"/>
                <a:cs typeface="Canva Student Font"/>
                <a:sym typeface="Canva Student Font"/>
              </a:rPr>
              <a:t> limit physical access using the built environment to enhance safety and prevent crime. e.g. include fences, perimeter lighting, locks, fire suppression systems, and burglar alarms.</a:t>
            </a:r>
          </a:p>
        </p:txBody>
      </p:sp>
      <p:sp>
        <p:nvSpPr>
          <p:cNvPr name="TextBox 4" id="4"/>
          <p:cNvSpPr txBox="true"/>
          <p:nvPr/>
        </p:nvSpPr>
        <p:spPr>
          <a:xfrm rot="0">
            <a:off x="3900848" y="3936927"/>
            <a:ext cx="6386152" cy="4111660"/>
          </a:xfrm>
          <a:prstGeom prst="rect">
            <a:avLst/>
          </a:prstGeom>
        </p:spPr>
        <p:txBody>
          <a:bodyPr anchor="t" rtlCol="false" tIns="0" lIns="0" bIns="0" rIns="0">
            <a:spAutoFit/>
          </a:bodyPr>
          <a:lstStyle/>
          <a:p>
            <a:pPr algn="l" marL="836312" indent="-418156" lvl="1">
              <a:lnSpc>
                <a:spcPts val="5423"/>
              </a:lnSpc>
              <a:spcBef>
                <a:spcPct val="0"/>
              </a:spcBef>
              <a:buFont typeface="Arial"/>
              <a:buChar char="•"/>
            </a:pPr>
            <a:r>
              <a:rPr lang="en-US" sz="3873">
                <a:solidFill>
                  <a:srgbClr val="FF66C4"/>
                </a:solidFill>
                <a:latin typeface="Canva Student Font"/>
                <a:ea typeface="Canva Student Font"/>
                <a:cs typeface="Canva Student Font"/>
                <a:sym typeface="Canva Student Font"/>
              </a:rPr>
              <a:t>barricades/bollards</a:t>
            </a:r>
            <a:r>
              <a:rPr lang="en-US" sz="3873">
                <a:solidFill>
                  <a:srgbClr val="000000"/>
                </a:solidFill>
                <a:latin typeface="Canva Student Font"/>
                <a:ea typeface="Canva Student Font"/>
                <a:cs typeface="Canva Student Font"/>
                <a:sym typeface="Canva Student Font"/>
              </a:rPr>
              <a:t>: prevent access and channel people through defined points. allows people, prevent unauthorized vehicles, secure infrastructure e.g.  concrete bollards, moats.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897382" y="3997291"/>
            <a:ext cx="4197901" cy="3331818"/>
          </a:xfrm>
          <a:prstGeom prst="rect">
            <a:avLst/>
          </a:prstGeom>
        </p:spPr>
      </p:pic>
      <p:sp>
        <p:nvSpPr>
          <p:cNvPr name="TextBox 3" id="3"/>
          <p:cNvSpPr txBox="true"/>
          <p:nvPr/>
        </p:nvSpPr>
        <p:spPr>
          <a:xfrm rot="0">
            <a:off x="0" y="73621"/>
            <a:ext cx="10287000" cy="36106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access control vestibules</a:t>
            </a:r>
            <a:r>
              <a:rPr lang="en-US" sz="4100">
                <a:solidFill>
                  <a:srgbClr val="000000"/>
                </a:solidFill>
                <a:latin typeface="Canva Student Font"/>
                <a:ea typeface="Canva Student Font"/>
                <a:cs typeface="Canva Student Font"/>
                <a:sym typeface="Canva Student Font"/>
              </a:rPr>
              <a:t>: security measure with two interlocking doors that only allow one person to pass at a time. first door opens after access is granted, second door opens only when first door is shut. prevents unauthorized access and tailgating. </a:t>
            </a:r>
          </a:p>
        </p:txBody>
      </p:sp>
      <p:sp>
        <p:nvSpPr>
          <p:cNvPr name="TextBox 4" id="4"/>
          <p:cNvSpPr txBox="true"/>
          <p:nvPr/>
        </p:nvSpPr>
        <p:spPr>
          <a:xfrm rot="0">
            <a:off x="5143500" y="5126354"/>
            <a:ext cx="5143500" cy="36106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fencing</a:t>
            </a:r>
            <a:r>
              <a:rPr lang="en-US" sz="4100">
                <a:solidFill>
                  <a:srgbClr val="000000"/>
                </a:solidFill>
                <a:latin typeface="Canva Student Font"/>
                <a:ea typeface="Canva Student Font"/>
                <a:cs typeface="Canva Student Font"/>
                <a:sym typeface="Canva Student Font"/>
              </a:rPr>
              <a:t>: protect exterior of a building. can be transparent or opaque. secure against climbing, robust.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143150" y="4631407"/>
            <a:ext cx="3981031" cy="3066572"/>
          </a:xfrm>
          <a:prstGeom prst="rect">
            <a:avLst/>
          </a:prstGeom>
        </p:spPr>
      </p:pic>
      <p:sp>
        <p:nvSpPr>
          <p:cNvPr name="TextBox 3" id="3"/>
          <p:cNvSpPr txBox="true"/>
          <p:nvPr/>
        </p:nvSpPr>
        <p:spPr>
          <a:xfrm rot="0">
            <a:off x="0" y="-95250"/>
            <a:ext cx="5148262" cy="50584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video surveillance</a:t>
            </a:r>
            <a:r>
              <a:rPr lang="en-US" sz="4100">
                <a:solidFill>
                  <a:srgbClr val="000000"/>
                </a:solidFill>
                <a:latin typeface="Canva Student Font"/>
                <a:ea typeface="Canva Student Font"/>
                <a:cs typeface="Canva Student Font"/>
                <a:sym typeface="Canva Student Font"/>
              </a:rPr>
              <a:t>: can replace physical guards. records movement and access for later review. longer response times. needs enough staff monitor feeds.</a:t>
            </a:r>
          </a:p>
        </p:txBody>
      </p:sp>
      <p:sp>
        <p:nvSpPr>
          <p:cNvPr name="TextBox 4" id="4"/>
          <p:cNvSpPr txBox="true"/>
          <p:nvPr/>
        </p:nvSpPr>
        <p:spPr>
          <a:xfrm rot="0">
            <a:off x="4942327" y="3930101"/>
            <a:ext cx="5148262" cy="50584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security guards</a:t>
            </a:r>
            <a:r>
              <a:rPr lang="en-US" sz="4100">
                <a:solidFill>
                  <a:srgbClr val="000000"/>
                </a:solidFill>
                <a:latin typeface="Canva Student Font"/>
                <a:ea typeface="Canva Student Font"/>
                <a:cs typeface="Canva Student Font"/>
                <a:sym typeface="Canva Student Font"/>
              </a:rPr>
              <a:t>: physical protection at critical checkpoints. verify identification, allow/disallow access, log entry events. can respond to security breaches.  </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57896" y="722472"/>
            <a:ext cx="9019338" cy="1263806"/>
          </a:xfrm>
          <a:prstGeom prst="rect">
            <a:avLst/>
          </a:prstGeom>
        </p:spPr>
        <p:txBody>
          <a:bodyPr anchor="t" rtlCol="false" tIns="0" lIns="0" bIns="0" rIns="0">
            <a:spAutoFit/>
          </a:bodyPr>
          <a:lstStyle/>
          <a:p>
            <a:pPr algn="l" marL="776110" indent="-388055" lvl="1">
              <a:lnSpc>
                <a:spcPts val="5032"/>
              </a:lnSpc>
              <a:spcBef>
                <a:spcPct val="0"/>
              </a:spcBef>
              <a:buFont typeface="Arial"/>
              <a:buChar char="•"/>
            </a:pPr>
            <a:r>
              <a:rPr lang="en-US" sz="3594">
                <a:solidFill>
                  <a:srgbClr val="FF66C4"/>
                </a:solidFill>
                <a:latin typeface="Canva Student Font"/>
                <a:ea typeface="Canva Student Font"/>
                <a:cs typeface="Canva Student Font"/>
                <a:sym typeface="Canva Student Font"/>
              </a:rPr>
              <a:t>lighting</a:t>
            </a:r>
            <a:r>
              <a:rPr lang="en-US" sz="3594">
                <a:solidFill>
                  <a:srgbClr val="000000"/>
                </a:solidFill>
                <a:latin typeface="Canva Student Font"/>
                <a:ea typeface="Canva Student Font"/>
                <a:cs typeface="Canva Student Font"/>
                <a:sym typeface="Canva Student Font"/>
              </a:rPr>
              <a:t>: enhances perception of safety and security at night. deterrent to intrusion, aids surveillance.</a:t>
            </a:r>
          </a:p>
        </p:txBody>
      </p:sp>
      <p:sp>
        <p:nvSpPr>
          <p:cNvPr name="TextBox 3" id="3"/>
          <p:cNvSpPr txBox="true"/>
          <p:nvPr/>
        </p:nvSpPr>
        <p:spPr>
          <a:xfrm rot="0">
            <a:off x="445827" y="3100943"/>
            <a:ext cx="9043476" cy="5782310"/>
          </a:xfrm>
          <a:prstGeom prst="rect">
            <a:avLst/>
          </a:prstGeom>
        </p:spPr>
        <p:txBody>
          <a:bodyPr anchor="t" rtlCol="false" tIns="0" lIns="0" bIns="0" rIns="0">
            <a:spAutoFit/>
          </a:bodyPr>
          <a:lstStyle/>
          <a:p>
            <a:pPr algn="l" marL="885192" indent="-442596" lvl="1">
              <a:lnSpc>
                <a:spcPts val="5740"/>
              </a:lnSpc>
              <a:buFont typeface="Arial"/>
              <a:buChar char="•"/>
            </a:pPr>
            <a:r>
              <a:rPr lang="en-US" sz="4100">
                <a:solidFill>
                  <a:srgbClr val="FF66C4"/>
                </a:solidFill>
                <a:latin typeface="Canva Student Font"/>
                <a:ea typeface="Canva Student Font"/>
                <a:cs typeface="Canva Student Font"/>
                <a:sym typeface="Canva Student Font"/>
              </a:rPr>
              <a:t>sensors</a:t>
            </a:r>
            <a:r>
              <a:rPr lang="en-US" sz="4100">
                <a:solidFill>
                  <a:srgbClr val="000000"/>
                </a:solidFill>
                <a:latin typeface="Canva Student Font"/>
                <a:ea typeface="Canva Student Font"/>
                <a:cs typeface="Canva Student Font"/>
                <a:sym typeface="Canva Student Font"/>
              </a:rPr>
              <a:t>:  </a:t>
            </a:r>
          </a:p>
          <a:p>
            <a:pPr algn="l" marL="885192" indent="-442596" lvl="1">
              <a:lnSpc>
                <a:spcPts val="5740"/>
              </a:lnSpc>
              <a:buAutoNum type="arabicPeriod" startAt="1"/>
            </a:pPr>
            <a:r>
              <a:rPr lang="en-US" sz="4100">
                <a:solidFill>
                  <a:srgbClr val="000000"/>
                </a:solidFill>
                <a:latin typeface="Canva Student Font"/>
                <a:ea typeface="Canva Student Font"/>
                <a:cs typeface="Canva Student Font"/>
                <a:sym typeface="Canva Student Font"/>
              </a:rPr>
              <a:t>infrared: detects changes in heat patterns. common in motion detectors.</a:t>
            </a:r>
          </a:p>
          <a:p>
            <a:pPr algn="l" marL="885192" indent="-442596" lvl="1">
              <a:lnSpc>
                <a:spcPts val="5740"/>
              </a:lnSpc>
              <a:buAutoNum type="arabicPeriod" startAt="1"/>
            </a:pPr>
            <a:r>
              <a:rPr lang="en-US" sz="4100">
                <a:solidFill>
                  <a:srgbClr val="000000"/>
                </a:solidFill>
                <a:latin typeface="Canva Student Font"/>
                <a:ea typeface="Canva Student Font"/>
                <a:cs typeface="Canva Student Font"/>
                <a:sym typeface="Canva Student Font"/>
              </a:rPr>
              <a:t>pressure: detects change in force. e.g floor &amp; window sensors.</a:t>
            </a:r>
          </a:p>
          <a:p>
            <a:pPr algn="l" marL="885192" indent="-442596" lvl="1">
              <a:lnSpc>
                <a:spcPts val="5740"/>
              </a:lnSpc>
              <a:buAutoNum type="arabicPeriod" startAt="1"/>
            </a:pPr>
            <a:r>
              <a:rPr lang="en-US" sz="4100">
                <a:solidFill>
                  <a:srgbClr val="000000"/>
                </a:solidFill>
                <a:latin typeface="Canva Student Font"/>
                <a:ea typeface="Canva Student Font"/>
                <a:cs typeface="Canva Student Font"/>
                <a:sym typeface="Canva Student Font"/>
              </a:rPr>
              <a:t>microwave: detects movement across large areas.</a:t>
            </a:r>
          </a:p>
          <a:p>
            <a:pPr algn="l" marL="885192" indent="-442596" lvl="1">
              <a:lnSpc>
                <a:spcPts val="5740"/>
              </a:lnSpc>
              <a:spcBef>
                <a:spcPct val="0"/>
              </a:spcBef>
              <a:buAutoNum type="arabicPeriod" startAt="1"/>
            </a:pPr>
            <a:r>
              <a:rPr lang="en-US" sz="4100">
                <a:solidFill>
                  <a:srgbClr val="000000"/>
                </a:solidFill>
                <a:latin typeface="Canva Student Font"/>
                <a:ea typeface="Canva Student Font"/>
                <a:cs typeface="Canva Student Font"/>
                <a:sym typeface="Canva Student Font"/>
              </a:rPr>
              <a:t>ultrasonic: emits soundwaves and measures return time. detect motion, collision detection etc.</a:t>
            </a:r>
            <a:r>
              <a:rPr lang="en-US" sz="4100">
                <a:solidFill>
                  <a:srgbClr val="FF66C4"/>
                </a:solidFill>
                <a:latin typeface="Canva Student Font"/>
                <a:ea typeface="Canva Student Font"/>
                <a:cs typeface="Canva Student Font"/>
                <a:sym typeface="Canva Student Font"/>
              </a:rPr>
              <a:t> </a:t>
            </a:r>
            <a:r>
              <a:rPr lang="en-US" sz="4100">
                <a:solidFill>
                  <a:srgbClr val="000000"/>
                </a:solidFill>
                <a:latin typeface="Canva Student Font"/>
                <a:ea typeface="Canva Student Font"/>
                <a:cs typeface="Canva Student Font"/>
                <a:sym typeface="Canva Student Font"/>
              </a:rPr>
              <a:t> </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316114" y="-85725"/>
            <a:ext cx="3654772" cy="755015"/>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0CC0DF">
                        <a:alpha val="100000"/>
                      </a:srgbClr>
                    </a:gs>
                    <a:gs pos="100000">
                      <a:srgbClr val="FFDE59">
                        <a:alpha val="100000"/>
                      </a:srgbClr>
                    </a:gs>
                  </a:gsLst>
                  <a:lin ang="0"/>
                </a:gradFill>
                <a:latin typeface="Gagalin"/>
                <a:ea typeface="Gagalin"/>
                <a:cs typeface="Gagalin"/>
                <a:sym typeface="Gagalin"/>
              </a:rPr>
              <a:t>control types</a:t>
            </a:r>
          </a:p>
        </p:txBody>
      </p:sp>
      <p:sp>
        <p:nvSpPr>
          <p:cNvPr name="TextBox 3" id="3"/>
          <p:cNvSpPr txBox="true"/>
          <p:nvPr/>
        </p:nvSpPr>
        <p:spPr>
          <a:xfrm rot="0">
            <a:off x="-164455" y="1191846"/>
            <a:ext cx="5143500" cy="4997725"/>
          </a:xfrm>
          <a:prstGeom prst="rect">
            <a:avLst/>
          </a:prstGeom>
        </p:spPr>
        <p:txBody>
          <a:bodyPr anchor="t" rtlCol="false" tIns="0" lIns="0" bIns="0" rIns="0">
            <a:spAutoFit/>
          </a:bodyPr>
          <a:lstStyle/>
          <a:p>
            <a:pPr algn="l" marL="689396" indent="-344698" lvl="1">
              <a:lnSpc>
                <a:spcPts val="4470"/>
              </a:lnSpc>
              <a:spcBef>
                <a:spcPct val="0"/>
              </a:spcBef>
              <a:buFont typeface="Arial"/>
              <a:buChar char="•"/>
            </a:pPr>
            <a:r>
              <a:rPr lang="en-US" sz="3193">
                <a:solidFill>
                  <a:srgbClr val="FF66C4"/>
                </a:solidFill>
                <a:latin typeface="Canva Student Font"/>
                <a:ea typeface="Canva Student Font"/>
                <a:cs typeface="Canva Student Font"/>
                <a:sym typeface="Canva Student Font"/>
              </a:rPr>
              <a:t>preventative controls</a:t>
            </a:r>
            <a:r>
              <a:rPr lang="en-US" sz="3193">
                <a:solidFill>
                  <a:srgbClr val="000000"/>
                </a:solidFill>
                <a:latin typeface="Canva Student Font"/>
                <a:ea typeface="Canva Student Font"/>
                <a:cs typeface="Canva Student Font"/>
                <a:sym typeface="Canva Student Font"/>
              </a:rPr>
              <a:t>: intend t</a:t>
            </a:r>
            <a:r>
              <a:rPr lang="en-US" sz="3193">
                <a:solidFill>
                  <a:srgbClr val="000000"/>
                </a:solidFill>
                <a:latin typeface="Canva Student Font"/>
                <a:ea typeface="Canva Student Font"/>
                <a:cs typeface="Canva Student Font"/>
                <a:sym typeface="Canva Student Font"/>
              </a:rPr>
              <a:t>o stop a security issue before it </a:t>
            </a:r>
            <a:r>
              <a:rPr lang="en-US" sz="3193">
                <a:solidFill>
                  <a:srgbClr val="000000"/>
                </a:solidFill>
                <a:latin typeface="Canva Student Font"/>
                <a:ea typeface="Canva Student Font"/>
                <a:cs typeface="Canva Student Font"/>
                <a:sym typeface="Canva Student Font"/>
              </a:rPr>
              <a:t>occurs. e.g. Firewalls and encryption, hardening, training, security guards, change management, account disablement policy, intrusion prevention system (IPS)</a:t>
            </a:r>
          </a:p>
          <a:p>
            <a:pPr algn="ctr">
              <a:lnSpc>
                <a:spcPts val="3931"/>
              </a:lnSpc>
              <a:spcBef>
                <a:spcPct val="0"/>
              </a:spcBef>
            </a:pPr>
          </a:p>
        </p:txBody>
      </p:sp>
      <p:sp>
        <p:nvSpPr>
          <p:cNvPr name="TextBox 4" id="4"/>
          <p:cNvSpPr txBox="true"/>
          <p:nvPr/>
        </p:nvSpPr>
        <p:spPr>
          <a:xfrm rot="0">
            <a:off x="4519669" y="1191846"/>
            <a:ext cx="5620023" cy="3580277"/>
          </a:xfrm>
          <a:prstGeom prst="rect">
            <a:avLst/>
          </a:prstGeom>
        </p:spPr>
        <p:txBody>
          <a:bodyPr anchor="t" rtlCol="false" tIns="0" lIns="0" bIns="0" rIns="0">
            <a:spAutoFit/>
          </a:bodyPr>
          <a:lstStyle/>
          <a:p>
            <a:pPr algn="l" marL="738210" indent="-369105" lvl="1">
              <a:lnSpc>
                <a:spcPts val="4786"/>
              </a:lnSpc>
              <a:spcBef>
                <a:spcPct val="0"/>
              </a:spcBef>
              <a:buFont typeface="Arial"/>
              <a:buChar char="•"/>
            </a:pPr>
            <a:r>
              <a:rPr lang="en-US" sz="3419">
                <a:solidFill>
                  <a:srgbClr val="FF66C4"/>
                </a:solidFill>
                <a:latin typeface="Canva Student Font"/>
                <a:ea typeface="Canva Student Font"/>
                <a:cs typeface="Canva Student Font"/>
                <a:sym typeface="Canva Student Font"/>
              </a:rPr>
              <a:t>deterrent controls</a:t>
            </a:r>
            <a:r>
              <a:rPr lang="en-US" sz="3419">
                <a:solidFill>
                  <a:srgbClr val="000000"/>
                </a:solidFill>
                <a:latin typeface="Canva Student Font"/>
                <a:ea typeface="Canva Student Font"/>
                <a:cs typeface="Canva Student Font"/>
                <a:sym typeface="Canva Student Font"/>
              </a:rPr>
              <a:t>: discourage potential attackers by making the effort seem less appealing </a:t>
            </a:r>
            <a:r>
              <a:rPr lang="en-US" sz="3419">
                <a:solidFill>
                  <a:srgbClr val="000000"/>
                </a:solidFill>
                <a:latin typeface="Canva Student Font"/>
                <a:ea typeface="Canva Student Font"/>
                <a:cs typeface="Canva Student Font"/>
                <a:sym typeface="Canva Student Font"/>
              </a:rPr>
              <a:t>or more challenging. e.g. Vicious guard dogs and barbed wire fences, signs &amp; warnings.</a:t>
            </a:r>
          </a:p>
        </p:txBody>
      </p:sp>
      <p:sp>
        <p:nvSpPr>
          <p:cNvPr name="TextBox 5" id="5"/>
          <p:cNvSpPr txBox="true"/>
          <p:nvPr/>
        </p:nvSpPr>
        <p:spPr>
          <a:xfrm rot="0">
            <a:off x="514350" y="5267423"/>
            <a:ext cx="9258300" cy="4334510"/>
          </a:xfrm>
          <a:prstGeom prst="rect">
            <a:avLst/>
          </a:prstGeom>
        </p:spPr>
        <p:txBody>
          <a:bodyPr anchor="t" rtlCol="false" tIns="0" lIns="0" bIns="0" rIns="0">
            <a:spAutoFit/>
          </a:bodyPr>
          <a:lstStyle/>
          <a:p>
            <a:pPr algn="l">
              <a:lnSpc>
                <a:spcPts val="5740"/>
              </a:lnSpc>
            </a:pPr>
            <a:r>
              <a:rPr lang="en-US" sz="4100">
                <a:solidFill>
                  <a:srgbClr val="FF66C4"/>
                </a:solidFill>
                <a:latin typeface="Canva Student Font"/>
                <a:ea typeface="Canva Student Font"/>
                <a:cs typeface="Canva Student Font"/>
                <a:sym typeface="Canva Student Font"/>
              </a:rPr>
              <a:t>                  Compare to prevention</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 Deterrent encourages people to decide not to take an undesirable action</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 Prevention stops them from taking an undesirable action</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 Security guard can be both</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3285" y="36580"/>
            <a:ext cx="10113875" cy="36106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detective controls</a:t>
            </a:r>
            <a:r>
              <a:rPr lang="en-US" sz="4100">
                <a:solidFill>
                  <a:srgbClr val="000000"/>
                </a:solidFill>
                <a:latin typeface="Canva Student Font"/>
                <a:ea typeface="Canva Student Font"/>
                <a:cs typeface="Canva Student Font"/>
                <a:sym typeface="Canva Student Font"/>
              </a:rPr>
              <a:t>: Monitor and alert organizations to malicious activities as they occur or shortly thereafter e.g. logs, Intrusion detection systems (IDS), Security Information &amp; Event Management systems, motion detection.</a:t>
            </a:r>
          </a:p>
        </p:txBody>
      </p:sp>
      <p:sp>
        <p:nvSpPr>
          <p:cNvPr name="TextBox 3" id="3"/>
          <p:cNvSpPr txBox="true"/>
          <p:nvPr/>
        </p:nvSpPr>
        <p:spPr>
          <a:xfrm rot="0">
            <a:off x="-23285" y="3652520"/>
            <a:ext cx="10033974" cy="28867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corrective controls</a:t>
            </a:r>
            <a:r>
              <a:rPr lang="en-US" sz="4100">
                <a:solidFill>
                  <a:srgbClr val="000000"/>
                </a:solidFill>
                <a:latin typeface="Canva Student Font"/>
                <a:ea typeface="Canva Student Font"/>
                <a:cs typeface="Canva Student Font"/>
                <a:sym typeface="Canva Student Font"/>
              </a:rPr>
              <a:t>:  remediate security issues that have already occurred. Mitigate any potential damage and restore our systems to their normal state. e.g. backup systems, patch management systems, fault tolerance</a:t>
            </a:r>
          </a:p>
        </p:txBody>
      </p:sp>
      <p:sp>
        <p:nvSpPr>
          <p:cNvPr name="TextBox 4" id="4"/>
          <p:cNvSpPr txBox="true"/>
          <p:nvPr/>
        </p:nvSpPr>
        <p:spPr>
          <a:xfrm rot="0">
            <a:off x="0" y="6875437"/>
            <a:ext cx="10287000" cy="28867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compensating controls</a:t>
            </a:r>
            <a:r>
              <a:rPr lang="en-US" sz="4100">
                <a:solidFill>
                  <a:srgbClr val="000000"/>
                </a:solidFill>
                <a:latin typeface="Canva Student Font"/>
                <a:ea typeface="Canva Student Font"/>
                <a:cs typeface="Canva Student Font"/>
                <a:sym typeface="Canva Student Font"/>
              </a:rPr>
              <a:t>: alternative measures that are implemented when primary security </a:t>
            </a:r>
            <a:r>
              <a:rPr lang="en-US" sz="4100">
                <a:solidFill>
                  <a:srgbClr val="000000"/>
                </a:solidFill>
                <a:latin typeface="Canva Student Font"/>
                <a:ea typeface="Canva Student Font"/>
                <a:cs typeface="Canva Student Font"/>
                <a:sym typeface="Canva Student Font"/>
              </a:rPr>
              <a:t>controls are not feasible or effective. e.g. network access control(NAC), data loss prevention(DLP).</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22228" y="122510"/>
            <a:ext cx="10064772" cy="28867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directive controls</a:t>
            </a:r>
            <a:r>
              <a:rPr lang="en-US" sz="4100">
                <a:solidFill>
                  <a:srgbClr val="000000"/>
                </a:solidFill>
                <a:latin typeface="Canva Student Font"/>
                <a:ea typeface="Canva Student Font"/>
                <a:cs typeface="Canva Student Font"/>
                <a:sym typeface="Canva Student Font"/>
              </a:rPr>
              <a:t>: enforces rules of behaviour, policies and procedures e.g. procedures, policy guidelines standard, security training programs, acceptable use policies(AUP), incident response plan (IRP).</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945805" y="-85725"/>
            <a:ext cx="2274689" cy="755015"/>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CIA TRIAD</a:t>
            </a:r>
          </a:p>
        </p:txBody>
      </p:sp>
      <p:sp>
        <p:nvSpPr>
          <p:cNvPr name="TextBox 3" id="3"/>
          <p:cNvSpPr txBox="true"/>
          <p:nvPr/>
        </p:nvSpPr>
        <p:spPr>
          <a:xfrm rot="0">
            <a:off x="-24220" y="574040"/>
            <a:ext cx="10335440" cy="2162810"/>
          </a:xfrm>
          <a:prstGeom prst="rect">
            <a:avLst/>
          </a:prstGeom>
        </p:spPr>
        <p:txBody>
          <a:bodyPr anchor="t" rtlCol="false" tIns="0" lIns="0" bIns="0" rIns="0">
            <a:spAutoFit/>
          </a:bodyPr>
          <a:lstStyle/>
          <a:p>
            <a:pPr algn="l" marL="885191" indent="-442595"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confidentiality</a:t>
            </a:r>
            <a:r>
              <a:rPr lang="en-US" sz="4100">
                <a:solidFill>
                  <a:srgbClr val="000000"/>
                </a:solidFill>
                <a:latin typeface="Canva Student Font"/>
                <a:ea typeface="Canva Student Font"/>
                <a:cs typeface="Canva Student Font"/>
                <a:sym typeface="Canva Student Font"/>
              </a:rPr>
              <a:t>: prevents disclosure of information to unauthorized individuals. e.g. encryption, access control, 2FA, firewalls.</a:t>
            </a:r>
          </a:p>
        </p:txBody>
      </p:sp>
      <p:sp>
        <p:nvSpPr>
          <p:cNvPr name="TextBox 4" id="4"/>
          <p:cNvSpPr txBox="true"/>
          <p:nvPr/>
        </p:nvSpPr>
        <p:spPr>
          <a:xfrm rot="0">
            <a:off x="0" y="2651125"/>
            <a:ext cx="10166300" cy="8329163"/>
          </a:xfrm>
          <a:prstGeom prst="rect">
            <a:avLst/>
          </a:prstGeom>
        </p:spPr>
        <p:txBody>
          <a:bodyPr anchor="t" rtlCol="false" tIns="0" lIns="0" bIns="0" rIns="0">
            <a:spAutoFit/>
          </a:bodyPr>
          <a:lstStyle/>
          <a:p>
            <a:pPr algn="ctr">
              <a:lnSpc>
                <a:spcPts val="5275"/>
              </a:lnSpc>
            </a:pPr>
            <a:r>
              <a:rPr lang="en-US" sz="3767">
                <a:solidFill>
                  <a:srgbClr val="FF66C4"/>
                </a:solidFill>
                <a:latin typeface="Canva Student Font"/>
                <a:ea typeface="Canva Student Font"/>
                <a:cs typeface="Canva Student Font"/>
                <a:sym typeface="Canva Student Font"/>
              </a:rPr>
              <a:t>1. Encryption </a:t>
            </a:r>
            <a:r>
              <a:rPr lang="en-US" sz="3767">
                <a:solidFill>
                  <a:srgbClr val="000000"/>
                </a:solidFill>
                <a:latin typeface="Canva Student Font"/>
                <a:ea typeface="Canva Student Font"/>
                <a:cs typeface="Canva Student Font"/>
                <a:sym typeface="Canva Student Font"/>
              </a:rPr>
              <a:t>— Scramble the information</a:t>
            </a:r>
          </a:p>
          <a:p>
            <a:pPr algn="ctr">
              <a:lnSpc>
                <a:spcPts val="5275"/>
              </a:lnSpc>
            </a:pPr>
            <a:r>
              <a:rPr lang="en-US" sz="3767">
                <a:solidFill>
                  <a:srgbClr val="000000"/>
                </a:solidFill>
                <a:latin typeface="Canva Student Font"/>
                <a:ea typeface="Canva Student Font"/>
                <a:cs typeface="Canva Student Font"/>
                <a:sym typeface="Canva Student Font"/>
              </a:rPr>
              <a:t>Converts readable information into coded information so unauthorized people cannot understand it without the required key.</a:t>
            </a:r>
          </a:p>
          <a:p>
            <a:pPr algn="ctr">
              <a:lnSpc>
                <a:spcPts val="5275"/>
              </a:lnSpc>
            </a:pPr>
            <a:r>
              <a:rPr lang="en-US" sz="3767">
                <a:solidFill>
                  <a:srgbClr val="FF66C4"/>
                </a:solidFill>
                <a:latin typeface="Canva Student Font"/>
                <a:ea typeface="Canva Student Font"/>
                <a:cs typeface="Canva Student Font"/>
                <a:sym typeface="Canva Student Font"/>
              </a:rPr>
              <a:t>2. Access controls</a:t>
            </a:r>
            <a:r>
              <a:rPr lang="en-US" sz="3767">
                <a:solidFill>
                  <a:srgbClr val="000000"/>
                </a:solidFill>
                <a:latin typeface="Canva Student Font"/>
                <a:ea typeface="Canva Student Font"/>
                <a:cs typeface="Canva Student Font"/>
                <a:sym typeface="Canva Student Font"/>
              </a:rPr>
              <a:t> — Decide who can enter</a:t>
            </a:r>
          </a:p>
          <a:p>
            <a:pPr algn="ctr">
              <a:lnSpc>
                <a:spcPts val="5275"/>
              </a:lnSpc>
            </a:pPr>
            <a:r>
              <a:rPr lang="en-US" sz="3767">
                <a:solidFill>
                  <a:srgbClr val="000000"/>
                </a:solidFill>
                <a:latin typeface="Canva Student Font"/>
                <a:ea typeface="Canva Student Font"/>
                <a:cs typeface="Canva Student Font"/>
                <a:sym typeface="Canva Student Font"/>
              </a:rPr>
              <a:t>Allow only authorised users to access particular information.</a:t>
            </a:r>
          </a:p>
          <a:p>
            <a:pPr algn="ctr">
              <a:lnSpc>
                <a:spcPts val="5275"/>
              </a:lnSpc>
            </a:pPr>
            <a:r>
              <a:rPr lang="en-US" sz="3767">
                <a:solidFill>
                  <a:srgbClr val="FF66C4"/>
                </a:solidFill>
                <a:latin typeface="Canva Student Font"/>
                <a:ea typeface="Canva Student Font"/>
                <a:cs typeface="Canva Student Font"/>
                <a:sym typeface="Canva Student Font"/>
              </a:rPr>
              <a:t>3. Data masking </a:t>
            </a:r>
            <a:r>
              <a:rPr lang="en-US" sz="3767">
                <a:solidFill>
                  <a:srgbClr val="000000"/>
                </a:solidFill>
                <a:latin typeface="Canva Student Font"/>
                <a:ea typeface="Canva Student Font"/>
                <a:cs typeface="Canva Student Font"/>
                <a:sym typeface="Canva Student Font"/>
              </a:rPr>
              <a:t>— Hide sensitive details</a:t>
            </a:r>
          </a:p>
          <a:p>
            <a:pPr algn="ctr">
              <a:lnSpc>
                <a:spcPts val="5275"/>
              </a:lnSpc>
            </a:pPr>
            <a:r>
              <a:rPr lang="en-US" sz="3767">
                <a:solidFill>
                  <a:srgbClr val="000000"/>
                </a:solidFill>
                <a:latin typeface="Canva Student Font"/>
                <a:ea typeface="Canva Student Font"/>
                <a:cs typeface="Canva Student Font"/>
                <a:sym typeface="Canva Student Font"/>
              </a:rPr>
              <a:t>Hides parts of sensitive information while allowing the data to remain useful for authorised purposes.</a:t>
            </a:r>
          </a:p>
          <a:p>
            <a:pPr algn="ctr">
              <a:lnSpc>
                <a:spcPts val="5275"/>
              </a:lnSpc>
            </a:pPr>
            <a:r>
              <a:rPr lang="en-US" sz="3767">
                <a:solidFill>
                  <a:srgbClr val="000000"/>
                </a:solidFill>
                <a:latin typeface="Canva Student Font"/>
                <a:ea typeface="Canva Student Font"/>
                <a:cs typeface="Canva Student Font"/>
                <a:sym typeface="Canva Student Font"/>
              </a:rPr>
              <a:t>Example: A card number appears as **** **** **** 1234 instead of showing the full number.</a:t>
            </a:r>
          </a:p>
          <a:p>
            <a:pPr algn="ctr">
              <a:lnSpc>
                <a:spcPts val="4015"/>
              </a:lnSpc>
            </a:pPr>
          </a:p>
          <a:p>
            <a:pPr algn="ctr">
              <a:lnSpc>
                <a:spcPts val="4435"/>
              </a:lnSpc>
            </a:pPr>
          </a:p>
          <a:p>
            <a:pPr algn="ctr">
              <a:lnSpc>
                <a:spcPts val="474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7849" y="63692"/>
            <a:ext cx="10287000" cy="2162810"/>
          </a:xfrm>
          <a:prstGeom prst="rect">
            <a:avLst/>
          </a:prstGeom>
        </p:spPr>
        <p:txBody>
          <a:bodyPr anchor="t" rtlCol="false" tIns="0" lIns="0" bIns="0" rIns="0">
            <a:spAutoFit/>
          </a:bodyPr>
          <a:lstStyle/>
          <a:p>
            <a:pPr algn="l" marL="885191" indent="-442595"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integrity</a:t>
            </a:r>
            <a:r>
              <a:rPr lang="en-US" sz="4100">
                <a:solidFill>
                  <a:srgbClr val="000000"/>
                </a:solidFill>
                <a:latin typeface="Canva Student Font"/>
                <a:ea typeface="Canva Student Font"/>
                <a:cs typeface="Canva Student Font"/>
                <a:sym typeface="Canva Student Font"/>
              </a:rPr>
              <a:t>: data is stored and transported as intended, without unauthorized modifications. e.g. hashing, digital signature, certificate checksums.</a:t>
            </a:r>
          </a:p>
        </p:txBody>
      </p:sp>
      <p:sp>
        <p:nvSpPr>
          <p:cNvPr name="TextBox 3" id="3"/>
          <p:cNvSpPr txBox="true"/>
          <p:nvPr/>
        </p:nvSpPr>
        <p:spPr>
          <a:xfrm rot="0">
            <a:off x="127849" y="2418081"/>
            <a:ext cx="10287000" cy="7868919"/>
          </a:xfrm>
          <a:prstGeom prst="rect">
            <a:avLst/>
          </a:prstGeom>
        </p:spPr>
        <p:txBody>
          <a:bodyPr anchor="t" rtlCol="false" tIns="0" lIns="0" bIns="0" rIns="0">
            <a:spAutoFit/>
          </a:bodyPr>
          <a:lstStyle/>
          <a:p>
            <a:pPr algn="ctr">
              <a:lnSpc>
                <a:spcPts val="5180"/>
              </a:lnSpc>
            </a:pPr>
            <a:r>
              <a:rPr lang="en-US" sz="3700">
                <a:solidFill>
                  <a:srgbClr val="FF66C4"/>
                </a:solidFill>
                <a:latin typeface="Canva Student Font"/>
                <a:ea typeface="Canva Student Font"/>
                <a:cs typeface="Canva Student Font"/>
                <a:sym typeface="Canva Student Font"/>
              </a:rPr>
              <a:t>1. Hashing </a:t>
            </a:r>
            <a:r>
              <a:rPr lang="en-US" sz="3700">
                <a:solidFill>
                  <a:srgbClr val="000000"/>
                </a:solidFill>
                <a:latin typeface="Canva Student Font"/>
                <a:ea typeface="Canva Student Font"/>
                <a:cs typeface="Canva Student Font"/>
                <a:sym typeface="Canva Student Font"/>
              </a:rPr>
              <a:t>— Create a digital fingerprint</a:t>
            </a:r>
          </a:p>
          <a:p>
            <a:pPr algn="ctr">
              <a:lnSpc>
                <a:spcPts val="5180"/>
              </a:lnSpc>
            </a:pPr>
            <a:r>
              <a:rPr lang="en-US" sz="3700">
                <a:solidFill>
                  <a:srgbClr val="000000"/>
                </a:solidFill>
                <a:latin typeface="Canva Student Font"/>
                <a:ea typeface="Canva Student Font"/>
                <a:cs typeface="Canva Student Font"/>
                <a:sym typeface="Canva Student Font"/>
              </a:rPr>
              <a:t>A mathematical process converts data into a fixed-length value called a hash.</a:t>
            </a:r>
          </a:p>
          <a:p>
            <a:pPr algn="ctr">
              <a:lnSpc>
                <a:spcPts val="5180"/>
              </a:lnSpc>
            </a:pPr>
            <a:r>
              <a:rPr lang="en-US" sz="3700">
                <a:solidFill>
                  <a:srgbClr val="000000"/>
                </a:solidFill>
                <a:latin typeface="Canva Student Font"/>
                <a:ea typeface="Canva Student Font"/>
                <a:cs typeface="Canva Student Font"/>
                <a:sym typeface="Canva Student Font"/>
              </a:rPr>
              <a:t>             </a:t>
            </a:r>
            <a:r>
              <a:rPr lang="en-US" sz="3700">
                <a:solidFill>
                  <a:srgbClr val="FF66C4"/>
                </a:solidFill>
                <a:latin typeface="Canva Student Font"/>
                <a:ea typeface="Canva Student Font"/>
                <a:cs typeface="Canva Student Font"/>
                <a:sym typeface="Canva Student Font"/>
              </a:rPr>
              <a:t> 2. Digital signatures</a:t>
            </a:r>
            <a:r>
              <a:rPr lang="en-US" sz="3700">
                <a:solidFill>
                  <a:srgbClr val="000000"/>
                </a:solidFill>
                <a:latin typeface="Canva Student Font"/>
                <a:ea typeface="Canva Student Font"/>
                <a:cs typeface="Canva Student Font"/>
                <a:sym typeface="Canva Student Font"/>
              </a:rPr>
              <a:t> — Verify who signed and whether data changed</a:t>
            </a:r>
          </a:p>
          <a:p>
            <a:pPr algn="ctr">
              <a:lnSpc>
                <a:spcPts val="5180"/>
              </a:lnSpc>
            </a:pPr>
            <a:r>
              <a:rPr lang="en-US" sz="3700">
                <a:solidFill>
                  <a:srgbClr val="000000"/>
                </a:solidFill>
                <a:latin typeface="Canva Student Font"/>
                <a:ea typeface="Canva Student Font"/>
                <a:cs typeface="Canva Student Font"/>
                <a:sym typeface="Canva Student Font"/>
              </a:rPr>
              <a:t>Help confirm the identity of the signer and detect changes made to signed data.</a:t>
            </a:r>
          </a:p>
          <a:p>
            <a:pPr algn="ctr">
              <a:lnSpc>
                <a:spcPts val="5180"/>
              </a:lnSpc>
            </a:pPr>
            <a:r>
              <a:rPr lang="en-US" sz="3700">
                <a:solidFill>
                  <a:srgbClr val="000000"/>
                </a:solidFill>
                <a:latin typeface="Canva Student Font"/>
                <a:ea typeface="Canva Student Font"/>
                <a:cs typeface="Canva Student Font"/>
                <a:sym typeface="Canva Student Font"/>
              </a:rPr>
              <a:t>      </a:t>
            </a:r>
            <a:r>
              <a:rPr lang="en-US" sz="3700">
                <a:solidFill>
                  <a:srgbClr val="FF66C4"/>
                </a:solidFill>
                <a:latin typeface="Canva Student Font"/>
                <a:ea typeface="Canva Student Font"/>
                <a:cs typeface="Canva Student Font"/>
                <a:sym typeface="Canva Student Font"/>
              </a:rPr>
              <a:t> 3. Checksums </a:t>
            </a:r>
            <a:r>
              <a:rPr lang="en-US" sz="3700">
                <a:solidFill>
                  <a:srgbClr val="000000"/>
                </a:solidFill>
                <a:latin typeface="Canva Student Font"/>
                <a:ea typeface="Canva Student Font"/>
                <a:cs typeface="Canva Student Font"/>
                <a:sym typeface="Canva Student Font"/>
              </a:rPr>
              <a:t>— Check whether data was damaged</a:t>
            </a:r>
          </a:p>
          <a:p>
            <a:pPr algn="ctr">
              <a:lnSpc>
                <a:spcPts val="5180"/>
              </a:lnSpc>
            </a:pPr>
            <a:r>
              <a:rPr lang="en-US" sz="3700">
                <a:solidFill>
                  <a:srgbClr val="000000"/>
                </a:solidFill>
                <a:latin typeface="Canva Student Font"/>
                <a:ea typeface="Canva Student Font"/>
                <a:cs typeface="Canva Student Font"/>
                <a:sym typeface="Canva Student Font"/>
              </a:rPr>
              <a:t>A value is calculated from data and checked again later to help detect accidental changes or transmission errors.</a:t>
            </a:r>
          </a:p>
          <a:p>
            <a:pPr algn="ctr">
              <a:lnSpc>
                <a:spcPts val="5180"/>
              </a:lnSpc>
            </a:pPr>
          </a:p>
          <a:p>
            <a:pPr algn="ctr">
              <a:lnSpc>
                <a:spcPts val="518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113875" cy="4334510"/>
          </a:xfrm>
          <a:prstGeom prst="rect">
            <a:avLst/>
          </a:prstGeom>
        </p:spPr>
        <p:txBody>
          <a:bodyPr anchor="t" rtlCol="false" tIns="0" lIns="0" bIns="0" rIns="0">
            <a:spAutoFit/>
          </a:bodyPr>
          <a:lstStyle/>
          <a:p>
            <a:pPr algn="l" marL="885192" indent="-442596" lvl="1">
              <a:lnSpc>
                <a:spcPts val="5740"/>
              </a:lnSpc>
              <a:buFont typeface="Arial"/>
              <a:buChar char="•"/>
            </a:pPr>
            <a:r>
              <a:rPr lang="en-US" sz="4100">
                <a:solidFill>
                  <a:srgbClr val="FF66C4"/>
                </a:solidFill>
                <a:latin typeface="Canva Student Font"/>
                <a:ea typeface="Canva Student Font"/>
                <a:cs typeface="Canva Student Font"/>
                <a:sym typeface="Canva Student Font"/>
              </a:rPr>
              <a:t>availability</a:t>
            </a:r>
            <a:r>
              <a:rPr lang="en-US" sz="4100">
                <a:solidFill>
                  <a:srgbClr val="000000"/>
                </a:solidFill>
                <a:latin typeface="Canva Student Font"/>
                <a:ea typeface="Canva Student Font"/>
                <a:cs typeface="Canva Student Font"/>
                <a:sym typeface="Canva Student Font"/>
              </a:rPr>
              <a:t>: information is accessible to unauthorized users when needed. e.g redundancy(build servers that will always be available), fault tolerance (system continues to run even when failure occurs), patching(stability, close security holes), failover, RAID, backups, load balancing.</a:t>
            </a:r>
          </a:p>
          <a:p>
            <a:pPr algn="l">
              <a:lnSpc>
                <a:spcPts val="5740"/>
              </a:lnSpc>
              <a:spcBef>
                <a:spcPct val="0"/>
              </a:spcBef>
            </a:pPr>
          </a:p>
        </p:txBody>
      </p:sp>
      <p:sp>
        <p:nvSpPr>
          <p:cNvPr name="TextBox 3" id="3"/>
          <p:cNvSpPr txBox="true"/>
          <p:nvPr/>
        </p:nvSpPr>
        <p:spPr>
          <a:xfrm rot="0">
            <a:off x="2780179" y="3484245"/>
            <a:ext cx="4088309" cy="755015"/>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0CC0DF">
                        <a:alpha val="100000"/>
                      </a:srgbClr>
                    </a:gs>
                    <a:gs pos="100000">
                      <a:srgbClr val="FFDE59">
                        <a:alpha val="100000"/>
                      </a:srgbClr>
                    </a:gs>
                  </a:gsLst>
                  <a:lin ang="0"/>
                </a:gradFill>
                <a:latin typeface="Gagalin"/>
                <a:ea typeface="Gagalin"/>
                <a:cs typeface="Gagalin"/>
                <a:sym typeface="Gagalin"/>
              </a:rPr>
              <a:t>non-repudiation</a:t>
            </a:r>
          </a:p>
        </p:txBody>
      </p:sp>
      <p:sp>
        <p:nvSpPr>
          <p:cNvPr name="TextBox 4" id="4"/>
          <p:cNvSpPr txBox="true"/>
          <p:nvPr/>
        </p:nvSpPr>
        <p:spPr>
          <a:xfrm rot="0">
            <a:off x="-280092" y="4443541"/>
            <a:ext cx="5755035" cy="28867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ensures that a person cant deny performing an action, such as creating, modifying, or sending a resource</a:t>
            </a:r>
          </a:p>
        </p:txBody>
      </p:sp>
      <p:sp>
        <p:nvSpPr>
          <p:cNvPr name="TextBox 5" id="5"/>
          <p:cNvSpPr txBox="true"/>
          <p:nvPr/>
        </p:nvSpPr>
        <p:spPr>
          <a:xfrm rot="0">
            <a:off x="4824333" y="4443541"/>
            <a:ext cx="4814590" cy="36106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acts as proof of origin and integrity. e.g signing a contract leaves your signature as proof.</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409235" y="5557629"/>
            <a:ext cx="2395651" cy="1901396"/>
          </a:xfrm>
          <a:prstGeom prst="rect">
            <a:avLst/>
          </a:prstGeom>
        </p:spPr>
      </p:pic>
      <p:sp>
        <p:nvSpPr>
          <p:cNvPr name="TextBox 3" id="3"/>
          <p:cNvSpPr txBox="true"/>
          <p:nvPr/>
        </p:nvSpPr>
        <p:spPr>
          <a:xfrm rot="0">
            <a:off x="-196411" y="122277"/>
            <a:ext cx="10287000" cy="5634990"/>
          </a:xfrm>
          <a:prstGeom prst="rect">
            <a:avLst/>
          </a:prstGeom>
        </p:spPr>
        <p:txBody>
          <a:bodyPr anchor="t" rtlCol="false" tIns="0" lIns="0" bIns="0" rIns="0">
            <a:spAutoFit/>
          </a:bodyPr>
          <a:lstStyle/>
          <a:p>
            <a:pPr algn="l" marL="798834" indent="-399417" lvl="1">
              <a:lnSpc>
                <a:spcPts val="5180"/>
              </a:lnSpc>
              <a:buFont typeface="Arial"/>
              <a:buChar char="•"/>
            </a:pPr>
            <a:r>
              <a:rPr lang="en-US" sz="3700">
                <a:solidFill>
                  <a:srgbClr val="000000"/>
                </a:solidFill>
                <a:latin typeface="Canva Student Font"/>
                <a:ea typeface="Canva Student Font"/>
                <a:cs typeface="Canva Student Font"/>
                <a:sym typeface="Canva Student Font"/>
              </a:rPr>
              <a:t>in cryptography: ensure integrity by using a hash ( represent data as a short string of text) i.e. message digest or fingerprint.</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if data changes, the fingerprint changes too. proof of tampering.</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add authentication to verify source of the message</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sign with private key (e.g. digital signature)</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anyone can check the integrity with corresponding public key</a:t>
            </a:r>
          </a:p>
        </p:txBody>
      </p:sp>
      <p:sp>
        <p:nvSpPr>
          <p:cNvPr name="TextBox 4" id="4"/>
          <p:cNvSpPr txBox="true"/>
          <p:nvPr/>
        </p:nvSpPr>
        <p:spPr>
          <a:xfrm rot="0">
            <a:off x="1999882" y="5355457"/>
            <a:ext cx="8512991" cy="3722138"/>
          </a:xfrm>
          <a:prstGeom prst="rect">
            <a:avLst/>
          </a:prstGeom>
        </p:spPr>
        <p:txBody>
          <a:bodyPr anchor="t" rtlCol="false" tIns="0" lIns="0" bIns="0" rIns="0">
            <a:spAutoFit/>
          </a:bodyPr>
          <a:lstStyle/>
          <a:p>
            <a:pPr algn="l" marL="915674" indent="-457837" lvl="1">
              <a:lnSpc>
                <a:spcPts val="5937"/>
              </a:lnSpc>
              <a:buFont typeface="Arial"/>
              <a:buChar char="•"/>
            </a:pPr>
            <a:r>
              <a:rPr lang="en-US" sz="4241">
                <a:solidFill>
                  <a:srgbClr val="FF66C4"/>
                </a:solidFill>
                <a:latin typeface="Canva Student Font"/>
                <a:ea typeface="Canva Student Font"/>
                <a:cs typeface="Canva Student Font"/>
                <a:sym typeface="Canva Student Font"/>
              </a:rPr>
              <a:t>To confirm the authenticity of digital transactions</a:t>
            </a:r>
          </a:p>
          <a:p>
            <a:pPr algn="l" marL="915674" indent="-457837" lvl="1">
              <a:lnSpc>
                <a:spcPts val="5937"/>
              </a:lnSpc>
              <a:buFont typeface="Arial"/>
              <a:buChar char="•"/>
            </a:pPr>
            <a:r>
              <a:rPr lang="en-US" sz="4241">
                <a:solidFill>
                  <a:srgbClr val="FF66C4"/>
                </a:solidFill>
                <a:latin typeface="Canva Student Font"/>
                <a:ea typeface="Canva Student Font"/>
                <a:cs typeface="Canva Student Font"/>
                <a:sym typeface="Canva Student Font"/>
              </a:rPr>
              <a:t> To ensure the integrity of critical communications</a:t>
            </a:r>
          </a:p>
          <a:p>
            <a:pPr algn="l" marL="915674" indent="-457837" lvl="1">
              <a:lnSpc>
                <a:spcPts val="5937"/>
              </a:lnSpc>
              <a:spcBef>
                <a:spcPct val="0"/>
              </a:spcBef>
              <a:buFont typeface="Arial"/>
              <a:buChar char="•"/>
            </a:pPr>
            <a:r>
              <a:rPr lang="en-US" sz="4241">
                <a:solidFill>
                  <a:srgbClr val="FF66C4"/>
                </a:solidFill>
                <a:latin typeface="Canva Student Font"/>
                <a:ea typeface="Canva Student Font"/>
                <a:cs typeface="Canva Student Font"/>
                <a:sym typeface="Canva Student Font"/>
              </a:rPr>
              <a:t>To provide accountability in digital processes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98983" y="2807687"/>
            <a:ext cx="2387796" cy="1895162"/>
          </a:xfrm>
          <a:prstGeom prst="rect">
            <a:avLst/>
          </a:prstGeom>
        </p:spPr>
      </p:pic>
      <p:sp>
        <p:nvSpPr>
          <p:cNvPr name="TextBox 3" id="3"/>
          <p:cNvSpPr txBox="true"/>
          <p:nvPr/>
        </p:nvSpPr>
        <p:spPr>
          <a:xfrm rot="0">
            <a:off x="0" y="-85725"/>
            <a:ext cx="9992384" cy="1536065"/>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authentication, authorization &amp; accounting</a:t>
            </a:r>
          </a:p>
        </p:txBody>
      </p:sp>
      <p:sp>
        <p:nvSpPr>
          <p:cNvPr name="TextBox 4" id="4"/>
          <p:cNvSpPr txBox="true"/>
          <p:nvPr/>
        </p:nvSpPr>
        <p:spPr>
          <a:xfrm rot="0">
            <a:off x="0" y="1355090"/>
            <a:ext cx="10287000" cy="21628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authentication</a:t>
            </a:r>
            <a:r>
              <a:rPr lang="en-US" sz="4100">
                <a:solidFill>
                  <a:srgbClr val="000000"/>
                </a:solidFill>
                <a:latin typeface="Canva Student Font"/>
                <a:ea typeface="Canva Student Font"/>
                <a:cs typeface="Canva Student Font"/>
                <a:sym typeface="Canva Student Font"/>
              </a:rPr>
              <a:t>: Security measure that ensures individuals or entities are who they claim to be during a communication or transaction</a:t>
            </a:r>
          </a:p>
        </p:txBody>
      </p:sp>
      <p:sp>
        <p:nvSpPr>
          <p:cNvPr name="TextBox 5" id="5"/>
          <p:cNvSpPr txBox="true"/>
          <p:nvPr/>
        </p:nvSpPr>
        <p:spPr>
          <a:xfrm rot="0">
            <a:off x="441924" y="3660018"/>
            <a:ext cx="9845076" cy="4387850"/>
          </a:xfrm>
          <a:prstGeom prst="rect">
            <a:avLst/>
          </a:prstGeom>
        </p:spPr>
        <p:txBody>
          <a:bodyPr anchor="t" rtlCol="false" tIns="0" lIns="0" bIns="0" rIns="0">
            <a:spAutoFit/>
          </a:bodyPr>
          <a:lstStyle/>
          <a:p>
            <a:pPr algn="ctr">
              <a:lnSpc>
                <a:spcPts val="5740"/>
              </a:lnSpc>
            </a:pPr>
            <a:r>
              <a:rPr lang="en-US" sz="4100">
                <a:solidFill>
                  <a:srgbClr val="FF66C4"/>
                </a:solidFill>
                <a:latin typeface="Canva Student Font"/>
                <a:ea typeface="Canva Student Font"/>
                <a:cs typeface="Canva Student Font"/>
                <a:sym typeface="Canva Student Font"/>
              </a:rPr>
              <a:t>authenticating people</a:t>
            </a:r>
          </a:p>
          <a:p>
            <a:pPr algn="l" marL="885192" indent="-442596" lvl="1">
              <a:lnSpc>
                <a:spcPts val="5740"/>
              </a:lnSpc>
              <a:buFont typeface="Arial"/>
              <a:buChar char="•"/>
            </a:pPr>
            <a:r>
              <a:rPr lang="en-US" sz="4100">
                <a:solidFill>
                  <a:srgbClr val="FF66C4"/>
                </a:solidFill>
                <a:latin typeface="Canva Student Font"/>
                <a:ea typeface="Canva Student Font"/>
                <a:cs typeface="Canva Student Font"/>
                <a:sym typeface="Canva Student Font"/>
              </a:rPr>
              <a:t>identification</a:t>
            </a:r>
            <a:r>
              <a:rPr lang="en-US" sz="4100">
                <a:solidFill>
                  <a:srgbClr val="000000"/>
                </a:solidFill>
                <a:latin typeface="Canva Student Font"/>
                <a:ea typeface="Canva Student Font"/>
                <a:cs typeface="Canva Student Font"/>
                <a:sym typeface="Canva Student Font"/>
              </a:rPr>
              <a:t>: creating an account  or ID representing the user, devuce or process e.g. username</a:t>
            </a:r>
          </a:p>
          <a:p>
            <a:pPr algn="l" marL="885192" indent="-442596" lvl="1">
              <a:lnSpc>
                <a:spcPts val="5740"/>
              </a:lnSpc>
              <a:buFont typeface="Arial"/>
              <a:buChar char="•"/>
            </a:pPr>
            <a:r>
              <a:rPr lang="en-US" sz="4100">
                <a:solidFill>
                  <a:srgbClr val="FF66C4"/>
                </a:solidFill>
                <a:latin typeface="Canva Student Font"/>
                <a:ea typeface="Canva Student Font"/>
                <a:cs typeface="Canva Student Font"/>
                <a:sym typeface="Canva Student Font"/>
              </a:rPr>
              <a:t>authentication</a:t>
            </a:r>
            <a:r>
              <a:rPr lang="en-US" sz="4100">
                <a:solidFill>
                  <a:srgbClr val="000000"/>
                </a:solidFill>
                <a:latin typeface="Canva Student Font"/>
                <a:ea typeface="Canva Student Font"/>
                <a:cs typeface="Canva Student Font"/>
                <a:sym typeface="Canva Student Font"/>
              </a:rPr>
              <a:t>: proving the identity of a subject attempting to access a resource e.g. passwords</a:t>
            </a:r>
          </a:p>
          <a:p>
            <a:pPr algn="ctr">
              <a:lnSpc>
                <a:spcPts val="616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73407"/>
            <a:ext cx="9697768" cy="7230110"/>
          </a:xfrm>
          <a:prstGeom prst="rect">
            <a:avLst/>
          </a:prstGeom>
        </p:spPr>
        <p:txBody>
          <a:bodyPr anchor="t" rtlCol="false" tIns="0" lIns="0" bIns="0" rIns="0">
            <a:spAutoFit/>
          </a:bodyPr>
          <a:lstStyle/>
          <a:p>
            <a:pPr algn="ctr">
              <a:lnSpc>
                <a:spcPts val="5740"/>
              </a:lnSpc>
            </a:pPr>
            <a:r>
              <a:rPr lang="en-US" sz="4100">
                <a:solidFill>
                  <a:srgbClr val="FF66C4"/>
                </a:solidFill>
                <a:latin typeface="Canva Student Font"/>
                <a:ea typeface="Canva Student Font"/>
                <a:cs typeface="Canva Student Font"/>
                <a:sym typeface="Canva Student Font"/>
              </a:rPr>
              <a:t>authenticating systems</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put a digitally signed certificate on the device.</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an organization has its own certificate authority(CA).</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the organiztion can create a certificate for a device and digitally sign the certificate with the organizations CA.</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the certificate can now be included on a device as an authentication factor,</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the CAs digital signature is used to validate the certificate.</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2425" y="76609"/>
            <a:ext cx="10124575" cy="14389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authorization</a:t>
            </a:r>
            <a:r>
              <a:rPr lang="en-US" sz="4100">
                <a:solidFill>
                  <a:srgbClr val="000000"/>
                </a:solidFill>
                <a:latin typeface="Canva Student Font"/>
                <a:ea typeface="Canva Student Font"/>
                <a:cs typeface="Canva Student Font"/>
                <a:sym typeface="Canva Student Font"/>
              </a:rPr>
              <a:t>: Determines which resources a verified user can access and what actions they can perform.</a:t>
            </a:r>
          </a:p>
        </p:txBody>
      </p:sp>
      <p:sp>
        <p:nvSpPr>
          <p:cNvPr name="TextBox 3" id="3"/>
          <p:cNvSpPr txBox="true"/>
          <p:nvPr/>
        </p:nvSpPr>
        <p:spPr>
          <a:xfrm rot="0">
            <a:off x="0" y="1429794"/>
            <a:ext cx="10287000" cy="8710295"/>
          </a:xfrm>
          <a:prstGeom prst="rect">
            <a:avLst/>
          </a:prstGeom>
        </p:spPr>
        <p:txBody>
          <a:bodyPr anchor="t" rtlCol="false" tIns="0" lIns="0" bIns="0" rIns="0">
            <a:spAutoFit/>
          </a:bodyPr>
          <a:lstStyle/>
          <a:p>
            <a:pPr algn="l" marL="820424" indent="-410212" lvl="1">
              <a:lnSpc>
                <a:spcPts val="5320"/>
              </a:lnSpc>
              <a:spcBef>
                <a:spcPct val="0"/>
              </a:spcBef>
              <a:buFont typeface="Arial"/>
              <a:buChar char="•"/>
            </a:pPr>
            <a:r>
              <a:rPr lang="en-US" sz="3800">
                <a:solidFill>
                  <a:srgbClr val="000000"/>
                </a:solidFill>
                <a:latin typeface="Canva Student Font"/>
                <a:ea typeface="Canva Student Font"/>
                <a:cs typeface="Canva Student Font"/>
                <a:sym typeface="Canva Student Font"/>
              </a:rPr>
              <a:t>An </a:t>
            </a:r>
            <a:r>
              <a:rPr lang="en-US" sz="3800">
                <a:solidFill>
                  <a:srgbClr val="FF66C4"/>
                </a:solidFill>
                <a:latin typeface="Canva Student Font"/>
                <a:ea typeface="Canva Student Font"/>
                <a:cs typeface="Canva Student Font"/>
                <a:sym typeface="Canva Student Font"/>
              </a:rPr>
              <a:t>authorization model</a:t>
            </a:r>
            <a:r>
              <a:rPr lang="en-US" sz="3800">
                <a:solidFill>
                  <a:srgbClr val="000000"/>
                </a:solidFill>
                <a:latin typeface="Canva Student Font"/>
                <a:ea typeface="Canva Student Font"/>
                <a:cs typeface="Canva Student Font"/>
                <a:sym typeface="Canva Student Font"/>
              </a:rPr>
              <a:t> is a set of rules that determines who can access which resources and what they can do with them.</a:t>
            </a:r>
          </a:p>
          <a:p>
            <a:pPr algn="l" marL="820424" indent="-410212" lvl="1">
              <a:lnSpc>
                <a:spcPts val="5320"/>
              </a:lnSpc>
              <a:spcBef>
                <a:spcPct val="0"/>
              </a:spcBef>
              <a:buFont typeface="Arial"/>
              <a:buChar char="•"/>
            </a:pPr>
            <a:r>
              <a:rPr lang="en-US" sz="3800">
                <a:solidFill>
                  <a:srgbClr val="000000"/>
                </a:solidFill>
                <a:latin typeface="Canva Student Font"/>
                <a:ea typeface="Canva Student Font"/>
                <a:cs typeface="Canva Student Font"/>
                <a:sym typeface="Canva Student Font"/>
              </a:rPr>
              <a:t>scalable, easy to understand and supports any number of users and resources</a:t>
            </a:r>
          </a:p>
          <a:p>
            <a:pPr algn="l" marL="820424" indent="-410212" lvl="1">
              <a:lnSpc>
                <a:spcPts val="5320"/>
              </a:lnSpc>
              <a:spcBef>
                <a:spcPct val="0"/>
              </a:spcBef>
              <a:buFont typeface="Arial"/>
              <a:buChar char="•"/>
            </a:pPr>
            <a:r>
              <a:rPr lang="en-US" sz="3800">
                <a:solidFill>
                  <a:srgbClr val="000000"/>
                </a:solidFill>
                <a:latin typeface="Canva Student Font"/>
                <a:ea typeface="Canva Student Font"/>
                <a:cs typeface="Canva Student Font"/>
                <a:sym typeface="Canva Student Font"/>
              </a:rPr>
              <a:t>e.g. RBAC (Role-Based Access Control) Permissions are assigned according to a person's job role, ABAC (Attribute-Based Access Control) Access depends on attributes such as job title, location, device security or time, MAC (Mandatory Access Control) Access is  determined by centrally enforced security classifications and clearance levels, DAC ( Discretionary Access Control) The resource owner decides who can access the resource.</a:t>
            </a:r>
          </a:p>
          <a:p>
            <a:pPr algn="l">
              <a:lnSpc>
                <a:spcPts val="574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36106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accounting</a:t>
            </a:r>
            <a:r>
              <a:rPr lang="en-US" sz="4100">
                <a:solidFill>
                  <a:srgbClr val="000000"/>
                </a:solidFill>
                <a:latin typeface="Canva Student Font"/>
                <a:ea typeface="Canva Student Font"/>
                <a:cs typeface="Canva Student Font"/>
                <a:sym typeface="Canva Student Font"/>
              </a:rPr>
              <a:t>: security measure that ens</a:t>
            </a:r>
            <a:r>
              <a:rPr lang="en-US" sz="4100">
                <a:solidFill>
                  <a:srgbClr val="000000"/>
                </a:solidFill>
                <a:latin typeface="Canva Student Font"/>
                <a:ea typeface="Canva Student Font"/>
                <a:cs typeface="Canva Student Font"/>
                <a:sym typeface="Canva Student Font"/>
              </a:rPr>
              <a:t>ures all user activities during a communication or transaction are properly tracked and recorded.</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Records and tracks a user's activity, resource usage and access sessions.</a:t>
            </a:r>
          </a:p>
        </p:txBody>
      </p:sp>
      <p:sp>
        <p:nvSpPr>
          <p:cNvPr name="TextBox 3" id="3"/>
          <p:cNvSpPr txBox="true"/>
          <p:nvPr/>
        </p:nvSpPr>
        <p:spPr>
          <a:xfrm rot="0">
            <a:off x="-79899" y="3712603"/>
            <a:ext cx="10287000" cy="5058410"/>
          </a:xfrm>
          <a:prstGeom prst="rect">
            <a:avLst/>
          </a:prstGeom>
        </p:spPr>
        <p:txBody>
          <a:bodyPr anchor="t" rtlCol="false" tIns="0" lIns="0" bIns="0" rIns="0">
            <a:spAutoFit/>
          </a:bodyPr>
          <a:lstStyle/>
          <a:p>
            <a:pPr algn="ctr"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AAA: </a:t>
            </a:r>
            <a:r>
              <a:rPr lang="en-US" sz="4100">
                <a:solidFill>
                  <a:srgbClr val="000000"/>
                </a:solidFill>
                <a:latin typeface="Canva Student Font"/>
                <a:ea typeface="Canva Student Font"/>
                <a:cs typeface="Canva Student Font"/>
                <a:sym typeface="Canva Student Font"/>
              </a:rPr>
              <a:t>Authenticati</a:t>
            </a:r>
            <a:r>
              <a:rPr lang="en-US" sz="4100">
                <a:solidFill>
                  <a:srgbClr val="000000"/>
                </a:solidFill>
                <a:latin typeface="Canva Student Font"/>
                <a:ea typeface="Canva Student Font"/>
                <a:cs typeface="Canva Student Font"/>
                <a:sym typeface="Canva Student Font"/>
              </a:rPr>
              <a:t>on, Authorization, Accounting.</a:t>
            </a:r>
          </a:p>
          <a:p>
            <a:pPr algn="ctr"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Authorization models: </a:t>
            </a:r>
            <a:r>
              <a:rPr lang="en-US" sz="4100">
                <a:solidFill>
                  <a:srgbClr val="000000"/>
                </a:solidFill>
                <a:latin typeface="Canva Student Font"/>
                <a:ea typeface="Canva Student Font"/>
                <a:cs typeface="Canva Student Font"/>
                <a:sym typeface="Canva Student Font"/>
              </a:rPr>
              <a:t>RBAC, ABAC, MAC, DAC.</a:t>
            </a:r>
          </a:p>
          <a:p>
            <a:pPr algn="ctr"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AAA protocols: </a:t>
            </a:r>
            <a:r>
              <a:rPr lang="en-US" sz="4100">
                <a:solidFill>
                  <a:srgbClr val="000000"/>
                </a:solidFill>
                <a:latin typeface="Canva Student Font"/>
                <a:ea typeface="Canva Student Font"/>
                <a:cs typeface="Canva Student Font"/>
                <a:sym typeface="Canva Student Font"/>
              </a:rPr>
              <a:t>RADIUS, TACACS+.</a:t>
            </a:r>
          </a:p>
          <a:p>
            <a:pPr algn="ctr"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Authentication methods: </a:t>
            </a:r>
            <a:r>
              <a:rPr lang="en-US" sz="4100">
                <a:solidFill>
                  <a:srgbClr val="000000"/>
                </a:solidFill>
                <a:latin typeface="Canva Student Font"/>
                <a:ea typeface="Canva Student Font"/>
                <a:cs typeface="Canva Student Font"/>
                <a:sym typeface="Canva Student Font"/>
              </a:rPr>
              <a:t>SFA, 2FA, MFA, risk-based authentication.</a:t>
            </a:r>
          </a:p>
          <a:p>
            <a:pPr algn="l">
              <a:lnSpc>
                <a:spcPts val="5740"/>
              </a:lnSpc>
              <a:spcBef>
                <a:spcPct val="0"/>
              </a:spcBef>
            </a:pPr>
          </a:p>
          <a:p>
            <a:pPr algn="ctr">
              <a:lnSpc>
                <a:spcPts val="5740"/>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322258" y="-85725"/>
            <a:ext cx="3249662" cy="755015"/>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GAP ANALYSIS</a:t>
            </a:r>
          </a:p>
        </p:txBody>
      </p:sp>
      <p:sp>
        <p:nvSpPr>
          <p:cNvPr name="TextBox 3" id="3"/>
          <p:cNvSpPr txBox="true"/>
          <p:nvPr/>
        </p:nvSpPr>
        <p:spPr>
          <a:xfrm rot="0">
            <a:off x="0" y="574040"/>
            <a:ext cx="10287000" cy="2886710"/>
          </a:xfrm>
          <a:prstGeom prst="rect">
            <a:avLst/>
          </a:prstGeom>
        </p:spPr>
        <p:txBody>
          <a:bodyPr anchor="t" rtlCol="false" tIns="0" lIns="0" bIns="0" rIns="0">
            <a:spAutoFit/>
          </a:bodyPr>
          <a:lstStyle/>
          <a:p>
            <a:pPr algn="l" marL="885191" indent="-442595"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the process </a:t>
            </a:r>
            <a:r>
              <a:rPr lang="en-US" sz="4100">
                <a:solidFill>
                  <a:srgbClr val="000000"/>
                </a:solidFill>
                <a:latin typeface="Canva Student Font"/>
                <a:ea typeface="Canva Student Font"/>
                <a:cs typeface="Canva Student Font"/>
                <a:sym typeface="Canva Student Font"/>
              </a:rPr>
              <a:t>of comparing an organisation's current security controls with the requirements of a security framework or standard to identify what is missing, inadequate or incorrectly configured.</a:t>
            </a:r>
          </a:p>
        </p:txBody>
      </p:sp>
      <p:sp>
        <p:nvSpPr>
          <p:cNvPr name="TextBox 4" id="4"/>
          <p:cNvSpPr txBox="true"/>
          <p:nvPr/>
        </p:nvSpPr>
        <p:spPr>
          <a:xfrm rot="0">
            <a:off x="0" y="3597388"/>
            <a:ext cx="9894179" cy="8691245"/>
          </a:xfrm>
          <a:prstGeom prst="rect">
            <a:avLst/>
          </a:prstGeom>
        </p:spPr>
        <p:txBody>
          <a:bodyPr anchor="t" rtlCol="false" tIns="0" lIns="0" bIns="0" rIns="0">
            <a:spAutoFit/>
          </a:bodyPr>
          <a:lstStyle/>
          <a:p>
            <a:pPr algn="ctr">
              <a:lnSpc>
                <a:spcPts val="5320"/>
              </a:lnSpc>
              <a:spcBef>
                <a:spcPct val="0"/>
              </a:spcBef>
            </a:pPr>
            <a:r>
              <a:rPr lang="en-US" sz="3800">
                <a:solidFill>
                  <a:srgbClr val="FF66C4"/>
                </a:solidFill>
                <a:latin typeface="Canva Student Font"/>
                <a:ea typeface="Canva Student Font"/>
                <a:cs typeface="Canva Student Font"/>
                <a:sym typeface="Canva Student Font"/>
              </a:rPr>
              <a:t>How d</a:t>
            </a:r>
            <a:r>
              <a:rPr lang="en-US" sz="3800">
                <a:solidFill>
                  <a:srgbClr val="FF66C4"/>
                </a:solidFill>
                <a:latin typeface="Canva Student Font"/>
                <a:ea typeface="Canva Student Font"/>
                <a:cs typeface="Canva Student Font"/>
                <a:sym typeface="Canva Student Font"/>
              </a:rPr>
              <a:t>oes gap analysis work?</a:t>
            </a:r>
          </a:p>
          <a:p>
            <a:pPr algn="l" marL="820424" indent="-410212" lvl="1">
              <a:lnSpc>
                <a:spcPts val="5320"/>
              </a:lnSpc>
              <a:spcBef>
                <a:spcPct val="0"/>
              </a:spcBef>
              <a:buFont typeface="Arial"/>
              <a:buChar char="•"/>
            </a:pPr>
            <a:r>
              <a:rPr lang="en-US" sz="3800">
                <a:solidFill>
                  <a:srgbClr val="FF66C4"/>
                </a:solidFill>
                <a:latin typeface="Canva Student Font"/>
                <a:ea typeface="Canva Student Font"/>
                <a:cs typeface="Canva Student Font"/>
                <a:sym typeface="Canva Student Font"/>
              </a:rPr>
              <a:t>Identify the requirements</a:t>
            </a:r>
            <a:r>
              <a:rPr lang="en-US" sz="3800">
                <a:solidFill>
                  <a:srgbClr val="000000"/>
                </a:solidFill>
                <a:latin typeface="Canva Student Font"/>
                <a:ea typeface="Canva Student Font"/>
                <a:cs typeface="Canva Student Font"/>
                <a:sym typeface="Canva Student Font"/>
              </a:rPr>
              <a:t>: Choose the framework or standard the organization wants to meet.</a:t>
            </a:r>
          </a:p>
          <a:p>
            <a:pPr algn="l" marL="734066" indent="-367033" lvl="1">
              <a:lnSpc>
                <a:spcPts val="4760"/>
              </a:lnSpc>
              <a:spcBef>
                <a:spcPct val="0"/>
              </a:spcBef>
              <a:buFont typeface="Arial"/>
              <a:buChar char="•"/>
            </a:pPr>
            <a:r>
              <a:rPr lang="en-US" sz="3400">
                <a:solidFill>
                  <a:srgbClr val="FF66C4"/>
                </a:solidFill>
                <a:latin typeface="Canva Student Font"/>
                <a:ea typeface="Canva Student Font"/>
                <a:cs typeface="Canva Student Font"/>
                <a:sym typeface="Canva Student Font"/>
              </a:rPr>
              <a:t>Review the existing controls</a:t>
            </a:r>
            <a:r>
              <a:rPr lang="en-US" sz="3400">
                <a:solidFill>
                  <a:srgbClr val="000000"/>
                </a:solidFill>
                <a:latin typeface="Canva Student Font"/>
                <a:ea typeface="Canva Student Font"/>
                <a:cs typeface="Canva Student Font"/>
                <a:sym typeface="Canva Student Font"/>
              </a:rPr>
              <a:t>: Check what security measures are already in place.</a:t>
            </a:r>
          </a:p>
          <a:p>
            <a:pPr algn="l" marL="820424" indent="-410212" lvl="1">
              <a:lnSpc>
                <a:spcPts val="5320"/>
              </a:lnSpc>
              <a:spcBef>
                <a:spcPct val="0"/>
              </a:spcBef>
              <a:buFont typeface="Arial"/>
              <a:buChar char="•"/>
            </a:pPr>
            <a:r>
              <a:rPr lang="en-US" sz="3800">
                <a:solidFill>
                  <a:srgbClr val="FF66C4"/>
                </a:solidFill>
                <a:latin typeface="Canva Student Font"/>
                <a:ea typeface="Canva Student Font"/>
                <a:cs typeface="Canva Student Font"/>
                <a:sym typeface="Canva Student Font"/>
              </a:rPr>
              <a:t>Identify the gap</a:t>
            </a:r>
            <a:r>
              <a:rPr lang="en-US" sz="3800">
                <a:solidFill>
                  <a:srgbClr val="000000"/>
                </a:solidFill>
                <a:latin typeface="Canva Student Font"/>
                <a:ea typeface="Canva Student Font"/>
                <a:cs typeface="Canva Student Font"/>
                <a:sym typeface="Canva Student Font"/>
              </a:rPr>
              <a:t>: Compare the required controls with the actual controls.</a:t>
            </a:r>
          </a:p>
          <a:p>
            <a:pPr algn="l" marL="820424" indent="-410212" lvl="1">
              <a:lnSpc>
                <a:spcPts val="5320"/>
              </a:lnSpc>
              <a:spcBef>
                <a:spcPct val="0"/>
              </a:spcBef>
              <a:buFont typeface="Arial"/>
              <a:buChar char="•"/>
            </a:pPr>
            <a:r>
              <a:rPr lang="en-US" sz="3800">
                <a:solidFill>
                  <a:srgbClr val="FF66C4"/>
                </a:solidFill>
                <a:latin typeface="Canva Student Font"/>
                <a:ea typeface="Canva Student Font"/>
                <a:cs typeface="Canva Student Font"/>
                <a:sym typeface="Canva Student Font"/>
              </a:rPr>
              <a:t>Recommend and prioritise improvements</a:t>
            </a:r>
            <a:r>
              <a:rPr lang="en-US" sz="3800">
                <a:solidFill>
                  <a:srgbClr val="000000"/>
                </a:solidFill>
                <a:latin typeface="Canva Student Font"/>
                <a:ea typeface="Canva Student Font"/>
                <a:cs typeface="Canva Student Font"/>
                <a:sym typeface="Canva Student Font"/>
              </a:rPr>
              <a:t>: Document the missing controls, assess the risks and plan corrective action according to available time and resources.</a:t>
            </a:r>
          </a:p>
          <a:p>
            <a:pPr algn="l">
              <a:lnSpc>
                <a:spcPts val="5740"/>
              </a:lnSpc>
              <a:spcBef>
                <a:spcPct val="0"/>
              </a:spcBef>
            </a:pPr>
          </a:p>
          <a:p>
            <a:pPr algn="l">
              <a:lnSpc>
                <a:spcPts val="5740"/>
              </a:lnSpc>
              <a:spcBef>
                <a:spcPct val="0"/>
              </a:spcBef>
            </a:pPr>
          </a:p>
          <a:p>
            <a:pPr algn="ctr">
              <a:lnSpc>
                <a:spcPts val="5740"/>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264160"/>
            <a:ext cx="9648666" cy="50584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When is gap analysis perf</a:t>
            </a:r>
            <a:r>
              <a:rPr lang="en-US" sz="4100">
                <a:solidFill>
                  <a:srgbClr val="FF66C4"/>
                </a:solidFill>
                <a:latin typeface="Canva Student Font"/>
                <a:ea typeface="Canva Student Font"/>
                <a:cs typeface="Canva Student Font"/>
                <a:sym typeface="Canva Student Font"/>
              </a:rPr>
              <a:t>ormed?</a:t>
            </a:r>
          </a:p>
          <a:p>
            <a:pPr algn="ctr"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When adopting a new security framework.</a:t>
            </a:r>
          </a:p>
          <a:p>
            <a:pPr algn="ctr"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When preparing to meet new compliance requirements.</a:t>
            </a:r>
          </a:p>
          <a:p>
            <a:pPr algn="ctr"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Periodically, to check whether security controls remain adequate.</a:t>
            </a:r>
          </a:p>
          <a:p>
            <a:pPr algn="ctr">
              <a:lnSpc>
                <a:spcPts val="5740"/>
              </a:lnSpc>
              <a:spcBef>
                <a:spcPct val="0"/>
              </a:spcBef>
            </a:pPr>
          </a:p>
        </p:txBody>
      </p:sp>
      <p:sp>
        <p:nvSpPr>
          <p:cNvPr name="TextBox 3" id="3"/>
          <p:cNvSpPr txBox="true"/>
          <p:nvPr/>
        </p:nvSpPr>
        <p:spPr>
          <a:xfrm rot="0">
            <a:off x="1413346" y="4713605"/>
            <a:ext cx="7460307" cy="28867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What d</a:t>
            </a:r>
            <a:r>
              <a:rPr lang="en-US" sz="4100">
                <a:solidFill>
                  <a:srgbClr val="FF66C4"/>
                </a:solidFill>
                <a:latin typeface="Canva Student Font"/>
                <a:ea typeface="Canva Student Font"/>
                <a:cs typeface="Canva Student Font"/>
                <a:sym typeface="Canva Student Font"/>
              </a:rPr>
              <a:t>oes gap analysis produce?</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overall score</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list of missing/poorly configured controls</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remediation recommendations</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431376" y="-85725"/>
            <a:ext cx="2785914" cy="755015"/>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zero trust</a:t>
            </a:r>
          </a:p>
        </p:txBody>
      </p:sp>
      <p:sp>
        <p:nvSpPr>
          <p:cNvPr name="TextBox 3" id="3"/>
          <p:cNvSpPr txBox="true"/>
          <p:nvPr/>
        </p:nvSpPr>
        <p:spPr>
          <a:xfrm rot="0">
            <a:off x="4762" y="1455541"/>
            <a:ext cx="10287000" cy="5226050"/>
          </a:xfrm>
          <a:prstGeom prst="rect">
            <a:avLst/>
          </a:prstGeom>
        </p:spPr>
        <p:txBody>
          <a:bodyPr anchor="t" rtlCol="false" tIns="0" lIns="0" bIns="0" rIns="0">
            <a:spAutoFit/>
          </a:bodyPr>
          <a:lstStyle/>
          <a:p>
            <a:pPr algn="l" marL="949959" indent="-474979" lvl="1">
              <a:lnSpc>
                <a:spcPts val="6159"/>
              </a:lnSpc>
              <a:buFont typeface="Arial"/>
              <a:buChar char="•"/>
            </a:pPr>
            <a:r>
              <a:rPr lang="en-US" sz="4399">
                <a:solidFill>
                  <a:srgbClr val="000000"/>
                </a:solidFill>
                <a:latin typeface="Canva Student Font"/>
                <a:ea typeface="Canva Student Font"/>
                <a:cs typeface="Canva Student Font"/>
                <a:sym typeface="Canva Student Font"/>
              </a:rPr>
              <a:t>requires all devices, users &amp; processes to be authenticated and authorized before accessing a network resources.</a:t>
            </a:r>
          </a:p>
          <a:p>
            <a:pPr algn="l" marL="885191" indent="-442595" lvl="1">
              <a:lnSpc>
                <a:spcPts val="5740"/>
              </a:lnSpc>
              <a:buFont typeface="Arial"/>
              <a:buChar char="•"/>
            </a:pPr>
            <a:r>
              <a:rPr lang="en-US" sz="4100">
                <a:solidFill>
                  <a:srgbClr val="000000"/>
                </a:solidFill>
                <a:latin typeface="Canva Student Font"/>
                <a:ea typeface="Canva Student Font"/>
                <a:cs typeface="Canva Student Font"/>
                <a:sym typeface="Canva Student Font"/>
              </a:rPr>
              <a:t>assumes no inherent trust inside or outside a networks perimeter.</a:t>
            </a:r>
          </a:p>
          <a:p>
            <a:pPr algn="l" marL="885191" indent="-442595" lvl="1">
              <a:lnSpc>
                <a:spcPts val="5740"/>
              </a:lnSpc>
              <a:buFont typeface="Arial"/>
              <a:buChar char="•"/>
            </a:pPr>
            <a:r>
              <a:rPr lang="en-US" sz="4100">
                <a:solidFill>
                  <a:srgbClr val="000000"/>
                </a:solidFill>
                <a:latin typeface="Canva Student Font"/>
                <a:ea typeface="Canva Student Font"/>
                <a:cs typeface="Canva Student Font"/>
                <a:sym typeface="Canva Student Font"/>
              </a:rPr>
              <a:t>split into functional planes</a:t>
            </a:r>
          </a:p>
          <a:p>
            <a:pPr algn="l" marL="885191" indent="-442595"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applies to physical, virtual and cloud environments.</a:t>
            </a:r>
          </a:p>
        </p:txBody>
      </p:sp>
      <p:sp>
        <p:nvSpPr>
          <p:cNvPr name="TextBox 4" id="4"/>
          <p:cNvSpPr txBox="true"/>
          <p:nvPr/>
        </p:nvSpPr>
        <p:spPr>
          <a:xfrm rot="0">
            <a:off x="5138738" y="4723130"/>
            <a:ext cx="9525" cy="755015"/>
          </a:xfrm>
          <a:prstGeom prst="rect">
            <a:avLst/>
          </a:prstGeom>
        </p:spPr>
        <p:txBody>
          <a:bodyPr anchor="t" rtlCol="false" tIns="0" lIns="0" bIns="0" rIns="0">
            <a:spAutoFit/>
          </a:bodyPr>
          <a:lstStyle/>
          <a:p>
            <a:pPr algn="ctr">
              <a:lnSpc>
                <a:spcPts val="6160"/>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33450"/>
            <a:ext cx="10287000" cy="7793990"/>
          </a:xfrm>
          <a:prstGeom prst="rect">
            <a:avLst/>
          </a:prstGeom>
        </p:spPr>
        <p:txBody>
          <a:bodyPr anchor="t" rtlCol="false" tIns="0" lIns="0" bIns="0" rIns="0">
            <a:spAutoFit/>
          </a:bodyPr>
          <a:lstStyle/>
          <a:p>
            <a:pPr algn="ctr">
              <a:lnSpc>
                <a:spcPts val="6160"/>
              </a:lnSpc>
              <a:spcBef>
                <a:spcPct val="0"/>
              </a:spcBef>
            </a:pPr>
            <a:r>
              <a:rPr lang="en-US" sz="4400">
                <a:solidFill>
                  <a:srgbClr val="FF66C4"/>
                </a:solidFill>
                <a:latin typeface="Canva Student Font"/>
                <a:ea typeface="Canva Student Font"/>
                <a:cs typeface="Canva Student Font"/>
                <a:sym typeface="Canva Student Font"/>
              </a:rPr>
              <a:t>Control plane</a:t>
            </a:r>
            <a:r>
              <a:rPr lang="en-US" sz="4400">
                <a:solidFill>
                  <a:srgbClr val="000000"/>
                </a:solidFill>
                <a:latin typeface="Canva Student Font"/>
                <a:ea typeface="Canva Student Font"/>
                <a:cs typeface="Canva Student Font"/>
                <a:sym typeface="Canva Student Font"/>
              </a:rPr>
              <a:t> — Makes the decisions</a:t>
            </a:r>
          </a:p>
          <a:p>
            <a:pPr algn="ctr">
              <a:lnSpc>
                <a:spcPts val="6160"/>
              </a:lnSpc>
              <a:spcBef>
                <a:spcPct val="0"/>
              </a:spcBef>
            </a:pPr>
            <a:r>
              <a:rPr lang="en-US" sz="4400">
                <a:solidFill>
                  <a:srgbClr val="000000"/>
                </a:solidFill>
                <a:latin typeface="Canva Student Font"/>
                <a:ea typeface="Canva Student Font"/>
                <a:cs typeface="Canva Student Font"/>
                <a:sym typeface="Canva Student Font"/>
              </a:rPr>
              <a:t>Determines who should have access, which policies apply and how network traffic should be handled. </a:t>
            </a:r>
          </a:p>
          <a:p>
            <a:pPr algn="ctr">
              <a:lnSpc>
                <a:spcPts val="6160"/>
              </a:lnSpc>
              <a:spcBef>
                <a:spcPct val="0"/>
              </a:spcBef>
            </a:pPr>
          </a:p>
          <a:p>
            <a:pPr algn="ctr">
              <a:lnSpc>
                <a:spcPts val="6160"/>
              </a:lnSpc>
              <a:spcBef>
                <a:spcPct val="0"/>
              </a:spcBef>
            </a:pPr>
          </a:p>
          <a:p>
            <a:pPr algn="ctr">
              <a:lnSpc>
                <a:spcPts val="6160"/>
              </a:lnSpc>
              <a:spcBef>
                <a:spcPct val="0"/>
              </a:spcBef>
            </a:pPr>
          </a:p>
          <a:p>
            <a:pPr algn="ctr">
              <a:lnSpc>
                <a:spcPts val="6160"/>
              </a:lnSpc>
              <a:spcBef>
                <a:spcPct val="0"/>
              </a:spcBef>
            </a:pPr>
            <a:r>
              <a:rPr lang="en-US" sz="4400">
                <a:solidFill>
                  <a:srgbClr val="000000"/>
                </a:solidFill>
                <a:latin typeface="Canva Student Font"/>
                <a:ea typeface="Canva Student Font"/>
                <a:cs typeface="Canva Student Font"/>
                <a:sym typeface="Canva Student Font"/>
              </a:rPr>
              <a:t>Decisions and instructions guide traffic handling</a:t>
            </a:r>
          </a:p>
          <a:p>
            <a:pPr algn="ctr">
              <a:lnSpc>
                <a:spcPts val="6160"/>
              </a:lnSpc>
              <a:spcBef>
                <a:spcPct val="0"/>
              </a:spcBef>
            </a:pPr>
            <a:r>
              <a:rPr lang="en-US" sz="4400">
                <a:solidFill>
                  <a:srgbClr val="FF66C4"/>
                </a:solidFill>
                <a:latin typeface="Canva Student Font"/>
                <a:ea typeface="Canva Student Font"/>
                <a:cs typeface="Canva Student Font"/>
                <a:sym typeface="Canva Student Font"/>
              </a:rPr>
              <a:t>Data plane</a:t>
            </a:r>
            <a:r>
              <a:rPr lang="en-US" sz="4400">
                <a:solidFill>
                  <a:srgbClr val="000000"/>
                </a:solidFill>
                <a:latin typeface="Canva Student Font"/>
                <a:ea typeface="Canva Student Font"/>
                <a:cs typeface="Canva Student Font"/>
                <a:sym typeface="Canva Student Font"/>
              </a:rPr>
              <a:t> — Handles the traffic</a:t>
            </a:r>
          </a:p>
          <a:p>
            <a:pPr algn="ctr">
              <a:lnSpc>
                <a:spcPts val="6160"/>
              </a:lnSpc>
              <a:spcBef>
                <a:spcPct val="0"/>
              </a:spcBef>
            </a:pPr>
            <a:r>
              <a:rPr lang="en-US" sz="4400">
                <a:solidFill>
                  <a:srgbClr val="000000"/>
                </a:solidFill>
                <a:latin typeface="Canva Student Font"/>
                <a:ea typeface="Canva Student Font"/>
                <a:cs typeface="Canva Student Font"/>
                <a:sym typeface="Canva Student Font"/>
              </a:rPr>
              <a:t>Processes and forwards packets, enforces access decisions, and may encrypt or translate network traffic.</a:t>
            </a:r>
          </a:p>
        </p:txBody>
      </p:sp>
      <p:sp>
        <p:nvSpPr>
          <p:cNvPr name="AutoShape 3" id="3"/>
          <p:cNvSpPr/>
          <p:nvPr/>
        </p:nvSpPr>
        <p:spPr>
          <a:xfrm>
            <a:off x="4866683" y="3875770"/>
            <a:ext cx="0" cy="1045863"/>
          </a:xfrm>
          <a:prstGeom prst="line">
            <a:avLst/>
          </a:prstGeom>
          <a:ln cap="flat" w="38100">
            <a:solidFill>
              <a:srgbClr val="CB6CE6"/>
            </a:solidFill>
            <a:prstDash val="solid"/>
            <a:headEnd type="none" len="sm" w="sm"/>
            <a:tailEnd type="triangle" len="med" w="lg"/>
          </a:ln>
        </p:spPr>
      </p:sp>
      <p:sp>
        <p:nvSpPr>
          <p:cNvPr name="AutoShape 4" id="4"/>
          <p:cNvSpPr/>
          <p:nvPr/>
        </p:nvSpPr>
        <p:spPr>
          <a:xfrm flipV="true">
            <a:off x="5358961" y="3851219"/>
            <a:ext cx="0" cy="1045575"/>
          </a:xfrm>
          <a:prstGeom prst="line">
            <a:avLst/>
          </a:prstGeom>
          <a:ln cap="flat" w="38100">
            <a:solidFill>
              <a:srgbClr val="CB6CE6"/>
            </a:solidFill>
            <a:prstDash val="solid"/>
            <a:headEnd type="none" len="sm" w="sm"/>
            <a:tailEnd type="triangle" len="med" w="lg"/>
          </a:ln>
        </p:spPr>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73407"/>
            <a:ext cx="9795974" cy="8575040"/>
          </a:xfrm>
          <a:prstGeom prst="rect">
            <a:avLst/>
          </a:prstGeom>
        </p:spPr>
        <p:txBody>
          <a:bodyPr anchor="t" rtlCol="false" tIns="0" lIns="0" bIns="0" rIns="0">
            <a:spAutoFit/>
          </a:bodyPr>
          <a:lstStyle/>
          <a:p>
            <a:pPr algn="ctr">
              <a:lnSpc>
                <a:spcPts val="6160"/>
              </a:lnSpc>
              <a:spcBef>
                <a:spcPct val="0"/>
              </a:spcBef>
            </a:pPr>
            <a:r>
              <a:rPr lang="en-US" sz="4400">
                <a:solidFill>
                  <a:srgbClr val="FF66C4"/>
                </a:solidFill>
                <a:latin typeface="Canva Student Font"/>
                <a:ea typeface="Canva Student Font"/>
                <a:cs typeface="Canva Student Font"/>
                <a:sym typeface="Canva Student Font"/>
              </a:rPr>
              <a:t>Key c</a:t>
            </a:r>
            <a:r>
              <a:rPr lang="en-US" sz="4400">
                <a:solidFill>
                  <a:srgbClr val="FF66C4"/>
                </a:solidFill>
                <a:latin typeface="Canva Student Font"/>
                <a:ea typeface="Canva Student Font"/>
                <a:cs typeface="Canva Student Font"/>
                <a:sym typeface="Canva Student Font"/>
              </a:rPr>
              <a:t>oncepts within the control plane</a:t>
            </a:r>
          </a:p>
          <a:p>
            <a:pPr algn="l" marL="949961" indent="-474980" lvl="1">
              <a:lnSpc>
                <a:spcPts val="6160"/>
              </a:lnSpc>
              <a:spcBef>
                <a:spcPct val="0"/>
              </a:spcBef>
              <a:buAutoNum type="arabicPeriod" startAt="1"/>
            </a:pPr>
            <a:r>
              <a:rPr lang="en-US" sz="4400">
                <a:solidFill>
                  <a:srgbClr val="FF66C4"/>
                </a:solidFill>
                <a:latin typeface="Canva Student Font"/>
                <a:ea typeface="Canva Student Font"/>
                <a:cs typeface="Canva Student Font"/>
                <a:sym typeface="Canva Student Font"/>
              </a:rPr>
              <a:t>adaptive identity</a:t>
            </a:r>
          </a:p>
          <a:p>
            <a:pPr algn="l" marL="949961" indent="-474980" lvl="1">
              <a:lnSpc>
                <a:spcPts val="6160"/>
              </a:lnSpc>
              <a:spcBef>
                <a:spcPct val="0"/>
              </a:spcBef>
              <a:buFont typeface="Arial"/>
              <a:buChar char="•"/>
            </a:pPr>
            <a:r>
              <a:rPr lang="en-US" sz="4400">
                <a:solidFill>
                  <a:srgbClr val="000000"/>
                </a:solidFill>
                <a:latin typeface="Canva Student Font"/>
                <a:ea typeface="Canva Student Font"/>
                <a:cs typeface="Canva Student Font"/>
                <a:sym typeface="Canva Student Font"/>
              </a:rPr>
              <a:t>considers source &amp; requested resource</a:t>
            </a:r>
          </a:p>
          <a:p>
            <a:pPr algn="l" marL="949961" indent="-474980" lvl="1">
              <a:lnSpc>
                <a:spcPts val="6160"/>
              </a:lnSpc>
              <a:spcBef>
                <a:spcPct val="0"/>
              </a:spcBef>
              <a:buFont typeface="Arial"/>
              <a:buChar char="•"/>
            </a:pPr>
            <a:r>
              <a:rPr lang="en-US" sz="4400">
                <a:solidFill>
                  <a:srgbClr val="000000"/>
                </a:solidFill>
                <a:latin typeface="Canva Student Font"/>
                <a:ea typeface="Canva Student Font"/>
                <a:cs typeface="Canva Student Font"/>
                <a:sym typeface="Canva Student Font"/>
              </a:rPr>
              <a:t>evaluates mulitple risk indicators such as relationship to the organization, type of connection, IP address, physical location.</a:t>
            </a:r>
          </a:p>
          <a:p>
            <a:pPr algn="l" marL="949961" indent="-474980" lvl="1">
              <a:lnSpc>
                <a:spcPts val="6160"/>
              </a:lnSpc>
              <a:spcBef>
                <a:spcPct val="0"/>
              </a:spcBef>
              <a:buAutoNum type="arabicPeriod" startAt="1"/>
            </a:pPr>
            <a:r>
              <a:rPr lang="en-US" sz="4400">
                <a:solidFill>
                  <a:srgbClr val="FF66C4"/>
                </a:solidFill>
                <a:latin typeface="Canva Student Font"/>
                <a:ea typeface="Canva Student Font"/>
                <a:cs typeface="Canva Student Font"/>
                <a:sym typeface="Canva Student Font"/>
              </a:rPr>
              <a:t>threat scope reduction</a:t>
            </a:r>
          </a:p>
          <a:p>
            <a:pPr algn="l" marL="949961" indent="-474980" lvl="1">
              <a:lnSpc>
                <a:spcPts val="6160"/>
              </a:lnSpc>
              <a:spcBef>
                <a:spcPct val="0"/>
              </a:spcBef>
              <a:buFont typeface="Arial"/>
              <a:buChar char="•"/>
            </a:pPr>
            <a:r>
              <a:rPr lang="en-US" sz="4400">
                <a:solidFill>
                  <a:srgbClr val="000000"/>
                </a:solidFill>
                <a:latin typeface="Canva Student Font"/>
                <a:ea typeface="Canva Student Font"/>
                <a:cs typeface="Canva Student Font"/>
                <a:sym typeface="Canva Student Font"/>
              </a:rPr>
              <a:t>decreases number of possible entry points</a:t>
            </a:r>
          </a:p>
          <a:p>
            <a:pPr algn="l" marL="949961" indent="-474980" lvl="1">
              <a:lnSpc>
                <a:spcPts val="6160"/>
              </a:lnSpc>
              <a:spcBef>
                <a:spcPct val="0"/>
              </a:spcBef>
              <a:buAutoNum type="arabicPeriod" startAt="1"/>
            </a:pPr>
            <a:r>
              <a:rPr lang="en-US" sz="4400">
                <a:solidFill>
                  <a:srgbClr val="FF66C4"/>
                </a:solidFill>
                <a:latin typeface="Canva Student Font"/>
                <a:ea typeface="Canva Student Font"/>
                <a:cs typeface="Canva Student Font"/>
                <a:sym typeface="Canva Student Font"/>
              </a:rPr>
              <a:t>policy-driven access control</a:t>
            </a:r>
          </a:p>
          <a:p>
            <a:pPr algn="l" marL="949961" indent="-474980" lvl="1">
              <a:lnSpc>
                <a:spcPts val="6160"/>
              </a:lnSpc>
              <a:spcBef>
                <a:spcPct val="0"/>
              </a:spcBef>
              <a:buFont typeface="Arial"/>
              <a:buChar char="•"/>
            </a:pPr>
            <a:r>
              <a:rPr lang="en-US" sz="4400">
                <a:solidFill>
                  <a:srgbClr val="000000"/>
                </a:solidFill>
                <a:latin typeface="Canva Student Font"/>
                <a:ea typeface="Canva Student Font"/>
                <a:cs typeface="Canva Student Font"/>
                <a:sym typeface="Canva Student Font"/>
              </a:rPr>
              <a:t>combines adaptive identity with predefined set of rules</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73407"/>
            <a:ext cx="9795974" cy="5111750"/>
          </a:xfrm>
          <a:prstGeom prst="rect">
            <a:avLst/>
          </a:prstGeom>
        </p:spPr>
        <p:txBody>
          <a:bodyPr anchor="t" rtlCol="false" tIns="0" lIns="0" bIns="0" rIns="0">
            <a:spAutoFit/>
          </a:bodyPr>
          <a:lstStyle/>
          <a:p>
            <a:pPr algn="ctr">
              <a:lnSpc>
                <a:spcPts val="6160"/>
              </a:lnSpc>
            </a:pPr>
            <a:r>
              <a:rPr lang="en-US" sz="4400">
                <a:solidFill>
                  <a:srgbClr val="FF66C4"/>
                </a:solidFill>
                <a:latin typeface="Canva Student Font"/>
                <a:ea typeface="Canva Student Font"/>
                <a:cs typeface="Canva Student Font"/>
                <a:sym typeface="Canva Student Font"/>
              </a:rPr>
              <a:t>components of contol plane</a:t>
            </a:r>
            <a:r>
              <a:rPr lang="en-US" sz="4400">
                <a:solidFill>
                  <a:srgbClr val="000000"/>
                </a:solidFill>
                <a:latin typeface="Canva Student Font"/>
                <a:ea typeface="Canva Student Font"/>
                <a:cs typeface="Canva Student Font"/>
                <a:sym typeface="Canva Student Font"/>
              </a:rPr>
              <a:t> </a:t>
            </a:r>
          </a:p>
          <a:p>
            <a:pPr algn="l" marL="885192" indent="-442596" lvl="1">
              <a:lnSpc>
                <a:spcPts val="5740"/>
              </a:lnSpc>
              <a:buFont typeface="Arial"/>
              <a:buChar char="•"/>
            </a:pPr>
            <a:r>
              <a:rPr lang="en-US" sz="4100">
                <a:solidFill>
                  <a:srgbClr val="FF66C4"/>
                </a:solidFill>
                <a:latin typeface="Canva Student Font"/>
                <a:ea typeface="Canva Student Font"/>
                <a:cs typeface="Canva Student Font"/>
                <a:sym typeface="Canva Student Font"/>
              </a:rPr>
              <a:t>policy engine</a:t>
            </a:r>
            <a:r>
              <a:rPr lang="en-US" sz="4100">
                <a:solidFill>
                  <a:srgbClr val="000000"/>
                </a:solidFill>
                <a:latin typeface="Canva Student Font"/>
                <a:ea typeface="Canva Student Font"/>
                <a:cs typeface="Canva Student Font"/>
                <a:sym typeface="Canva Student Font"/>
              </a:rPr>
              <a:t>: evaluates each access decision based on policy and ither information sources. grants, denies or revokes access.</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policy administrator</a:t>
            </a:r>
            <a:r>
              <a:rPr lang="en-US" sz="4100">
                <a:solidFill>
                  <a:srgbClr val="000000"/>
                </a:solidFill>
                <a:latin typeface="Canva Student Font"/>
                <a:ea typeface="Canva Student Font"/>
                <a:cs typeface="Canva Student Font"/>
                <a:sym typeface="Canva Student Font"/>
              </a:rPr>
              <a:t>: Carries out the Policy Engine's decision. grants access tokens or credentials. tells PEP to allow or disallow access.</a:t>
            </a:r>
          </a:p>
        </p:txBody>
      </p:sp>
      <p:sp>
        <p:nvSpPr>
          <p:cNvPr name="TextBox 3" id="3"/>
          <p:cNvSpPr txBox="true"/>
          <p:nvPr/>
        </p:nvSpPr>
        <p:spPr>
          <a:xfrm rot="0">
            <a:off x="0" y="5048250"/>
            <a:ext cx="10287000" cy="3663950"/>
          </a:xfrm>
          <a:prstGeom prst="rect">
            <a:avLst/>
          </a:prstGeom>
        </p:spPr>
        <p:txBody>
          <a:bodyPr anchor="t" rtlCol="false" tIns="0" lIns="0" bIns="0" rIns="0">
            <a:spAutoFit/>
          </a:bodyPr>
          <a:lstStyle/>
          <a:p>
            <a:pPr algn="ctr">
              <a:lnSpc>
                <a:spcPts val="6160"/>
              </a:lnSpc>
            </a:pPr>
            <a:r>
              <a:rPr lang="en-US" sz="4400">
                <a:solidFill>
                  <a:srgbClr val="FF66C4"/>
                </a:solidFill>
                <a:latin typeface="Canva Student Font"/>
                <a:ea typeface="Canva Student Font"/>
                <a:cs typeface="Canva Student Font"/>
                <a:sym typeface="Canva Student Font"/>
              </a:rPr>
              <a:t>components of data plane</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policy enforcement point</a:t>
            </a:r>
            <a:r>
              <a:rPr lang="en-US" sz="4100">
                <a:solidFill>
                  <a:srgbClr val="000000"/>
                </a:solidFill>
                <a:latin typeface="Canva Student Font"/>
                <a:ea typeface="Canva Student Font"/>
                <a:cs typeface="Canva Student Font"/>
                <a:sym typeface="Canva Student Font"/>
              </a:rPr>
              <a:t>: applies to subjects and systems. The gatekeeper/security checkpoint. It enables, monitors and terminates connections according to the access decision. </a:t>
            </a:r>
          </a:p>
        </p:txBody>
      </p:sp>
      <p:sp>
        <p:nvSpPr>
          <p:cNvPr name="TextBox 4" id="4"/>
          <p:cNvSpPr txBox="true"/>
          <p:nvPr/>
        </p:nvSpPr>
        <p:spPr>
          <a:xfrm rot="0">
            <a:off x="1915002" y="8616950"/>
            <a:ext cx="5965969" cy="14389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#policy decision point</a:t>
            </a:r>
            <a:r>
              <a:rPr lang="en-US" sz="4100">
                <a:solidFill>
                  <a:srgbClr val="000000"/>
                </a:solidFill>
                <a:latin typeface="Canva Student Font"/>
                <a:ea typeface="Canva Student Font"/>
                <a:cs typeface="Canva Student Font"/>
                <a:sym typeface="Canva Student Font"/>
              </a:rPr>
              <a:t>: process for making an authentication decision.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2775" y="0"/>
            <a:ext cx="9081451" cy="7602728"/>
          </a:xfrm>
          <a:custGeom>
            <a:avLst/>
            <a:gdLst/>
            <a:ahLst/>
            <a:cxnLst/>
            <a:rect r="r" b="b" t="t" l="l"/>
            <a:pathLst>
              <a:path h="7602728" w="9081451">
                <a:moveTo>
                  <a:pt x="0" y="0"/>
                </a:moveTo>
                <a:lnTo>
                  <a:pt x="9081450" y="0"/>
                </a:lnTo>
                <a:lnTo>
                  <a:pt x="9081450" y="7602728"/>
                </a:lnTo>
                <a:lnTo>
                  <a:pt x="0" y="7602728"/>
                </a:lnTo>
                <a:lnTo>
                  <a:pt x="0" y="0"/>
                </a:lnTo>
                <a:close/>
              </a:path>
            </a:pathLst>
          </a:custGeom>
          <a:blipFill>
            <a:blip r:embed="rId2"/>
            <a:stretch>
              <a:fillRect l="0" t="0" r="0" b="0"/>
            </a:stretch>
          </a:blipFill>
        </p:spPr>
      </p:sp>
      <p:sp>
        <p:nvSpPr>
          <p:cNvPr name="TextBox 3" id="3"/>
          <p:cNvSpPr txBox="true"/>
          <p:nvPr/>
        </p:nvSpPr>
        <p:spPr>
          <a:xfrm rot="0">
            <a:off x="2209152" y="7472877"/>
            <a:ext cx="4984849" cy="3185159"/>
          </a:xfrm>
          <a:prstGeom prst="rect">
            <a:avLst/>
          </a:prstGeom>
        </p:spPr>
        <p:txBody>
          <a:bodyPr anchor="t" rtlCol="false" tIns="0" lIns="0" bIns="0" rIns="0">
            <a:spAutoFit/>
          </a:bodyPr>
          <a:lstStyle/>
          <a:p>
            <a:pPr algn="ctr" marL="777245" indent="-388622" lvl="1">
              <a:lnSpc>
                <a:spcPts val="5040"/>
              </a:lnSpc>
              <a:spcBef>
                <a:spcPct val="0"/>
              </a:spcBef>
              <a:buFont typeface="Arial"/>
              <a:buChar char="•"/>
            </a:pPr>
            <a:r>
              <a:rPr lang="en-US" sz="3600">
                <a:solidFill>
                  <a:srgbClr val="FF66C4"/>
                </a:solidFill>
                <a:latin typeface="Canva Student Font"/>
                <a:ea typeface="Canva Student Font"/>
                <a:cs typeface="Canva Student Font"/>
                <a:sym typeface="Canva Student Font"/>
              </a:rPr>
              <a:t>PE =</a:t>
            </a:r>
            <a:r>
              <a:rPr lang="en-US" sz="3600">
                <a:solidFill>
                  <a:srgbClr val="FF66C4"/>
                </a:solidFill>
                <a:latin typeface="Canva Student Font"/>
                <a:ea typeface="Canva Student Font"/>
                <a:cs typeface="Canva Student Font"/>
                <a:sym typeface="Canva Student Font"/>
              </a:rPr>
              <a:t> Evaluates the request.</a:t>
            </a:r>
          </a:p>
          <a:p>
            <a:pPr algn="ctr" marL="777245" indent="-388622" lvl="1">
              <a:lnSpc>
                <a:spcPts val="5040"/>
              </a:lnSpc>
              <a:spcBef>
                <a:spcPct val="0"/>
              </a:spcBef>
              <a:buFont typeface="Arial"/>
              <a:buChar char="•"/>
            </a:pPr>
            <a:r>
              <a:rPr lang="en-US" sz="3600">
                <a:solidFill>
                  <a:srgbClr val="FF66C4"/>
                </a:solidFill>
                <a:latin typeface="Canva Student Font"/>
                <a:ea typeface="Canva Student Font"/>
                <a:cs typeface="Canva Student Font"/>
                <a:sym typeface="Canva Student Font"/>
              </a:rPr>
              <a:t>PA = Implements the decision.</a:t>
            </a:r>
          </a:p>
          <a:p>
            <a:pPr algn="ctr" marL="777245" indent="-388622" lvl="1">
              <a:lnSpc>
                <a:spcPts val="5040"/>
              </a:lnSpc>
              <a:spcBef>
                <a:spcPct val="0"/>
              </a:spcBef>
              <a:buFont typeface="Arial"/>
              <a:buChar char="•"/>
            </a:pPr>
            <a:r>
              <a:rPr lang="en-US" sz="3600">
                <a:solidFill>
                  <a:srgbClr val="FF66C4"/>
                </a:solidFill>
                <a:latin typeface="Canva Student Font"/>
                <a:ea typeface="Canva Student Font"/>
                <a:cs typeface="Canva Student Font"/>
                <a:sym typeface="Canva Student Font"/>
              </a:rPr>
              <a:t>PDP = PE + PA.</a:t>
            </a:r>
          </a:p>
          <a:p>
            <a:pPr algn="ctr" marL="777245" indent="-388622" lvl="1">
              <a:lnSpc>
                <a:spcPts val="5040"/>
              </a:lnSpc>
              <a:spcBef>
                <a:spcPct val="0"/>
              </a:spcBef>
              <a:buFont typeface="Arial"/>
              <a:buChar char="•"/>
            </a:pPr>
            <a:r>
              <a:rPr lang="en-US" sz="3600">
                <a:solidFill>
                  <a:srgbClr val="FF66C4"/>
                </a:solidFill>
                <a:latin typeface="Canva Student Font"/>
                <a:ea typeface="Canva Student Font"/>
                <a:cs typeface="Canva Student Font"/>
                <a:sym typeface="Canva Student Font"/>
              </a:rPr>
              <a:t>PEP = Enforces the decision.</a:t>
            </a:r>
          </a:p>
          <a:p>
            <a:pPr algn="ctr">
              <a:lnSpc>
                <a:spcPts val="5040"/>
              </a:lnSpc>
              <a:spcBef>
                <a:spcPct val="0"/>
              </a:spcBef>
            </a:pPr>
          </a:p>
        </p:txBody>
      </p:sp>
      <p:sp>
        <p:nvSpPr>
          <p:cNvPr name="Freeform 4" id="4"/>
          <p:cNvSpPr/>
          <p:nvPr/>
        </p:nvSpPr>
        <p:spPr>
          <a:xfrm flipH="false" flipV="false" rot="0">
            <a:off x="730623" y="-68562"/>
            <a:ext cx="9081451" cy="7602728"/>
          </a:xfrm>
          <a:custGeom>
            <a:avLst/>
            <a:gdLst/>
            <a:ahLst/>
            <a:cxnLst/>
            <a:rect r="r" b="b" t="t" l="l"/>
            <a:pathLst>
              <a:path h="7602728" w="9081451">
                <a:moveTo>
                  <a:pt x="0" y="0"/>
                </a:moveTo>
                <a:lnTo>
                  <a:pt x="9081451" y="0"/>
                </a:lnTo>
                <a:lnTo>
                  <a:pt x="9081451" y="7602728"/>
                </a:lnTo>
                <a:lnTo>
                  <a:pt x="0" y="7602728"/>
                </a:lnTo>
                <a:lnTo>
                  <a:pt x="0" y="0"/>
                </a:lnTo>
                <a:close/>
              </a:path>
            </a:pathLst>
          </a:custGeom>
          <a:blipFill>
            <a:blip r:embed="rId2"/>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14389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Security zones</a:t>
            </a:r>
            <a:r>
              <a:rPr lang="en-US" sz="4100">
                <a:solidFill>
                  <a:srgbClr val="000000"/>
                </a:solidFill>
                <a:latin typeface="Canva Student Font"/>
                <a:ea typeface="Canva Student Font"/>
                <a:cs typeface="Canva Student Font"/>
                <a:sym typeface="Canva Student Font"/>
              </a:rPr>
              <a:t> gr</a:t>
            </a:r>
            <a:r>
              <a:rPr lang="en-US" sz="4100">
                <a:solidFill>
                  <a:srgbClr val="000000"/>
                </a:solidFill>
                <a:latin typeface="Canva Student Font"/>
                <a:ea typeface="Canva Student Font"/>
                <a:cs typeface="Canva Student Font"/>
                <a:sym typeface="Canva Student Font"/>
              </a:rPr>
              <a:t>oup systems or network resources according to security requirements.</a:t>
            </a:r>
          </a:p>
        </p:txBody>
      </p:sp>
      <p:sp>
        <p:nvSpPr>
          <p:cNvPr name="TextBox 3" id="3"/>
          <p:cNvSpPr txBox="true"/>
          <p:nvPr/>
        </p:nvSpPr>
        <p:spPr>
          <a:xfrm rot="0">
            <a:off x="0" y="1448494"/>
            <a:ext cx="10287000" cy="50584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Implicit trust</a:t>
            </a:r>
            <a:r>
              <a:rPr lang="en-US" sz="4100">
                <a:solidFill>
                  <a:srgbClr val="000000"/>
                </a:solidFill>
                <a:latin typeface="Canva Student Font"/>
                <a:ea typeface="Canva Student Font"/>
                <a:cs typeface="Canva Student Font"/>
                <a:sym typeface="Canva Student Font"/>
              </a:rPr>
              <a:t> means assuming something is safe with</a:t>
            </a:r>
            <a:r>
              <a:rPr lang="en-US" sz="4100">
                <a:solidFill>
                  <a:srgbClr val="000000"/>
                </a:solidFill>
                <a:latin typeface="Canva Student Font"/>
                <a:ea typeface="Canva Student Font"/>
                <a:cs typeface="Canva Student Font"/>
                <a:sym typeface="Canva Student Font"/>
              </a:rPr>
              <a:t>out independently verifying the relevant access request.</a:t>
            </a:r>
          </a:p>
          <a:p>
            <a:pPr algn="ctr">
              <a:lnSpc>
                <a:spcPts val="5740"/>
              </a:lnSpc>
              <a:spcBef>
                <a:spcPct val="0"/>
              </a:spcBef>
            </a:pPr>
            <a:r>
              <a:rPr lang="en-US" sz="4100">
                <a:solidFill>
                  <a:srgbClr val="000000"/>
                </a:solidFill>
                <a:latin typeface="Canva Student Font"/>
                <a:ea typeface="Canva Student Font"/>
                <a:cs typeface="Canva Student Font"/>
                <a:sym typeface="Canva Student Font"/>
              </a:rPr>
              <a:t>Example: Automatically allowing every device on the internal network to access a database.</a:t>
            </a:r>
          </a:p>
          <a:p>
            <a:pPr algn="ctr">
              <a:lnSpc>
                <a:spcPts val="5740"/>
              </a:lnSpc>
              <a:spcBef>
                <a:spcPct val="0"/>
              </a:spcBef>
            </a:pPr>
            <a:r>
              <a:rPr lang="en-US" sz="4100">
                <a:solidFill>
                  <a:srgbClr val="000000"/>
                </a:solidFill>
                <a:latin typeface="Canva Student Font"/>
                <a:ea typeface="Canva Student Font"/>
                <a:cs typeface="Canva Student Font"/>
                <a:sym typeface="Canva Student Font"/>
              </a:rPr>
              <a:t>This is contrary to the Zero Trust principle. Being inside the network is not, by itself, sufficient reason to grant access.</a:t>
            </a:r>
          </a:p>
          <a:p>
            <a:pPr algn="ctr">
              <a:lnSpc>
                <a:spcPts val="5740"/>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31726" y="-85725"/>
            <a:ext cx="8623548" cy="755015"/>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deception &amp; disruption strategies</a:t>
            </a:r>
          </a:p>
        </p:txBody>
      </p:sp>
      <p:sp>
        <p:nvSpPr>
          <p:cNvPr name="TextBox 3" id="3"/>
          <p:cNvSpPr txBox="true"/>
          <p:nvPr/>
        </p:nvSpPr>
        <p:spPr>
          <a:xfrm rot="0">
            <a:off x="297634" y="942975"/>
            <a:ext cx="9157640" cy="11856085"/>
          </a:xfrm>
          <a:prstGeom prst="rect">
            <a:avLst/>
          </a:prstGeom>
        </p:spPr>
        <p:txBody>
          <a:bodyPr anchor="t" rtlCol="false" tIns="0" lIns="0" bIns="0" rIns="0">
            <a:spAutoFit/>
          </a:bodyPr>
          <a:lstStyle/>
          <a:p>
            <a:pPr algn="ctr">
              <a:lnSpc>
                <a:spcPts val="5040"/>
              </a:lnSpc>
            </a:pPr>
            <a:r>
              <a:rPr lang="en-US" sz="3600">
                <a:solidFill>
                  <a:srgbClr val="FF66C4"/>
                </a:solidFill>
                <a:latin typeface="Canva Student Font"/>
                <a:ea typeface="Canva Student Font"/>
                <a:cs typeface="Canva Student Font"/>
                <a:sym typeface="Canva Student Font"/>
              </a:rPr>
              <a:t>1. Honeypot </a:t>
            </a:r>
            <a:r>
              <a:rPr lang="en-US" sz="3600">
                <a:solidFill>
                  <a:srgbClr val="000000"/>
                </a:solidFill>
                <a:latin typeface="Canva Student Font"/>
                <a:ea typeface="Canva Student Font"/>
                <a:cs typeface="Canva Student Font"/>
                <a:sym typeface="Canva Student Font"/>
              </a:rPr>
              <a:t>— A fake system</a:t>
            </a:r>
          </a:p>
          <a:p>
            <a:pPr algn="ctr">
              <a:lnSpc>
                <a:spcPts val="5040"/>
              </a:lnSpc>
              <a:spcBef>
                <a:spcPct val="0"/>
              </a:spcBef>
            </a:pPr>
            <a:r>
              <a:rPr lang="en-US" sz="3600">
                <a:solidFill>
                  <a:srgbClr val="000000"/>
                </a:solidFill>
                <a:latin typeface="Canva Student Font"/>
                <a:ea typeface="Canva Student Font"/>
                <a:cs typeface="Canva Student Font"/>
                <a:sym typeface="Canva Student Font"/>
              </a:rPr>
              <a:t>A decoy c</a:t>
            </a:r>
            <a:r>
              <a:rPr lang="en-US" sz="3600">
                <a:solidFill>
                  <a:srgbClr val="000000"/>
                </a:solidFill>
                <a:latin typeface="Canva Student Font"/>
                <a:ea typeface="Canva Student Font"/>
                <a:cs typeface="Canva Student Font"/>
                <a:sym typeface="Canva Student Font"/>
              </a:rPr>
              <a:t>omputer, server or application designed to attract attackers and study their tactics &amp; tools</a:t>
            </a:r>
          </a:p>
          <a:p>
            <a:pPr algn="ctr">
              <a:lnSpc>
                <a:spcPts val="5040"/>
              </a:lnSpc>
              <a:spcBef>
                <a:spcPct val="0"/>
              </a:spcBef>
            </a:pPr>
            <a:r>
              <a:rPr lang="en-US" sz="3600">
                <a:solidFill>
                  <a:srgbClr val="FF66C4"/>
                </a:solidFill>
                <a:latin typeface="Canva Student Font"/>
                <a:ea typeface="Canva Student Font"/>
                <a:cs typeface="Canva Student Font"/>
                <a:sym typeface="Canva Student Font"/>
              </a:rPr>
              <a:t>2. Honeynet </a:t>
            </a:r>
            <a:r>
              <a:rPr lang="en-US" sz="3600">
                <a:solidFill>
                  <a:srgbClr val="000000"/>
                </a:solidFill>
                <a:latin typeface="Canva Student Font"/>
                <a:ea typeface="Canva Student Font"/>
                <a:cs typeface="Canva Student Font"/>
                <a:sym typeface="Canva Student Font"/>
              </a:rPr>
              <a:t>— A network of fake systems</a:t>
            </a:r>
          </a:p>
          <a:p>
            <a:pPr algn="ctr">
              <a:lnSpc>
                <a:spcPts val="5040"/>
              </a:lnSpc>
              <a:spcBef>
                <a:spcPct val="0"/>
              </a:spcBef>
            </a:pPr>
            <a:r>
              <a:rPr lang="en-US" sz="3600">
                <a:solidFill>
                  <a:srgbClr val="000000"/>
                </a:solidFill>
                <a:latin typeface="Canva Student Font"/>
                <a:ea typeface="Canva Student Font"/>
                <a:cs typeface="Canva Student Font"/>
                <a:sym typeface="Canva Student Font"/>
              </a:rPr>
              <a:t>A collection of interconnected honeypots that simulates a larger network. Defenders observe how the attacker moves between them.</a:t>
            </a:r>
          </a:p>
          <a:p>
            <a:pPr algn="ctr">
              <a:lnSpc>
                <a:spcPts val="5040"/>
              </a:lnSpc>
              <a:spcBef>
                <a:spcPct val="0"/>
              </a:spcBef>
            </a:pPr>
            <a:r>
              <a:rPr lang="en-US" sz="3600">
                <a:solidFill>
                  <a:srgbClr val="FF66C4"/>
                </a:solidFill>
                <a:latin typeface="Canva Student Font"/>
                <a:ea typeface="Canva Student Font"/>
                <a:cs typeface="Canva Student Font"/>
                <a:sym typeface="Canva Student Font"/>
              </a:rPr>
              <a:t>3. Honeyfile</a:t>
            </a:r>
            <a:r>
              <a:rPr lang="en-US" sz="3600">
                <a:solidFill>
                  <a:srgbClr val="000000"/>
                </a:solidFill>
                <a:latin typeface="Canva Student Font"/>
                <a:ea typeface="Canva Student Font"/>
                <a:cs typeface="Canva Student Font"/>
                <a:sym typeface="Canva Student Font"/>
              </a:rPr>
              <a:t> — A fake file</a:t>
            </a:r>
          </a:p>
          <a:p>
            <a:pPr algn="ctr">
              <a:lnSpc>
                <a:spcPts val="5040"/>
              </a:lnSpc>
              <a:spcBef>
                <a:spcPct val="0"/>
              </a:spcBef>
            </a:pPr>
            <a:r>
              <a:rPr lang="en-US" sz="3600">
                <a:solidFill>
                  <a:srgbClr val="000000"/>
                </a:solidFill>
                <a:latin typeface="Canva Student Font"/>
                <a:ea typeface="Canva Student Font"/>
                <a:cs typeface="Canva Student Font"/>
                <a:sym typeface="Canva Student Font"/>
              </a:rPr>
              <a:t>A decoy document that appears to contain valuable or confidential information. Detect attempts to access or steal data</a:t>
            </a:r>
          </a:p>
          <a:p>
            <a:pPr algn="ctr">
              <a:lnSpc>
                <a:spcPts val="5040"/>
              </a:lnSpc>
              <a:spcBef>
                <a:spcPct val="0"/>
              </a:spcBef>
            </a:pPr>
            <a:r>
              <a:rPr lang="en-US" sz="3600">
                <a:solidFill>
                  <a:srgbClr val="FF66C4"/>
                </a:solidFill>
                <a:latin typeface="Canva Student Font"/>
                <a:ea typeface="Canva Student Font"/>
                <a:cs typeface="Canva Student Font"/>
                <a:sym typeface="Canva Student Font"/>
              </a:rPr>
              <a:t>4. Honeytoken</a:t>
            </a:r>
            <a:r>
              <a:rPr lang="en-US" sz="3600">
                <a:solidFill>
                  <a:srgbClr val="000000"/>
                </a:solidFill>
                <a:latin typeface="Canva Student Font"/>
                <a:ea typeface="Canva Student Font"/>
                <a:cs typeface="Canva Student Font"/>
                <a:sym typeface="Canva Student Font"/>
              </a:rPr>
              <a:t> — Fake information used as a trap</a:t>
            </a:r>
          </a:p>
          <a:p>
            <a:pPr algn="ctr">
              <a:lnSpc>
                <a:spcPts val="5040"/>
              </a:lnSpc>
              <a:spcBef>
                <a:spcPct val="0"/>
              </a:spcBef>
            </a:pPr>
            <a:r>
              <a:rPr lang="en-US" sz="3600">
                <a:solidFill>
                  <a:srgbClr val="000000"/>
                </a:solidFill>
                <a:latin typeface="Canva Student Font"/>
                <a:ea typeface="Canva Student Font"/>
                <a:cs typeface="Canva Student Font"/>
                <a:sym typeface="Canva Student Font"/>
              </a:rPr>
              <a:t>A decoy piece of data, such as a fake username, password, API key or database record. Its use can trigger an alert.</a:t>
            </a:r>
          </a:p>
          <a:p>
            <a:pPr algn="ctr">
              <a:lnSpc>
                <a:spcPts val="5880"/>
              </a:lnSpc>
              <a:spcBef>
                <a:spcPct val="0"/>
              </a:spcBef>
            </a:pPr>
          </a:p>
          <a:p>
            <a:pPr algn="ctr">
              <a:lnSpc>
                <a:spcPts val="5880"/>
              </a:lnSpc>
              <a:spcBef>
                <a:spcPct val="0"/>
              </a:spcBef>
            </a:pPr>
          </a:p>
          <a:p>
            <a:pPr algn="ctr">
              <a:lnSpc>
                <a:spcPts val="5740"/>
              </a:lnSpc>
              <a:spcBef>
                <a:spcPct val="0"/>
              </a:spcBef>
            </a:pPr>
          </a:p>
          <a:p>
            <a:pPr algn="ctr">
              <a:lnSpc>
                <a:spcPts val="5740"/>
              </a:lnSpc>
              <a:spcBef>
                <a:spcPct val="0"/>
              </a:spcBef>
            </a:pP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79117" y="-85725"/>
            <a:ext cx="5128766" cy="755015"/>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change management</a:t>
            </a:r>
          </a:p>
        </p:txBody>
      </p:sp>
      <p:sp>
        <p:nvSpPr>
          <p:cNvPr name="TextBox 3" id="3"/>
          <p:cNvSpPr txBox="true"/>
          <p:nvPr/>
        </p:nvSpPr>
        <p:spPr>
          <a:xfrm rot="0">
            <a:off x="163691" y="687404"/>
            <a:ext cx="10123309" cy="79540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change management</a:t>
            </a:r>
            <a:r>
              <a:rPr lang="en-US" sz="4100">
                <a:solidFill>
                  <a:srgbClr val="000000"/>
                </a:solidFill>
                <a:latin typeface="Canva Student Font"/>
                <a:ea typeface="Canva Student Font"/>
                <a:cs typeface="Canva Student Font"/>
                <a:sym typeface="Canva Student Font"/>
              </a:rPr>
              <a:t> is a systematic appr</a:t>
            </a:r>
            <a:r>
              <a:rPr lang="en-US" sz="4100">
                <a:solidFill>
                  <a:srgbClr val="000000"/>
                </a:solidFill>
                <a:latin typeface="Canva Student Font"/>
                <a:ea typeface="Canva Student Font"/>
                <a:cs typeface="Canva Student Font"/>
                <a:sym typeface="Canva Student Font"/>
              </a:rPr>
              <a:t>oach to managing changes in an organization, ensuring they do not negatively impact security or performance.</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types of change</a:t>
            </a:r>
            <a:r>
              <a:rPr lang="en-US" sz="4100">
                <a:solidFill>
                  <a:srgbClr val="000000"/>
                </a:solidFill>
                <a:latin typeface="Canva Student Font"/>
                <a:ea typeface="Canva Student Font"/>
                <a:cs typeface="Canva Student Font"/>
                <a:sym typeface="Canva Student Font"/>
              </a:rPr>
              <a:t>: software deployment, system updates, software patching, hardware replacements, upgrades, network modification, system configurations, new product implementations, new software integrations, support, environment changes. </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The change management process involves</a:t>
            </a:r>
            <a:r>
              <a:rPr lang="en-US" sz="4100">
                <a:solidFill>
                  <a:srgbClr val="FF66C4"/>
                </a:solidFill>
                <a:latin typeface="Canva Student Font"/>
                <a:ea typeface="Canva Student Font"/>
                <a:cs typeface="Canva Student Font"/>
                <a:sym typeface="Canva Student Font"/>
              </a:rPr>
              <a:t> documentation</a:t>
            </a:r>
            <a:r>
              <a:rPr lang="en-US" sz="4100">
                <a:solidFill>
                  <a:srgbClr val="000000"/>
                </a:solidFill>
                <a:latin typeface="Canva Student Font"/>
                <a:ea typeface="Canva Student Font"/>
                <a:cs typeface="Canva Student Font"/>
                <a:sym typeface="Canva Student Font"/>
              </a:rPr>
              <a:t>, </a:t>
            </a:r>
            <a:r>
              <a:rPr lang="en-US" sz="4100">
                <a:solidFill>
                  <a:srgbClr val="FF66C4"/>
                </a:solidFill>
                <a:latin typeface="Canva Student Font"/>
                <a:ea typeface="Canva Student Font"/>
                <a:cs typeface="Canva Student Font"/>
                <a:sym typeface="Canva Student Font"/>
              </a:rPr>
              <a:t>risk assessment</a:t>
            </a:r>
            <a:r>
              <a:rPr lang="en-US" sz="4100">
                <a:solidFill>
                  <a:srgbClr val="000000"/>
                </a:solidFill>
                <a:latin typeface="Canva Student Font"/>
                <a:ea typeface="Canva Student Font"/>
                <a:cs typeface="Canva Student Font"/>
                <a:sym typeface="Canva Student Font"/>
              </a:rPr>
              <a:t>, </a:t>
            </a:r>
            <a:r>
              <a:rPr lang="en-US" sz="4100">
                <a:solidFill>
                  <a:srgbClr val="FF66C4"/>
                </a:solidFill>
                <a:latin typeface="Canva Student Font"/>
                <a:ea typeface="Canva Student Font"/>
                <a:cs typeface="Canva Student Font"/>
                <a:sym typeface="Canva Student Font"/>
              </a:rPr>
              <a:t>approval</a:t>
            </a:r>
            <a:r>
              <a:rPr lang="en-US" sz="4100">
                <a:solidFill>
                  <a:srgbClr val="000000"/>
                </a:solidFill>
                <a:latin typeface="Canva Student Font"/>
                <a:ea typeface="Canva Student Font"/>
                <a:cs typeface="Canva Student Font"/>
                <a:sym typeface="Canva Student Font"/>
              </a:rPr>
              <a:t>, and </a:t>
            </a:r>
            <a:r>
              <a:rPr lang="en-US" sz="4100">
                <a:solidFill>
                  <a:srgbClr val="FF66C4"/>
                </a:solidFill>
                <a:latin typeface="Canva Student Font"/>
                <a:ea typeface="Canva Student Font"/>
                <a:cs typeface="Canva Student Font"/>
                <a:sym typeface="Canva Student Font"/>
              </a:rPr>
              <a:t>review</a:t>
            </a:r>
            <a:r>
              <a:rPr lang="en-US" sz="4100">
                <a:solidFill>
                  <a:srgbClr val="000000"/>
                </a:solidFill>
                <a:latin typeface="Canva Student Font"/>
                <a:ea typeface="Canva Student Font"/>
                <a:cs typeface="Canva Student Font"/>
                <a:sym typeface="Canva Student Font"/>
              </a:rPr>
              <a:t>.</a:t>
            </a:r>
          </a:p>
          <a:p>
            <a:pPr algn="l">
              <a:lnSpc>
                <a:spcPts val="5740"/>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10137140"/>
          </a:xfrm>
          <a:prstGeom prst="rect">
            <a:avLst/>
          </a:prstGeom>
        </p:spPr>
        <p:txBody>
          <a:bodyPr anchor="t" rtlCol="false" tIns="0" lIns="0" bIns="0" rIns="0">
            <a:spAutoFit/>
          </a:bodyPr>
          <a:lstStyle/>
          <a:p>
            <a:pPr algn="ctr">
              <a:lnSpc>
                <a:spcPts val="6160"/>
              </a:lnSpc>
              <a:spcBef>
                <a:spcPct val="0"/>
              </a:spcBef>
            </a:pPr>
            <a:r>
              <a:rPr lang="en-US" sz="4400">
                <a:solidFill>
                  <a:srgbClr val="FF66C4"/>
                </a:solidFill>
                <a:latin typeface="Canva Student Font"/>
                <a:ea typeface="Canva Student Font"/>
                <a:cs typeface="Canva Student Font"/>
                <a:sym typeface="Canva Student Font"/>
              </a:rPr>
              <a:t>Th</a:t>
            </a:r>
            <a:r>
              <a:rPr lang="en-US" sz="4400">
                <a:solidFill>
                  <a:srgbClr val="FF66C4"/>
                </a:solidFill>
                <a:latin typeface="Canva Student Font"/>
                <a:ea typeface="Canva Student Font"/>
                <a:cs typeface="Canva Student Font"/>
                <a:sym typeface="Canva Student Font"/>
              </a:rPr>
              <a:t>ree important factors affecting change management</a:t>
            </a:r>
          </a:p>
          <a:p>
            <a:pPr algn="ctr">
              <a:lnSpc>
                <a:spcPts val="6160"/>
              </a:lnSpc>
              <a:spcBef>
                <a:spcPct val="0"/>
              </a:spcBef>
            </a:pPr>
            <a:r>
              <a:rPr lang="en-US" sz="4400">
                <a:solidFill>
                  <a:srgbClr val="FF66C4"/>
                </a:solidFill>
                <a:latin typeface="Canva Student Font"/>
                <a:ea typeface="Canva Student Font"/>
                <a:cs typeface="Canva Student Font"/>
                <a:sym typeface="Canva Student Font"/>
              </a:rPr>
              <a:t>1</a:t>
            </a:r>
            <a:r>
              <a:rPr lang="en-US" sz="4400">
                <a:solidFill>
                  <a:srgbClr val="000000"/>
                </a:solidFill>
                <a:latin typeface="Canva Student Font"/>
                <a:ea typeface="Canva Student Font"/>
                <a:cs typeface="Canva Student Font"/>
                <a:sym typeface="Canva Student Font"/>
              </a:rPr>
              <a:t>.</a:t>
            </a:r>
            <a:r>
              <a:rPr lang="en-US" sz="4400">
                <a:solidFill>
                  <a:srgbClr val="FF66C4"/>
                </a:solidFill>
                <a:latin typeface="Canva Student Font"/>
                <a:ea typeface="Canva Student Font"/>
                <a:cs typeface="Canva Student Font"/>
                <a:sym typeface="Canva Student Font"/>
              </a:rPr>
              <a:t>Change management approval process</a:t>
            </a:r>
          </a:p>
          <a:p>
            <a:pPr algn="l" marL="949961" indent="-474980" lvl="1">
              <a:lnSpc>
                <a:spcPts val="6160"/>
              </a:lnSpc>
              <a:spcBef>
                <a:spcPct val="0"/>
              </a:spcBef>
              <a:buFont typeface="Arial"/>
              <a:buChar char="•"/>
            </a:pPr>
            <a:r>
              <a:rPr lang="en-US" sz="4400">
                <a:solidFill>
                  <a:srgbClr val="000000"/>
                </a:solidFill>
                <a:latin typeface="Canva Student Font"/>
                <a:ea typeface="Canva Student Font"/>
                <a:cs typeface="Canva Student Font"/>
                <a:sym typeface="Canva Student Font"/>
              </a:rPr>
              <a:t>begins with submitting a request for change</a:t>
            </a:r>
          </a:p>
          <a:p>
            <a:pPr algn="l" marL="949961" indent="-474980" lvl="1">
              <a:lnSpc>
                <a:spcPts val="6160"/>
              </a:lnSpc>
              <a:spcBef>
                <a:spcPct val="0"/>
              </a:spcBef>
              <a:buFont typeface="Arial"/>
              <a:buChar char="•"/>
            </a:pPr>
            <a:r>
              <a:rPr lang="en-US" sz="4400">
                <a:solidFill>
                  <a:srgbClr val="000000"/>
                </a:solidFill>
                <a:latin typeface="Canva Student Font"/>
                <a:ea typeface="Canva Student Font"/>
                <a:cs typeface="Canva Student Font"/>
                <a:sym typeface="Canva Student Font"/>
              </a:rPr>
              <a:t>reviewed by a designated change manager or committee.</a:t>
            </a:r>
          </a:p>
          <a:p>
            <a:pPr algn="l" marL="949961" indent="-474980" lvl="1">
              <a:lnSpc>
                <a:spcPts val="6160"/>
              </a:lnSpc>
              <a:spcBef>
                <a:spcPct val="0"/>
              </a:spcBef>
              <a:buFont typeface="Arial"/>
              <a:buChar char="•"/>
            </a:pPr>
            <a:r>
              <a:rPr lang="en-US" sz="4400">
                <a:solidFill>
                  <a:srgbClr val="000000"/>
                </a:solidFill>
                <a:latin typeface="Canva Student Font"/>
                <a:ea typeface="Canva Student Font"/>
                <a:cs typeface="Canva Student Font"/>
                <a:sym typeface="Canva Student Font"/>
              </a:rPr>
              <a:t>followed by formal approval involving stakeholders</a:t>
            </a:r>
          </a:p>
          <a:p>
            <a:pPr algn="l" marL="949961" indent="-474980" lvl="1">
              <a:lnSpc>
                <a:spcPts val="6160"/>
              </a:lnSpc>
              <a:spcBef>
                <a:spcPct val="0"/>
              </a:spcBef>
              <a:buFont typeface="Arial"/>
              <a:buChar char="•"/>
            </a:pPr>
            <a:r>
              <a:rPr lang="en-US" sz="4400">
                <a:solidFill>
                  <a:srgbClr val="000000"/>
                </a:solidFill>
                <a:latin typeface="Canva Student Font"/>
                <a:ea typeface="Canva Student Font"/>
                <a:cs typeface="Canva Student Font"/>
                <a:sym typeface="Canva Student Font"/>
              </a:rPr>
              <a:t>ocumentation and communication throughout the proces</a:t>
            </a:r>
          </a:p>
          <a:p>
            <a:pPr algn="l">
              <a:lnSpc>
                <a:spcPts val="6160"/>
              </a:lnSpc>
              <a:spcBef>
                <a:spcPct val="0"/>
              </a:spcBef>
            </a:pPr>
            <a:r>
              <a:rPr lang="en-US" sz="4400">
                <a:solidFill>
                  <a:srgbClr val="000000"/>
                </a:solidFill>
                <a:latin typeface="Canva Student Font"/>
                <a:ea typeface="Canva Student Font"/>
                <a:cs typeface="Canva Student Font"/>
                <a:sym typeface="Canva Student Font"/>
              </a:rPr>
              <a:t>        </a:t>
            </a:r>
            <a:r>
              <a:rPr lang="en-US" sz="4400">
                <a:solidFill>
                  <a:srgbClr val="FF66C4"/>
                </a:solidFill>
                <a:latin typeface="Canva Student Font"/>
                <a:ea typeface="Canva Student Font"/>
                <a:cs typeface="Canva Student Font"/>
                <a:sym typeface="Canva Student Font"/>
              </a:rPr>
              <a:t>  </a:t>
            </a:r>
            <a:r>
              <a:rPr lang="en-US" sz="4400">
                <a:solidFill>
                  <a:srgbClr val="FF66C4"/>
                </a:solidFill>
                <a:latin typeface="Canva Student Font"/>
                <a:ea typeface="Canva Student Font"/>
                <a:cs typeface="Canva Student Font"/>
                <a:sym typeface="Canva Student Font"/>
              </a:rPr>
              <a:t>2. Ownership</a:t>
            </a:r>
          </a:p>
          <a:p>
            <a:pPr algn="l" marL="949961" indent="-474980" lvl="1">
              <a:lnSpc>
                <a:spcPts val="6160"/>
              </a:lnSpc>
              <a:spcBef>
                <a:spcPct val="0"/>
              </a:spcBef>
              <a:buFont typeface="Arial"/>
              <a:buChar char="•"/>
            </a:pPr>
            <a:r>
              <a:rPr lang="en-US" sz="4400">
                <a:solidFill>
                  <a:srgbClr val="000000"/>
                </a:solidFill>
                <a:latin typeface="Canva Student Font"/>
                <a:ea typeface="Canva Student Font"/>
                <a:cs typeface="Canva Student Font"/>
                <a:sym typeface="Canva Student Font"/>
              </a:rPr>
              <a:t>The owner is the person or team accountable for coordinating the change.</a:t>
            </a:r>
          </a:p>
          <a:p>
            <a:pPr algn="l" marL="949961" indent="-474980" lvl="1">
              <a:lnSpc>
                <a:spcPts val="6160"/>
              </a:lnSpc>
              <a:spcBef>
                <a:spcPct val="0"/>
              </a:spcBef>
              <a:buFont typeface="Arial"/>
              <a:buChar char="•"/>
            </a:pPr>
            <a:r>
              <a:rPr lang="en-US" sz="4400">
                <a:solidFill>
                  <a:srgbClr val="000000"/>
                </a:solidFill>
                <a:latin typeface="Canva Student Font"/>
                <a:ea typeface="Canva Student Font"/>
                <a:cs typeface="Canva Student Font"/>
                <a:sym typeface="Canva Student Font"/>
              </a:rPr>
              <a:t> ensuring it is implemented as planned, managing risks and communicating progress.</a:t>
            </a: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4669790"/>
          </a:xfrm>
          <a:prstGeom prst="rect">
            <a:avLst/>
          </a:prstGeom>
        </p:spPr>
        <p:txBody>
          <a:bodyPr anchor="t" rtlCol="false" tIns="0" lIns="0" bIns="0" rIns="0">
            <a:spAutoFit/>
          </a:bodyPr>
          <a:lstStyle/>
          <a:p>
            <a:pPr algn="ctr">
              <a:lnSpc>
                <a:spcPts val="6160"/>
              </a:lnSpc>
            </a:pPr>
            <a:r>
              <a:rPr lang="en-US" sz="4400">
                <a:solidFill>
                  <a:srgbClr val="FF66C4"/>
                </a:solidFill>
                <a:latin typeface="Canva Student Font"/>
                <a:ea typeface="Canva Student Font"/>
                <a:cs typeface="Canva Student Font"/>
                <a:sym typeface="Canva Student Font"/>
              </a:rPr>
              <a:t>3. Stakeholders</a:t>
            </a:r>
          </a:p>
          <a:p>
            <a:pPr algn="l" marL="949961" indent="-474980" lvl="1">
              <a:lnSpc>
                <a:spcPts val="6160"/>
              </a:lnSpc>
              <a:buFont typeface="Arial"/>
              <a:buChar char="•"/>
            </a:pPr>
            <a:r>
              <a:rPr lang="en-US" sz="4400">
                <a:solidFill>
                  <a:srgbClr val="000000"/>
                </a:solidFill>
                <a:latin typeface="Canva Student Font"/>
                <a:ea typeface="Canva Student Font"/>
                <a:cs typeface="Canva Student Font"/>
                <a:sym typeface="Canva Student Font"/>
              </a:rPr>
              <a:t>individuals or groups who may be affected by the change or have an interest in its outcome.</a:t>
            </a:r>
          </a:p>
          <a:p>
            <a:pPr algn="l" marL="949961" indent="-474980" lvl="1">
              <a:lnSpc>
                <a:spcPts val="6160"/>
              </a:lnSpc>
              <a:buFont typeface="Arial"/>
              <a:buChar char="•"/>
            </a:pPr>
            <a:r>
              <a:rPr lang="en-US" sz="4400">
                <a:solidFill>
                  <a:srgbClr val="000000"/>
                </a:solidFill>
                <a:latin typeface="Canva Student Font"/>
                <a:ea typeface="Canva Student Font"/>
                <a:cs typeface="Canva Student Font"/>
                <a:sym typeface="Canva Student Font"/>
              </a:rPr>
              <a:t>Examples include system users, IT staff, management and customers.</a:t>
            </a:r>
          </a:p>
          <a:p>
            <a:pPr algn="l">
              <a:lnSpc>
                <a:spcPts val="6160"/>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101257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Change</a:t>
            </a:r>
            <a:r>
              <a:rPr lang="en-US" sz="4100">
                <a:solidFill>
                  <a:srgbClr val="FF66C4"/>
                </a:solidFill>
                <a:latin typeface="Canva Student Font"/>
                <a:ea typeface="Canva Student Font"/>
                <a:cs typeface="Canva Student Font"/>
                <a:sym typeface="Canva Student Font"/>
              </a:rPr>
              <a:t> Management Concepts</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Impact analysis</a:t>
            </a:r>
            <a:r>
              <a:rPr lang="en-US" sz="4100">
                <a:solidFill>
                  <a:srgbClr val="000000"/>
                </a:solidFill>
                <a:latin typeface="Canva Student Font"/>
                <a:ea typeface="Canva Student Font"/>
                <a:cs typeface="Canva Student Font"/>
                <a:sym typeface="Canva Student Font"/>
              </a:rPr>
              <a:t>: Identify and assess how a proposed change could affect users, business processes, systems, security, and operations.</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Test results</a:t>
            </a:r>
            <a:r>
              <a:rPr lang="en-US" sz="4100">
                <a:solidFill>
                  <a:srgbClr val="000000"/>
                </a:solidFill>
                <a:latin typeface="Canva Student Font"/>
                <a:ea typeface="Canva Student Font"/>
                <a:cs typeface="Canva Student Font"/>
                <a:sym typeface="Canva Student Font"/>
              </a:rPr>
              <a:t>: Test the change in a controlled environment before deploying it to the live system. ensure changes work as intended, identify potential issues.</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Backout plans</a:t>
            </a:r>
            <a:r>
              <a:rPr lang="en-US" sz="4100">
                <a:solidFill>
                  <a:srgbClr val="000000"/>
                </a:solidFill>
                <a:latin typeface="Canva Student Font"/>
                <a:ea typeface="Canva Student Font"/>
                <a:cs typeface="Canva Student Font"/>
                <a:sym typeface="Canva Student Font"/>
              </a:rPr>
              <a:t>: contingency plans for reversing changes. minimize downtime and reduce risk of data loss</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maintenace window</a:t>
            </a:r>
            <a:r>
              <a:rPr lang="en-US" sz="4100">
                <a:solidFill>
                  <a:srgbClr val="000000"/>
                </a:solidFill>
                <a:latin typeface="Canva Student Font"/>
                <a:ea typeface="Canva Student Font"/>
                <a:cs typeface="Canva Student Font"/>
                <a:sym typeface="Canva Student Font"/>
              </a:rPr>
              <a:t>: A predefined schedule for implementing a change, preferably during periods of low activity to reduce disruption.</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standard operating procedure</a:t>
            </a:r>
            <a:r>
              <a:rPr lang="en-US" sz="4100">
                <a:solidFill>
                  <a:srgbClr val="000000"/>
                </a:solidFill>
                <a:latin typeface="Canva Student Font"/>
                <a:ea typeface="Canva Student Font"/>
                <a:cs typeface="Canva Student Font"/>
                <a:sym typeface="Canva Student Font"/>
              </a:rPr>
              <a:t>: detailed instructions for routine operations or changes.</a:t>
            </a:r>
          </a:p>
        </p:txBody>
      </p:sp>
    </p:spTree>
  </p:cSld>
  <p:clrMapOvr>
    <a:masterClrMapping/>
  </p:clrMapOvr>
</p:sld>
</file>

<file path=ppt/slides/slide3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45513" y="-49350"/>
            <a:ext cx="10041487" cy="94018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Technical</a:t>
            </a:r>
            <a:r>
              <a:rPr lang="en-US" sz="4100">
                <a:solidFill>
                  <a:srgbClr val="FF66C4"/>
                </a:solidFill>
                <a:latin typeface="Canva Student Font"/>
                <a:ea typeface="Canva Student Font"/>
                <a:cs typeface="Canva Student Font"/>
                <a:sym typeface="Canva Student Font"/>
              </a:rPr>
              <a:t> Implications of Change Management</a:t>
            </a:r>
          </a:p>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1. Allow lists and denial lists</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Allow list</a:t>
            </a:r>
            <a:r>
              <a:rPr lang="en-US" sz="4100">
                <a:solidFill>
                  <a:srgbClr val="000000"/>
                </a:solidFill>
                <a:latin typeface="Canva Student Font"/>
                <a:ea typeface="Canva Student Font"/>
                <a:cs typeface="Canva Student Font"/>
                <a:sym typeface="Canva Student Font"/>
              </a:rPr>
              <a:t>: A list of approved software, hardware, users, or change types. reduce time and effort for trusted changes, ensure alignment with organization. e.g. routine or low-risk changes</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Denial list</a:t>
            </a:r>
            <a:r>
              <a:rPr lang="en-US" sz="4100">
                <a:solidFill>
                  <a:srgbClr val="000000"/>
                </a:solidFill>
                <a:latin typeface="Canva Student Font"/>
                <a:ea typeface="Canva Student Font"/>
                <a:cs typeface="Canva Student Font"/>
                <a:sym typeface="Canva Student Font"/>
              </a:rPr>
              <a:t>: A list of explicitly blocked software, hardware, users, or change types. block unauthorized, high-risk changes, clearly identify unauthorized changes. e.g. software with known security issues, high-impact changes, or unauthorized individuals.</a:t>
            </a:r>
          </a:p>
          <a:p>
            <a:pPr algn="ctr">
              <a:lnSpc>
                <a:spcPts val="5740"/>
              </a:lnSpc>
              <a:spcBef>
                <a:spcPct val="0"/>
              </a:spcBef>
            </a:pPr>
          </a:p>
          <a:p>
            <a:pPr algn="ctr">
              <a:lnSpc>
                <a:spcPts val="5740"/>
              </a:lnSpc>
              <a:spcBef>
                <a:spcPct val="0"/>
              </a:spcBef>
            </a:pPr>
          </a:p>
        </p:txBody>
      </p:sp>
    </p:spTree>
  </p:cSld>
  <p:clrMapOvr>
    <a:masterClrMapping/>
  </p:clrMapOvr>
</p:sld>
</file>

<file path=ppt/slides/slide3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8677911"/>
          </a:xfrm>
          <a:prstGeom prst="rect">
            <a:avLst/>
          </a:prstGeom>
        </p:spPr>
        <p:txBody>
          <a:bodyPr anchor="t" rtlCol="false" tIns="0" lIns="0" bIns="0" rIns="0">
            <a:spAutoFit/>
          </a:bodyPr>
          <a:lstStyle/>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2. Rest</a:t>
            </a:r>
            <a:r>
              <a:rPr lang="en-US" sz="4099">
                <a:solidFill>
                  <a:srgbClr val="FF66C4"/>
                </a:solidFill>
                <a:latin typeface="Canva Student Font"/>
                <a:ea typeface="Canva Student Font"/>
                <a:cs typeface="Canva Student Font"/>
                <a:sym typeface="Canva Student Font"/>
              </a:rPr>
              <a:t>ricted activities</a:t>
            </a:r>
          </a:p>
          <a:p>
            <a:pPr algn="l" marL="885184" indent="-442592" lvl="1">
              <a:lnSpc>
                <a:spcPts val="5739"/>
              </a:lnSpc>
              <a:spcBef>
                <a:spcPct val="0"/>
              </a:spcBef>
              <a:buFont typeface="Arial"/>
              <a:buChar char="•"/>
            </a:pPr>
            <a:r>
              <a:rPr lang="en-US" sz="4099">
                <a:solidFill>
                  <a:srgbClr val="000000"/>
                </a:solidFill>
                <a:latin typeface="Canva Student Font"/>
                <a:ea typeface="Canva Student Font"/>
                <a:cs typeface="Canva Student Font"/>
                <a:sym typeface="Canva Student Font"/>
              </a:rPr>
              <a:t>certain activities are deliberately restricted or tightly controlled because they can introduce instability, security risks, or compliance violations if not managed properly.</a:t>
            </a:r>
          </a:p>
          <a:p>
            <a:pPr algn="l" marL="885184" indent="-442592" lvl="1">
              <a:lnSpc>
                <a:spcPts val="5739"/>
              </a:lnSpc>
              <a:spcBef>
                <a:spcPct val="0"/>
              </a:spcBef>
              <a:buFont typeface="Arial"/>
              <a:buChar char="•"/>
            </a:pPr>
            <a:r>
              <a:rPr lang="en-US" sz="4099">
                <a:solidFill>
                  <a:srgbClr val="FF66C4"/>
                </a:solidFill>
                <a:latin typeface="Canva Student Font"/>
                <a:ea typeface="Canva Student Font"/>
                <a:cs typeface="Canva Student Font"/>
                <a:sym typeface="Canva Student Font"/>
              </a:rPr>
              <a:t>Downtime and restarts</a:t>
            </a:r>
            <a:r>
              <a:rPr lang="en-US" sz="4099">
                <a:solidFill>
                  <a:srgbClr val="000000"/>
                </a:solidFill>
                <a:latin typeface="Canva Student Font"/>
                <a:ea typeface="Canva Student Font"/>
                <a:cs typeface="Canva Student Font"/>
                <a:sym typeface="Canva Student Font"/>
              </a:rPr>
              <a:t>: directly affect business operations. minimize disruptions by scheduling during maintenance windows or off-peak times. ensure that stakeholders are aware of service outages to prepare accordingly. e,g. </a:t>
            </a:r>
            <a:r>
              <a:rPr lang="en-US" sz="4099">
                <a:solidFill>
                  <a:srgbClr val="FF66C4"/>
                </a:solidFill>
                <a:latin typeface="Canva Student Font"/>
                <a:ea typeface="Canva Student Font"/>
                <a:cs typeface="Canva Student Font"/>
                <a:sym typeface="Canva Student Font"/>
              </a:rPr>
              <a:t>Service restart</a:t>
            </a:r>
            <a:r>
              <a:rPr lang="en-US" sz="4099">
                <a:solidFill>
                  <a:srgbClr val="000000"/>
                </a:solidFill>
                <a:latin typeface="Canva Student Font"/>
                <a:ea typeface="Canva Student Font"/>
                <a:cs typeface="Canva Student Font"/>
                <a:sym typeface="Canva Student Font"/>
              </a:rPr>
              <a:t>: Stops and starts a background service or system process or </a:t>
            </a:r>
            <a:r>
              <a:rPr lang="en-US" sz="4099">
                <a:solidFill>
                  <a:srgbClr val="FF66C4"/>
                </a:solidFill>
                <a:latin typeface="Canva Student Font"/>
                <a:ea typeface="Canva Student Font"/>
                <a:cs typeface="Canva Student Font"/>
                <a:sym typeface="Canva Student Font"/>
              </a:rPr>
              <a:t>Application restart</a:t>
            </a:r>
            <a:r>
              <a:rPr lang="en-US" sz="4099">
                <a:solidFill>
                  <a:srgbClr val="000000"/>
                </a:solidFill>
                <a:latin typeface="Canva Student Font"/>
                <a:ea typeface="Canva Student Font"/>
                <a:cs typeface="Canva Student Font"/>
                <a:sym typeface="Canva Student Font"/>
              </a:rPr>
              <a:t>: Closes and relaunches an application, creating a fresh running instance.</a:t>
            </a: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66675"/>
            <a:ext cx="10287000" cy="9538970"/>
          </a:xfrm>
          <a:prstGeom prst="rect">
            <a:avLst/>
          </a:prstGeom>
        </p:spPr>
        <p:txBody>
          <a:bodyPr anchor="t" rtlCol="false" tIns="0" lIns="0" bIns="0" rIns="0">
            <a:spAutoFit/>
          </a:bodyPr>
          <a:lstStyle/>
          <a:p>
            <a:pPr algn="ctr">
              <a:lnSpc>
                <a:spcPts val="4479"/>
              </a:lnSpc>
            </a:pPr>
            <a:r>
              <a:rPr lang="en-US" sz="3199">
                <a:solidFill>
                  <a:srgbClr val="FF66C4"/>
                </a:solidFill>
                <a:latin typeface="Canva Student Font"/>
                <a:ea typeface="Canva Student Font"/>
                <a:cs typeface="Canva Student Font"/>
                <a:sym typeface="Canva Student Font"/>
              </a:rPr>
              <a:t>3. legacy applications</a:t>
            </a:r>
          </a:p>
          <a:p>
            <a:pPr algn="l" marL="690879" indent="-345439" lvl="1">
              <a:lnSpc>
                <a:spcPts val="4479"/>
              </a:lnSpc>
              <a:buFont typeface="Arial"/>
              <a:buChar char="•"/>
            </a:pPr>
            <a:r>
              <a:rPr lang="en-US" sz="3199">
                <a:solidFill>
                  <a:srgbClr val="000000"/>
                </a:solidFill>
                <a:latin typeface="Canva Student Font"/>
                <a:ea typeface="Canva Student Font"/>
                <a:cs typeface="Canva Student Font"/>
                <a:sym typeface="Canva Student Font"/>
              </a:rPr>
              <a:t>unique challenges in managing changes due to outdated technology and lack of support. </a:t>
            </a:r>
          </a:p>
          <a:p>
            <a:pPr algn="l" marL="690879" indent="-345439" lvl="1">
              <a:lnSpc>
                <a:spcPts val="4479"/>
              </a:lnSpc>
              <a:buFont typeface="Arial"/>
              <a:buChar char="•"/>
            </a:pPr>
            <a:r>
              <a:rPr lang="en-US" sz="3199">
                <a:solidFill>
                  <a:srgbClr val="000000"/>
                </a:solidFill>
                <a:latin typeface="Canva Student Font"/>
                <a:ea typeface="Canva Student Font"/>
                <a:cs typeface="Canva Student Font"/>
                <a:sym typeface="Canva Student Font"/>
              </a:rPr>
              <a:t>It requires specialized solutions and expensive testing.</a:t>
            </a:r>
          </a:p>
          <a:p>
            <a:pPr algn="ctr">
              <a:lnSpc>
                <a:spcPts val="4479"/>
              </a:lnSpc>
            </a:pPr>
            <a:r>
              <a:rPr lang="en-US" sz="3199">
                <a:solidFill>
                  <a:srgbClr val="FF66C4"/>
                </a:solidFill>
                <a:latin typeface="Canva Student Font"/>
                <a:ea typeface="Canva Student Font"/>
                <a:cs typeface="Canva Student Font"/>
                <a:sym typeface="Canva Student Font"/>
              </a:rPr>
              <a:t>4. </a:t>
            </a:r>
            <a:r>
              <a:rPr lang="en-US" sz="3199">
                <a:solidFill>
                  <a:srgbClr val="FF66C4"/>
                </a:solidFill>
                <a:latin typeface="Canva Student Font"/>
                <a:ea typeface="Canva Student Font"/>
                <a:cs typeface="Canva Student Font"/>
                <a:sym typeface="Canva Student Font"/>
              </a:rPr>
              <a:t>Dependencies</a:t>
            </a:r>
          </a:p>
          <a:p>
            <a:pPr algn="l" marL="690879" indent="-345439" lvl="1">
              <a:lnSpc>
                <a:spcPts val="4479"/>
              </a:lnSpc>
              <a:buFont typeface="Arial"/>
              <a:buChar char="•"/>
            </a:pPr>
            <a:r>
              <a:rPr lang="en-US" sz="3199">
                <a:solidFill>
                  <a:srgbClr val="000000"/>
                </a:solidFill>
                <a:latin typeface="Canva Student Font"/>
                <a:ea typeface="Canva Student Font"/>
                <a:cs typeface="Canva Student Font"/>
                <a:sym typeface="Canva Student Font"/>
              </a:rPr>
              <a:t>Dependencies occur when one application, service, or system relies on another to function correctly.</a:t>
            </a:r>
          </a:p>
          <a:p>
            <a:pPr algn="l" marL="690879" indent="-345439" lvl="1">
              <a:lnSpc>
                <a:spcPts val="4479"/>
              </a:lnSpc>
              <a:buFont typeface="Arial"/>
              <a:buChar char="•"/>
            </a:pPr>
            <a:r>
              <a:rPr lang="en-US" sz="3199">
                <a:solidFill>
                  <a:srgbClr val="000000"/>
                </a:solidFill>
                <a:latin typeface="Canva Student Font"/>
                <a:ea typeface="Canva Student Font"/>
                <a:cs typeface="Canva Student Font"/>
                <a:sym typeface="Canva Student Font"/>
              </a:rPr>
              <a:t>Dependencies can extend to the time needed for changes and backup plans. </a:t>
            </a:r>
          </a:p>
          <a:p>
            <a:pPr algn="ctr">
              <a:lnSpc>
                <a:spcPts val="4479"/>
              </a:lnSpc>
            </a:pPr>
            <a:r>
              <a:rPr lang="en-US" sz="3199">
                <a:solidFill>
                  <a:srgbClr val="FF66C4"/>
                </a:solidFill>
                <a:latin typeface="Canva Student Font"/>
                <a:ea typeface="Canva Student Font"/>
                <a:cs typeface="Canva Student Font"/>
                <a:sym typeface="Canva Student Font"/>
              </a:rPr>
              <a:t>5. </a:t>
            </a:r>
            <a:r>
              <a:rPr lang="en-US" sz="3199">
                <a:solidFill>
                  <a:srgbClr val="FF66C4"/>
                </a:solidFill>
                <a:latin typeface="Canva Student Font"/>
                <a:ea typeface="Canva Student Font"/>
                <a:cs typeface="Canva Student Font"/>
                <a:sym typeface="Canva Student Font"/>
              </a:rPr>
              <a:t>Documentation</a:t>
            </a:r>
          </a:p>
          <a:p>
            <a:pPr algn="l" marL="690879" indent="-345439" lvl="1">
              <a:lnSpc>
                <a:spcPts val="4479"/>
              </a:lnSpc>
              <a:buFont typeface="Arial"/>
              <a:buChar char="•"/>
            </a:pPr>
            <a:r>
              <a:rPr lang="en-US" sz="3199">
                <a:solidFill>
                  <a:srgbClr val="000000"/>
                </a:solidFill>
                <a:latin typeface="Canva Student Font"/>
                <a:ea typeface="Canva Student Font"/>
                <a:cs typeface="Canva Student Font"/>
                <a:sym typeface="Canva Student Font"/>
              </a:rPr>
              <a:t>Change documentation records what was changed, why it was changed, who approved it, and whether it was successful.</a:t>
            </a:r>
          </a:p>
          <a:p>
            <a:pPr algn="l" marL="690879" indent="-345439" lvl="1">
              <a:lnSpc>
                <a:spcPts val="4479"/>
              </a:lnSpc>
              <a:buFont typeface="Arial"/>
              <a:buChar char="•"/>
            </a:pPr>
            <a:r>
              <a:rPr lang="en-US" sz="3199">
                <a:solidFill>
                  <a:srgbClr val="000000"/>
                </a:solidFill>
                <a:latin typeface="Canva Student Font"/>
                <a:ea typeface="Canva Student Font"/>
                <a:cs typeface="Canva Student Font"/>
                <a:sym typeface="Canva Student Font"/>
              </a:rPr>
              <a:t>Documentation should include: Change description and reason, Risk and impact assessment., Approval details and responsible personnel., Implementation steps and test results, Backup and rollback procedures, Updated system configurations and network diagrams, New or changed dependencies, Recovery procedures and employee training requirements.</a:t>
            </a:r>
          </a:p>
          <a:p>
            <a:pPr algn="l">
              <a:lnSpc>
                <a:spcPts val="4479"/>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6516" y="-95250"/>
            <a:ext cx="10020484" cy="4334511"/>
          </a:xfrm>
          <a:prstGeom prst="rect">
            <a:avLst/>
          </a:prstGeom>
        </p:spPr>
        <p:txBody>
          <a:bodyPr anchor="t" rtlCol="false" tIns="0" lIns="0" bIns="0" rIns="0">
            <a:spAutoFit/>
          </a:bodyPr>
          <a:lstStyle/>
          <a:p>
            <a:pPr algn="l">
              <a:lnSpc>
                <a:spcPts val="5739"/>
              </a:lnSpc>
            </a:pPr>
            <a:r>
              <a:rPr lang="en-US" sz="4099">
                <a:solidFill>
                  <a:srgbClr val="000000"/>
                </a:solidFill>
                <a:latin typeface="Canva Student Font"/>
                <a:ea typeface="Canva Student Font"/>
                <a:cs typeface="Canva Student Font"/>
                <a:sym typeface="Canva Student Font"/>
              </a:rPr>
              <a:t>                    </a:t>
            </a:r>
            <a:r>
              <a:rPr lang="en-US" sz="4099">
                <a:solidFill>
                  <a:srgbClr val="FF66C4"/>
                </a:solidFill>
                <a:latin typeface="Canva Student Font"/>
                <a:ea typeface="Canva Student Font"/>
                <a:cs typeface="Canva Student Font"/>
                <a:sym typeface="Canva Student Font"/>
              </a:rPr>
              <a:t>  6. version control</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track and control changes to documents and dats</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assess how changes impact existing policies, procedures, and diagrams.</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label new versions, archive old ones.</a:t>
            </a:r>
          </a:p>
          <a:p>
            <a:pPr algn="l">
              <a:lnSpc>
                <a:spcPts val="5739"/>
              </a:lnSpc>
              <a:spcBef>
                <a:spcPct val="0"/>
              </a:spcBef>
            </a:pP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8028" y="139874"/>
            <a:ext cx="6290816" cy="755015"/>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cryptographic solutions</a:t>
            </a:r>
          </a:p>
        </p:txBody>
      </p:sp>
      <p:sp>
        <p:nvSpPr>
          <p:cNvPr name="TextBox 3" id="3"/>
          <p:cNvSpPr txBox="true"/>
          <p:nvPr/>
        </p:nvSpPr>
        <p:spPr>
          <a:xfrm rot="0">
            <a:off x="62805" y="933450"/>
            <a:ext cx="10224195" cy="1438910"/>
          </a:xfrm>
          <a:prstGeom prst="rect">
            <a:avLst/>
          </a:prstGeom>
        </p:spPr>
        <p:txBody>
          <a:bodyPr anchor="t" rtlCol="false" tIns="0" lIns="0" bIns="0" rIns="0">
            <a:spAutoFit/>
          </a:bodyPr>
          <a:lstStyle/>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cryptography</a:t>
            </a:r>
            <a:r>
              <a:rPr lang="en-US" sz="4100">
                <a:solidFill>
                  <a:srgbClr val="000000"/>
                </a:solidFill>
                <a:latin typeface="Canva Student Font"/>
                <a:ea typeface="Canva Student Font"/>
                <a:cs typeface="Canva Student Font"/>
                <a:sym typeface="Canva Student Font"/>
              </a:rPr>
              <a:t>: art of making information secure by encoding it</a:t>
            </a:r>
          </a:p>
        </p:txBody>
      </p:sp>
      <p:sp>
        <p:nvSpPr>
          <p:cNvPr name="TextBox 4" id="4"/>
          <p:cNvSpPr txBox="true"/>
          <p:nvPr/>
        </p:nvSpPr>
        <p:spPr>
          <a:xfrm rot="0">
            <a:off x="125611" y="2410460"/>
            <a:ext cx="10161389" cy="4334510"/>
          </a:xfrm>
          <a:prstGeom prst="rect">
            <a:avLst/>
          </a:prstGeom>
        </p:spPr>
        <p:txBody>
          <a:bodyPr anchor="t" rtlCol="false" tIns="0" lIns="0" bIns="0" rIns="0">
            <a:spAutoFit/>
          </a:bodyPr>
          <a:lstStyle/>
          <a:p>
            <a:pPr algn="ctr">
              <a:lnSpc>
                <a:spcPts val="5740"/>
              </a:lnSpc>
            </a:pPr>
            <a:r>
              <a:rPr lang="en-US" sz="4100">
                <a:solidFill>
                  <a:srgbClr val="FF66C4"/>
                </a:solidFill>
                <a:latin typeface="Canva Student Font"/>
                <a:ea typeface="Canva Student Font"/>
                <a:cs typeface="Canva Student Font"/>
                <a:sym typeface="Canva Student Font"/>
              </a:rPr>
              <a:t>terminology</a:t>
            </a:r>
          </a:p>
          <a:p>
            <a:pPr algn="l" marL="885192" indent="-442596" lvl="1">
              <a:lnSpc>
                <a:spcPts val="5740"/>
              </a:lnSpc>
              <a:buFont typeface="Arial"/>
              <a:buChar char="•"/>
            </a:pPr>
            <a:r>
              <a:rPr lang="en-US" sz="4100">
                <a:solidFill>
                  <a:srgbClr val="FF66C4"/>
                </a:solidFill>
                <a:latin typeface="Canva Student Font"/>
                <a:ea typeface="Canva Student Font"/>
                <a:cs typeface="Canva Student Font"/>
                <a:sym typeface="Canva Student Font"/>
              </a:rPr>
              <a:t>plaintext: unecrypted message</a:t>
            </a:r>
          </a:p>
          <a:p>
            <a:pPr algn="l" marL="885192" indent="-442596" lvl="1">
              <a:lnSpc>
                <a:spcPts val="5740"/>
              </a:lnSpc>
              <a:buFont typeface="Arial"/>
              <a:buChar char="•"/>
            </a:pPr>
            <a:r>
              <a:rPr lang="en-US" sz="4100">
                <a:solidFill>
                  <a:srgbClr val="FF66C4"/>
                </a:solidFill>
                <a:latin typeface="Canva Student Font"/>
                <a:ea typeface="Canva Student Font"/>
                <a:cs typeface="Canva Student Font"/>
                <a:sym typeface="Canva Student Font"/>
              </a:rPr>
              <a:t>ciphertext: encrypted message</a:t>
            </a:r>
          </a:p>
          <a:p>
            <a:pPr algn="l" marL="885192" indent="-442596" lvl="1">
              <a:lnSpc>
                <a:spcPts val="5740"/>
              </a:lnSpc>
              <a:buFont typeface="Arial"/>
              <a:buChar char="•"/>
            </a:pPr>
            <a:r>
              <a:rPr lang="en-US" sz="4100">
                <a:solidFill>
                  <a:srgbClr val="FF66C4"/>
                </a:solidFill>
                <a:latin typeface="Canva Student Font"/>
                <a:ea typeface="Canva Student Font"/>
                <a:cs typeface="Canva Student Font"/>
                <a:sym typeface="Canva Student Font"/>
              </a:rPr>
              <a:t>algorithm: process used to encrypt and decrypt a message</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cryptoanalysis: art of cracking cryptographic solutions</a:t>
            </a:r>
          </a:p>
        </p:txBody>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85725"/>
            <a:ext cx="10287000" cy="5102225"/>
          </a:xfrm>
          <a:prstGeom prst="rect">
            <a:avLst/>
          </a:prstGeom>
        </p:spPr>
        <p:txBody>
          <a:bodyPr anchor="t" rtlCol="false" tIns="0" lIns="0" bIns="0" rIns="0">
            <a:spAutoFit/>
          </a:bodyPr>
          <a:lstStyle/>
          <a:p>
            <a:pPr algn="ctr">
              <a:lnSpc>
                <a:spcPts val="6160"/>
              </a:lnSpc>
            </a:pP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public key infrastructure</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Public Key Infrastructure (PKI) is the complete system used to manage cryptographic keys, digital certificates, policies, and trust between users, devices, and organizations.</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It helps verify that a public key belongs to the person, organization, or device it claims to represent.</a:t>
            </a:r>
          </a:p>
        </p:txBody>
      </p:sp>
      <p:sp>
        <p:nvSpPr>
          <p:cNvPr name="TextBox 3" id="3"/>
          <p:cNvSpPr txBox="true"/>
          <p:nvPr/>
        </p:nvSpPr>
        <p:spPr>
          <a:xfrm rot="0">
            <a:off x="0" y="4921250"/>
            <a:ext cx="10287000" cy="57823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Main functions </a:t>
            </a:r>
            <a:r>
              <a:rPr lang="en-US" sz="4100">
                <a:solidFill>
                  <a:srgbClr val="FF66C4"/>
                </a:solidFill>
                <a:latin typeface="Canva Student Font"/>
                <a:ea typeface="Canva Student Font"/>
                <a:cs typeface="Canva Student Font"/>
                <a:sym typeface="Canva Student Font"/>
              </a:rPr>
              <a:t>of PKI</a:t>
            </a:r>
          </a:p>
          <a:p>
            <a:pPr algn="ctr"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Key pair management</a:t>
            </a:r>
            <a:r>
              <a:rPr lang="en-US" sz="4100">
                <a:solidFill>
                  <a:srgbClr val="000000"/>
                </a:solidFill>
                <a:latin typeface="Canva Student Font"/>
                <a:ea typeface="Canva Student Font"/>
                <a:cs typeface="Canva Student Font"/>
                <a:sym typeface="Canva Student Font"/>
              </a:rPr>
              <a:t>: Supports the generation and management of public and private keys.</a:t>
            </a:r>
          </a:p>
          <a:p>
            <a:pPr algn="ctr"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Certificate management</a:t>
            </a:r>
            <a:r>
              <a:rPr lang="en-US" sz="4100">
                <a:solidFill>
                  <a:srgbClr val="000000"/>
                </a:solidFill>
                <a:latin typeface="Canva Student Font"/>
                <a:ea typeface="Canva Student Font"/>
                <a:cs typeface="Canva Student Font"/>
                <a:sym typeface="Canva Student Font"/>
              </a:rPr>
              <a:t>: Issues, validates, renews, and revokes digital certificates.</a:t>
            </a:r>
          </a:p>
          <a:p>
            <a:pPr algn="ctr"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Policies and procedures</a:t>
            </a:r>
            <a:r>
              <a:rPr lang="en-US" sz="4100">
                <a:solidFill>
                  <a:srgbClr val="000000"/>
                </a:solidFill>
                <a:latin typeface="Canva Student Font"/>
                <a:ea typeface="Canva Student Font"/>
                <a:cs typeface="Canva Student Font"/>
                <a:sym typeface="Canva Student Font"/>
              </a:rPr>
              <a:t>: Establishes rules for how keys and certificates must be used and protected.</a:t>
            </a:r>
          </a:p>
          <a:p>
            <a:pPr algn="ctr">
              <a:lnSpc>
                <a:spcPts val="5740"/>
              </a:lnSpc>
              <a:spcBef>
                <a:spcPct val="0"/>
              </a:spcBef>
            </a:pPr>
          </a:p>
        </p:txBody>
      </p:sp>
    </p:spTree>
  </p:cSld>
  <p:clrMapOvr>
    <a:masterClrMapping/>
  </p:clrMapOvr>
</p:sld>
</file>

<file path=ppt/slides/slide4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3610610"/>
          </a:xfrm>
          <a:prstGeom prst="rect">
            <a:avLst/>
          </a:prstGeom>
        </p:spPr>
        <p:txBody>
          <a:bodyPr anchor="t" rtlCol="false" tIns="0" lIns="0" bIns="0" rIns="0">
            <a:spAutoFit/>
          </a:bodyPr>
          <a:lstStyle/>
          <a:p>
            <a:pPr algn="ctr"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Trust management</a:t>
            </a:r>
            <a:r>
              <a:rPr lang="en-US" sz="4100">
                <a:solidFill>
                  <a:srgbClr val="000000"/>
                </a:solidFill>
                <a:latin typeface="Canva Student Font"/>
                <a:ea typeface="Canva Student Font"/>
                <a:cs typeface="Canva Student Font"/>
                <a:sym typeface="Canva Student Font"/>
              </a:rPr>
              <a:t>: All</a:t>
            </a:r>
            <a:r>
              <a:rPr lang="en-US" sz="4100">
                <a:solidFill>
                  <a:srgbClr val="000000"/>
                </a:solidFill>
                <a:latin typeface="Canva Student Font"/>
                <a:ea typeface="Canva Student Font"/>
                <a:cs typeface="Canva Student Font"/>
                <a:sym typeface="Canva Student Font"/>
              </a:rPr>
              <a:t>ows systems to verify that a public key is associated with the claimed identity.</a:t>
            </a:r>
          </a:p>
          <a:p>
            <a:pPr algn="ctr"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Security</a:t>
            </a:r>
            <a:r>
              <a:rPr lang="en-US" sz="4100">
                <a:solidFill>
                  <a:srgbClr val="000000"/>
                </a:solidFill>
                <a:latin typeface="Canva Student Font"/>
                <a:ea typeface="Canva Student Font"/>
                <a:cs typeface="Canva Student Font"/>
                <a:sym typeface="Canva Student Font"/>
              </a:rPr>
              <a:t>: Helps protect communications, verify digital signatures, and support secure authentication.</a:t>
            </a:r>
          </a:p>
          <a:p>
            <a:pPr algn="ctr">
              <a:lnSpc>
                <a:spcPts val="5740"/>
              </a:lnSpc>
              <a:spcBef>
                <a:spcPct val="0"/>
              </a:spcBef>
            </a:pPr>
          </a:p>
        </p:txBody>
      </p:sp>
      <p:sp>
        <p:nvSpPr>
          <p:cNvPr name="TextBox 3" id="3"/>
          <p:cNvSpPr txBox="true"/>
          <p:nvPr/>
        </p:nvSpPr>
        <p:spPr>
          <a:xfrm rot="0">
            <a:off x="0" y="3094990"/>
            <a:ext cx="9108537" cy="3601085"/>
          </a:xfrm>
          <a:prstGeom prst="rect">
            <a:avLst/>
          </a:prstGeom>
        </p:spPr>
        <p:txBody>
          <a:bodyPr anchor="t" rtlCol="false" tIns="0" lIns="0" bIns="0" rIns="0">
            <a:spAutoFit/>
          </a:bodyPr>
          <a:lstStyle/>
          <a:p>
            <a:pPr algn="ctr">
              <a:lnSpc>
                <a:spcPts val="5740"/>
              </a:lnSpc>
            </a:pPr>
            <a:r>
              <a:rPr lang="en-US" sz="4100">
                <a:gradFill>
                  <a:gsLst>
                    <a:gs pos="0">
                      <a:srgbClr val="7B2D9F">
                        <a:alpha val="100000"/>
                      </a:srgbClr>
                    </a:gs>
                    <a:gs pos="100000">
                      <a:srgbClr val="FDD82E">
                        <a:alpha val="100000"/>
                      </a:srgbClr>
                    </a:gs>
                  </a:gsLst>
                  <a:lin ang="5400000"/>
                </a:gradFill>
                <a:latin typeface="Gagalin"/>
                <a:ea typeface="Gagalin"/>
                <a:cs typeface="Gagalin"/>
                <a:sym typeface="Gagalin"/>
              </a:rPr>
              <a:t>public key cryptography</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Uses public (encryption) and private (decryption) keys for cryptographic operations.</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digital signature: sign with private key, verify with public key</a:t>
            </a:r>
          </a:p>
        </p:txBody>
      </p:sp>
    </p:spTree>
  </p:cSld>
  <p:clrMapOvr>
    <a:masterClrMapping/>
  </p:clrMapOvr>
</p:sld>
</file>

<file path=ppt/slides/slide4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85725"/>
            <a:ext cx="9550461" cy="7944485"/>
          </a:xfrm>
          <a:prstGeom prst="rect">
            <a:avLst/>
          </a:prstGeom>
        </p:spPr>
        <p:txBody>
          <a:bodyPr anchor="t" rtlCol="false" tIns="0" lIns="0" bIns="0" rIns="0">
            <a:spAutoFit/>
          </a:bodyPr>
          <a:lstStyle/>
          <a:p>
            <a:pPr algn="ctr">
              <a:lnSpc>
                <a:spcPts val="5740"/>
              </a:lnSpc>
            </a:pPr>
            <a:r>
              <a:rPr lang="en-US" sz="4100">
                <a:gradFill>
                  <a:gsLst>
                    <a:gs pos="0">
                      <a:srgbClr val="7B2D9F">
                        <a:alpha val="100000"/>
                      </a:srgbClr>
                    </a:gs>
                    <a:gs pos="100000">
                      <a:srgbClr val="FDD82E">
                        <a:alpha val="100000"/>
                      </a:srgbClr>
                    </a:gs>
                  </a:gsLst>
                  <a:lin ang="5400000"/>
                </a:gradFill>
                <a:latin typeface="Gagalin"/>
                <a:ea typeface="Gagalin"/>
                <a:cs typeface="Gagalin"/>
                <a:sym typeface="Gagalin"/>
              </a:rPr>
              <a:t>key escrow</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involves the secure storage of a copy of a cryptographic key with a trusted third party, called an escrow agent, so that the key can be recovered under authorized conditions.</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making multiple copies increases the risk of compromise and makes detection difficult.</a:t>
            </a:r>
          </a:p>
          <a:p>
            <a:pPr algn="l" marL="885192" indent="-442596" lvl="1">
              <a:lnSpc>
                <a:spcPts val="5740"/>
              </a:lnSpc>
              <a:spcBef>
                <a:spcPct val="0"/>
              </a:spcBef>
              <a:buFont typeface="Arial"/>
              <a:buChar char="•"/>
            </a:pPr>
            <a:r>
              <a:rPr lang="en-US" sz="4100">
                <a:solidFill>
                  <a:srgbClr val="FF66C4"/>
                </a:solidFill>
                <a:latin typeface="Canva Student Font"/>
                <a:ea typeface="Canva Student Font"/>
                <a:cs typeface="Canva Student Font"/>
                <a:sym typeface="Canva Student Font"/>
              </a:rPr>
              <a:t>M-of-N control </a:t>
            </a:r>
            <a:r>
              <a:rPr lang="en-US" sz="4100">
                <a:solidFill>
                  <a:srgbClr val="000000"/>
                </a:solidFill>
                <a:latin typeface="Canva Student Font"/>
                <a:ea typeface="Canva Student Font"/>
                <a:cs typeface="Canva Student Font"/>
                <a:sym typeface="Canva Student Font"/>
              </a:rPr>
              <a:t>requires a minimum of M authorised people out of N total designated people to approve or perform a sensitive operation. it prevents a single individual from performing key recovery operations</a:t>
            </a:r>
          </a:p>
        </p:txBody>
      </p:sp>
    </p:spTree>
  </p:cSld>
  <p:clrMapOvr>
    <a:masterClrMapping/>
  </p:clrMapOvr>
</p:sld>
</file>

<file path=ppt/slides/slide4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39788" y="-85725"/>
            <a:ext cx="8207425" cy="755015"/>
          </a:xfrm>
          <a:prstGeom prst="rect">
            <a:avLst/>
          </a:prstGeom>
        </p:spPr>
        <p:txBody>
          <a:bodyPr anchor="t" rtlCol="false" tIns="0" lIns="0" bIns="0" rIns="0">
            <a:spAutoFit/>
          </a:bodyPr>
          <a:lstStyle/>
          <a:p>
            <a:pPr algn="ctr">
              <a:lnSpc>
                <a:spcPts val="6160"/>
              </a:lnSpc>
              <a:spcBef>
                <a:spcPct val="0"/>
              </a:spcBef>
            </a:pP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Enc</a:t>
            </a:r>
            <a:r>
              <a:rPr lang="en-US" sz="4400">
                <a:gradFill>
                  <a:gsLst>
                    <a:gs pos="0">
                      <a:srgbClr val="7B2D9F">
                        <a:alpha val="100000"/>
                      </a:srgbClr>
                    </a:gs>
                    <a:gs pos="100000">
                      <a:srgbClr val="FDD82E">
                        <a:alpha val="100000"/>
                      </a:srgbClr>
                    </a:gs>
                  </a:gsLst>
                  <a:lin ang="5400000"/>
                </a:gradFill>
                <a:latin typeface="Gagalin"/>
                <a:ea typeface="Gagalin"/>
                <a:cs typeface="Gagalin"/>
                <a:sym typeface="Gagalin"/>
              </a:rPr>
              <a:t>ryption and Data Protection</a:t>
            </a:r>
          </a:p>
        </p:txBody>
      </p:sp>
      <p:sp>
        <p:nvSpPr>
          <p:cNvPr name="TextBox 3" id="3"/>
          <p:cNvSpPr txBox="true"/>
          <p:nvPr/>
        </p:nvSpPr>
        <p:spPr>
          <a:xfrm rot="0">
            <a:off x="0" y="608330"/>
            <a:ext cx="9648666" cy="10767695"/>
          </a:xfrm>
          <a:prstGeom prst="rect">
            <a:avLst/>
          </a:prstGeom>
        </p:spPr>
        <p:txBody>
          <a:bodyPr anchor="t" rtlCol="false" tIns="0" lIns="0" bIns="0" rIns="0">
            <a:spAutoFit/>
          </a:bodyPr>
          <a:lstStyle/>
          <a:p>
            <a:pPr algn="ctr">
              <a:lnSpc>
                <a:spcPts val="5320"/>
              </a:lnSpc>
              <a:spcBef>
                <a:spcPct val="0"/>
              </a:spcBef>
            </a:pPr>
            <a:r>
              <a:rPr lang="en-US" sz="3800">
                <a:solidFill>
                  <a:srgbClr val="FF66C4"/>
                </a:solidFill>
                <a:latin typeface="Canva Student Font"/>
                <a:ea typeface="Canva Student Font"/>
                <a:cs typeface="Canva Student Font"/>
                <a:sym typeface="Canva Student Font"/>
              </a:rPr>
              <a:t>The</a:t>
            </a:r>
            <a:r>
              <a:rPr lang="en-US" sz="3800">
                <a:solidFill>
                  <a:srgbClr val="FF66C4"/>
                </a:solidFill>
                <a:latin typeface="Canva Student Font"/>
                <a:ea typeface="Canva Student Font"/>
                <a:cs typeface="Canva Student Font"/>
                <a:sym typeface="Canva Student Font"/>
              </a:rPr>
              <a:t> three states of data</a:t>
            </a:r>
          </a:p>
          <a:p>
            <a:pPr algn="l" marL="820424" indent="-410212" lvl="1">
              <a:lnSpc>
                <a:spcPts val="5320"/>
              </a:lnSpc>
              <a:spcBef>
                <a:spcPct val="0"/>
              </a:spcBef>
              <a:buFont typeface="Arial"/>
              <a:buChar char="•"/>
            </a:pPr>
            <a:r>
              <a:rPr lang="en-US" sz="3800">
                <a:solidFill>
                  <a:srgbClr val="FF66C4"/>
                </a:solidFill>
                <a:latin typeface="Canva Student Font"/>
                <a:ea typeface="Canva Student Font"/>
                <a:cs typeface="Canva Student Font"/>
                <a:sym typeface="Canva Student Font"/>
              </a:rPr>
              <a:t>Data at rest</a:t>
            </a:r>
            <a:r>
              <a:rPr lang="en-US" sz="3800">
                <a:solidFill>
                  <a:srgbClr val="000000"/>
                </a:solidFill>
                <a:latin typeface="Canva Student Font"/>
                <a:ea typeface="Canva Student Font"/>
                <a:cs typeface="Canva Student Font"/>
                <a:sym typeface="Canva Student Font"/>
              </a:rPr>
              <a:t>: data that is stored and not currently being transmitted. e.g. Hard drives, USB devices, backup tapes, cloud storage. Protection: Full disk, volume, file, or database encryption.</a:t>
            </a:r>
          </a:p>
          <a:p>
            <a:pPr algn="l" marL="820424" indent="-410212" lvl="1">
              <a:lnSpc>
                <a:spcPts val="5320"/>
              </a:lnSpc>
              <a:spcBef>
                <a:spcPct val="0"/>
              </a:spcBef>
              <a:buFont typeface="Arial"/>
              <a:buChar char="•"/>
            </a:pPr>
            <a:r>
              <a:rPr lang="en-US" sz="3800">
                <a:solidFill>
                  <a:srgbClr val="FF66C4"/>
                </a:solidFill>
                <a:latin typeface="Canva Student Font"/>
                <a:ea typeface="Canva Student Font"/>
                <a:cs typeface="Canva Student Font"/>
                <a:sym typeface="Canva Student Font"/>
              </a:rPr>
              <a:t>Data in transit</a:t>
            </a:r>
            <a:r>
              <a:rPr lang="en-US" sz="3800">
                <a:solidFill>
                  <a:srgbClr val="000000"/>
                </a:solidFill>
                <a:latin typeface="Canva Student Font"/>
                <a:ea typeface="Canva Student Font"/>
                <a:cs typeface="Canva Student Font"/>
                <a:sym typeface="Canva Student Font"/>
              </a:rPr>
              <a:t>: data moving between systems over a network. e.g. Online banking, email transmission, file transfers. Protection: TLS, IPsec, and WPA3 for supported Wi-Fi communications.</a:t>
            </a:r>
          </a:p>
          <a:p>
            <a:pPr algn="l" marL="820424" indent="-410212" lvl="1">
              <a:lnSpc>
                <a:spcPts val="5320"/>
              </a:lnSpc>
              <a:spcBef>
                <a:spcPct val="0"/>
              </a:spcBef>
              <a:buFont typeface="Arial"/>
              <a:buChar char="•"/>
            </a:pPr>
            <a:r>
              <a:rPr lang="en-US" sz="3800">
                <a:solidFill>
                  <a:srgbClr val="FF66C4"/>
                </a:solidFill>
                <a:latin typeface="Canva Student Font"/>
                <a:ea typeface="Canva Student Font"/>
                <a:cs typeface="Canva Student Font"/>
                <a:sym typeface="Canva Student Font"/>
              </a:rPr>
              <a:t>Data in use</a:t>
            </a:r>
            <a:r>
              <a:rPr lang="en-US" sz="3800">
                <a:solidFill>
                  <a:srgbClr val="000000"/>
                </a:solidFill>
                <a:latin typeface="Canva Student Font"/>
                <a:ea typeface="Canva Student Font"/>
                <a:cs typeface="Canva Student Font"/>
                <a:sym typeface="Canva Student Font"/>
              </a:rPr>
              <a:t>: data currently being processed by a computer, usually in memory. e.g. An open document, data being processed by an application, database records loaded into RAM. Protection: Access controls, process isolation, and specialised confidential-computing techniques.</a:t>
            </a:r>
          </a:p>
          <a:p>
            <a:pPr algn="l">
              <a:lnSpc>
                <a:spcPts val="5740"/>
              </a:lnSpc>
              <a:spcBef>
                <a:spcPct val="0"/>
              </a:spcBef>
            </a:pPr>
          </a:p>
          <a:p>
            <a:pPr algn="l" marL="885192" indent="-442596" lvl="1">
              <a:lnSpc>
                <a:spcPts val="5740"/>
              </a:lnSpc>
              <a:spcBef>
                <a:spcPct val="0"/>
              </a:spcBef>
              <a:buFont typeface="Arial"/>
              <a:buChar char="•"/>
            </a:pPr>
          </a:p>
        </p:txBody>
      </p:sp>
    </p:spTree>
  </p:cSld>
  <p:clrMapOvr>
    <a:masterClrMapping/>
  </p:clrMapOvr>
</p:sld>
</file>

<file path=ppt/slides/slide4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10125710"/>
          </a:xfrm>
          <a:prstGeom prst="rect">
            <a:avLst/>
          </a:prstGeom>
        </p:spPr>
        <p:txBody>
          <a:bodyPr anchor="t" rtlCol="false" tIns="0" lIns="0" bIns="0" rIns="0">
            <a:spAutoFit/>
          </a:bodyPr>
          <a:lstStyle/>
          <a:p>
            <a:pPr algn="ctr">
              <a:lnSpc>
                <a:spcPts val="5740"/>
              </a:lnSpc>
              <a:spcBef>
                <a:spcPct val="0"/>
              </a:spcBef>
            </a:pPr>
            <a:r>
              <a:rPr lang="en-US" sz="4100">
                <a:solidFill>
                  <a:srgbClr val="FF66C4"/>
                </a:solidFill>
                <a:latin typeface="Canva Student Font"/>
                <a:ea typeface="Canva Student Font"/>
                <a:cs typeface="Canva Student Font"/>
                <a:sym typeface="Canva Student Font"/>
              </a:rPr>
              <a:t>Types </a:t>
            </a:r>
            <a:r>
              <a:rPr lang="en-US" sz="4100">
                <a:solidFill>
                  <a:srgbClr val="FF66C4"/>
                </a:solidFill>
                <a:latin typeface="Canva Student Font"/>
                <a:ea typeface="Canva Student Font"/>
                <a:cs typeface="Canva Student Font"/>
                <a:sym typeface="Canva Student Font"/>
              </a:rPr>
              <a:t>of encryption</a:t>
            </a:r>
          </a:p>
          <a:p>
            <a:pPr algn="l" marL="885192" indent="-442596" lvl="1">
              <a:lnSpc>
                <a:spcPts val="5740"/>
              </a:lnSpc>
              <a:spcBef>
                <a:spcPct val="0"/>
              </a:spcBef>
              <a:buAutoNum type="arabicPeriod" startAt="1"/>
            </a:pPr>
            <a:r>
              <a:rPr lang="en-US" sz="4100">
                <a:solidFill>
                  <a:srgbClr val="FF66C4"/>
                </a:solidFill>
                <a:latin typeface="Canva Student Font"/>
                <a:ea typeface="Canva Student Font"/>
                <a:cs typeface="Canva Student Font"/>
                <a:sym typeface="Canva Student Font"/>
              </a:rPr>
              <a:t> Bulk encryption</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encrypts large amounts of data (MB or GB)</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symmetric ciphers: efficient for large data e.g. AES</a:t>
            </a:r>
          </a:p>
          <a:p>
            <a:pPr algn="l" marL="885192" indent="-442596" lvl="1">
              <a:lnSpc>
                <a:spcPts val="5740"/>
              </a:lnSpc>
              <a:spcBef>
                <a:spcPct val="0"/>
              </a:spcBef>
              <a:buAutoNum type="arabicPeriod" startAt="1"/>
            </a:pPr>
            <a:r>
              <a:rPr lang="en-US" sz="4100">
                <a:solidFill>
                  <a:srgbClr val="FF66C4"/>
                </a:solidFill>
                <a:latin typeface="Canva Student Font"/>
                <a:ea typeface="Canva Student Font"/>
                <a:cs typeface="Canva Student Font"/>
                <a:sym typeface="Canva Student Font"/>
              </a:rPr>
              <a:t> Full disk encryption (FDE)</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encrypts entire storage device including metadata and free space. guards against physical theft by requiring user credentials to unlock the decryption key.</a:t>
            </a:r>
          </a:p>
          <a:p>
            <a:pPr algn="l" marL="885192" indent="-442596" lvl="1">
              <a:lnSpc>
                <a:spcPts val="5740"/>
              </a:lnSpc>
              <a:spcBef>
                <a:spcPct val="0"/>
              </a:spcBef>
              <a:buAutoNum type="arabicPeriod" startAt="1"/>
            </a:pPr>
            <a:r>
              <a:rPr lang="en-US" sz="4100">
                <a:solidFill>
                  <a:srgbClr val="FF66C4"/>
                </a:solidFill>
                <a:latin typeface="Canva Student Font"/>
                <a:ea typeface="Canva Student Font"/>
                <a:cs typeface="Canva Student Font"/>
                <a:sym typeface="Canva Student Font"/>
              </a:rPr>
              <a:t>Self-encrypting drives (SEDs)</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have built-in encryption, not exposed to the OS. e.g. HDD, SSD, USB flash drives.</a:t>
            </a:r>
          </a:p>
          <a:p>
            <a:pPr algn="l" marL="885192" indent="-442596" lvl="1">
              <a:lnSpc>
                <a:spcPts val="5740"/>
              </a:lnSpc>
              <a:spcBef>
                <a:spcPct val="0"/>
              </a:spcBef>
              <a:buAutoNum type="arabicPeriod" startAt="1"/>
            </a:pPr>
            <a:r>
              <a:rPr lang="en-US" sz="4100">
                <a:solidFill>
                  <a:srgbClr val="FF66C4"/>
                </a:solidFill>
                <a:latin typeface="Canva Student Font"/>
                <a:ea typeface="Canva Student Font"/>
                <a:cs typeface="Canva Student Font"/>
                <a:sym typeface="Canva Student Font"/>
              </a:rPr>
              <a:t>partition encryption</a:t>
            </a:r>
          </a:p>
          <a:p>
            <a:pPr algn="l" marL="885192" indent="-442596" lvl="1">
              <a:lnSpc>
                <a:spcPts val="5740"/>
              </a:lnSpc>
              <a:spcBef>
                <a:spcPct val="0"/>
              </a:spcBef>
              <a:buFont typeface="Arial"/>
              <a:buChar char="•"/>
            </a:pPr>
            <a:r>
              <a:rPr lang="en-US" sz="4100">
                <a:solidFill>
                  <a:srgbClr val="000000"/>
                </a:solidFill>
                <a:latin typeface="Canva Student Font"/>
                <a:ea typeface="Canva Student Font"/>
                <a:cs typeface="Canva Student Font"/>
                <a:sym typeface="Canva Student Font"/>
              </a:rPr>
              <a:t> allows selective encryption for different partitions e.g. boot, system, data. </a:t>
            </a:r>
          </a:p>
        </p:txBody>
      </p:sp>
    </p:spTree>
  </p:cSld>
  <p:clrMapOvr>
    <a:masterClrMapping/>
  </p:clrMapOvr>
</p:sld>
</file>

<file path=ppt/slides/slide4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7230110"/>
          </a:xfrm>
          <a:prstGeom prst="rect">
            <a:avLst/>
          </a:prstGeom>
        </p:spPr>
        <p:txBody>
          <a:bodyPr anchor="t" rtlCol="false" tIns="0" lIns="0" bIns="0" rIns="0">
            <a:spAutoFit/>
          </a:bodyPr>
          <a:lstStyle/>
          <a:p>
            <a:pPr algn="ctr">
              <a:lnSpc>
                <a:spcPts val="5740"/>
              </a:lnSpc>
            </a:pPr>
            <a:r>
              <a:rPr lang="en-US" sz="4100">
                <a:solidFill>
                  <a:srgbClr val="000000"/>
                </a:solidFill>
                <a:latin typeface="Canva Student Font"/>
                <a:ea typeface="Canva Student Font"/>
                <a:cs typeface="Canva Student Font"/>
                <a:sym typeface="Canva Student Font"/>
              </a:rPr>
              <a:t>5. </a:t>
            </a:r>
            <a:r>
              <a:rPr lang="en-US" sz="4100">
                <a:solidFill>
                  <a:srgbClr val="FF66C4"/>
                </a:solidFill>
                <a:latin typeface="Canva Student Font"/>
                <a:ea typeface="Canva Student Font"/>
                <a:cs typeface="Canva Student Font"/>
                <a:sym typeface="Canva Student Font"/>
              </a:rPr>
              <a:t>volume encryption</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encrypts a storage resource with a single file system e.g. microsft bitlocker, apples filevault.</a:t>
            </a:r>
          </a:p>
          <a:p>
            <a:pPr algn="l">
              <a:lnSpc>
                <a:spcPts val="5740"/>
              </a:lnSpc>
            </a:pPr>
            <a:r>
              <a:rPr lang="en-US" sz="4100">
                <a:solidFill>
                  <a:srgbClr val="000000"/>
                </a:solidFill>
                <a:latin typeface="Canva Student Font"/>
                <a:ea typeface="Canva Student Font"/>
                <a:cs typeface="Canva Student Font"/>
                <a:sym typeface="Canva Student Font"/>
              </a:rPr>
              <a:t>                        6. </a:t>
            </a:r>
            <a:r>
              <a:rPr lang="en-US" sz="4100">
                <a:solidFill>
                  <a:srgbClr val="FF66C4"/>
                </a:solidFill>
                <a:latin typeface="Canva Student Font"/>
                <a:ea typeface="Canva Student Font"/>
                <a:cs typeface="Canva Student Font"/>
                <a:sym typeface="Canva Student Font"/>
              </a:rPr>
              <a:t>file encryption</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encrypts individual files or folders e.g. microsoft EFS.</a:t>
            </a:r>
          </a:p>
          <a:p>
            <a:pPr algn="ctr">
              <a:lnSpc>
                <a:spcPts val="5740"/>
              </a:lnSpc>
            </a:pPr>
            <a:r>
              <a:rPr lang="en-US" sz="4100">
                <a:solidFill>
                  <a:srgbClr val="000000"/>
                </a:solidFill>
                <a:latin typeface="Canva Student Font"/>
                <a:ea typeface="Canva Student Font"/>
                <a:cs typeface="Canva Student Font"/>
                <a:sym typeface="Canva Student Font"/>
              </a:rPr>
              <a:t>7. </a:t>
            </a:r>
            <a:r>
              <a:rPr lang="en-US" sz="4100">
                <a:solidFill>
                  <a:srgbClr val="FF66C4"/>
                </a:solidFill>
                <a:latin typeface="Canva Student Font"/>
                <a:ea typeface="Canva Student Font"/>
                <a:cs typeface="Canva Student Font"/>
                <a:sym typeface="Canva Student Font"/>
              </a:rPr>
              <a:t>database encryption</a:t>
            </a:r>
          </a:p>
          <a:p>
            <a:pPr algn="l" marL="885192" indent="-442596" lvl="1">
              <a:lnSpc>
                <a:spcPts val="5740"/>
              </a:lnSpc>
              <a:buFont typeface="Arial"/>
              <a:buChar char="•"/>
            </a:pPr>
            <a:r>
              <a:rPr lang="en-US" sz="4100">
                <a:solidFill>
                  <a:srgbClr val="000000"/>
                </a:solidFill>
                <a:latin typeface="Canva Student Font"/>
                <a:ea typeface="Canva Student Font"/>
                <a:cs typeface="Canva Student Font"/>
                <a:sym typeface="Canva Student Font"/>
              </a:rPr>
              <a:t>protects data stored in structured databases by encrypting data at various levels such as database-level, record-level, and cell/column level.</a:t>
            </a:r>
          </a:p>
          <a:p>
            <a:pPr algn="ctr">
              <a:lnSpc>
                <a:spcPts val="5740"/>
              </a:lnSpc>
              <a:spcBef>
                <a:spcPct val="0"/>
              </a:spcBef>
            </a:pPr>
          </a:p>
        </p:txBody>
      </p:sp>
    </p:spTree>
  </p:cSld>
  <p:clrMapOvr>
    <a:masterClrMapping/>
  </p:clrMapOvr>
</p:sld>
</file>

<file path=ppt/slides/slide4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0"/>
          <a:ext cx="10144602" cy="9906000"/>
        </p:xfrm>
        <a:graphic>
          <a:graphicData uri="http://schemas.openxmlformats.org/drawingml/2006/table">
            <a:tbl>
              <a:tblPr/>
              <a:tblGrid>
                <a:gridCol w="4116871"/>
                <a:gridCol w="2053660"/>
                <a:gridCol w="3974071"/>
              </a:tblGrid>
              <a:tr h="863312">
                <a:tc>
                  <a:txBody>
                    <a:bodyPr anchor="t" rtlCol="false"/>
                    <a:lstStyle/>
                    <a:p>
                      <a:pPr algn="ctr">
                        <a:lnSpc>
                          <a:spcPts val="3500"/>
                        </a:lnSpc>
                        <a:defRPr/>
                      </a:pPr>
                      <a:r>
                        <a:rPr lang="en-US" sz="2500">
                          <a:solidFill>
                            <a:srgbClr val="000000"/>
                          </a:solidFill>
                          <a:latin typeface="Canva Student Font"/>
                          <a:ea typeface="Canva Student Font"/>
                          <a:cs typeface="Canva Student Font"/>
                          <a:sym typeface="Canva Student Font"/>
                        </a:rPr>
                        <a:t>type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500"/>
                        </a:lnSpc>
                        <a:defRPr/>
                      </a:pPr>
                      <a:r>
                        <a:rPr lang="en-US" sz="2500">
                          <a:solidFill>
                            <a:srgbClr val="000000"/>
                          </a:solidFill>
                          <a:latin typeface="Canva Student Font"/>
                          <a:ea typeface="Canva Student Font"/>
                          <a:cs typeface="Canva Student Font"/>
                          <a:sym typeface="Canva Student Font"/>
                        </a:rPr>
                        <a:t>what it protects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500"/>
                        </a:lnSpc>
                        <a:defRPr/>
                      </a:pPr>
                      <a:r>
                        <a:rPr lang="en-US" sz="2500">
                          <a:solidFill>
                            <a:srgbClr val="000000"/>
                          </a:solidFill>
                          <a:latin typeface="Canva Student Font"/>
                          <a:ea typeface="Canva Student Font"/>
                          <a:cs typeface="Canva Student Font"/>
                          <a:sym typeface="Canva Student Font"/>
                        </a:rPr>
                        <a:t>key point</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4346413">
                <a:tc>
                  <a:txBody>
                    <a:bodyPr anchor="t" rtlCol="false"/>
                    <a:lstStyle/>
                    <a:p>
                      <a:pPr algn="ctr">
                        <a:lnSpc>
                          <a:spcPts val="3500"/>
                        </a:lnSpc>
                        <a:defRPr/>
                      </a:pPr>
                      <a:r>
                        <a:rPr lang="en-US" sz="2500">
                          <a:solidFill>
                            <a:srgbClr val="FF66C4"/>
                          </a:solidFill>
                          <a:latin typeface="Canva Student Font"/>
                          <a:ea typeface="Canva Student Font"/>
                          <a:cs typeface="Canva Student Font"/>
                          <a:sym typeface="Canva Student Font"/>
                        </a:rPr>
                        <a:t>Database-level encryption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500"/>
                        </a:lnSpc>
                        <a:defRPr/>
                      </a:pPr>
                      <a:endParaRPr lang="en-US" sz="1100"/>
                    </a:p>
                    <a:p>
                      <a:pPr algn="l">
                        <a:lnSpc>
                          <a:spcPts val="3500"/>
                        </a:lnSpc>
                      </a:pPr>
                      <a:r>
                        <a:rPr lang="en-US" sz="2500">
                          <a:solidFill>
                            <a:srgbClr val="000000"/>
                          </a:solidFill>
                          <a:latin typeface="Canva Student Font"/>
                          <a:ea typeface="Canva Student Font"/>
                          <a:cs typeface="Canva Student Font"/>
                          <a:sym typeface="Canva Student Font"/>
                        </a:rPr>
                        <a:t>Broadly protects database storage, often through transparent data encryption (TDE).</a:t>
                      </a:r>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500"/>
                        </a:lnSpc>
                        <a:defRPr/>
                      </a:pPr>
                      <a:r>
                        <a:rPr lang="en-US" sz="2500">
                          <a:solidFill>
                            <a:srgbClr val="000000"/>
                          </a:solidFill>
                          <a:latin typeface="Canva Student Font"/>
                          <a:ea typeface="Canva Student Font"/>
                          <a:cs typeface="Canva Student Font"/>
                          <a:sym typeface="Canva Student Font"/>
                        </a:rPr>
                        <a:t>Usually protects data files at rest, not necessarily data after it is decrypted for processing.</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709907">
                <a:tc>
                  <a:txBody>
                    <a:bodyPr anchor="t" rtlCol="false"/>
                    <a:lstStyle/>
                    <a:p>
                      <a:pPr algn="l">
                        <a:lnSpc>
                          <a:spcPts val="3500"/>
                        </a:lnSpc>
                        <a:defRPr/>
                      </a:pPr>
                      <a:r>
                        <a:rPr lang="en-US" sz="2500">
                          <a:solidFill>
                            <a:srgbClr val="FF66C4"/>
                          </a:solidFill>
                          <a:latin typeface="Canva Student Font"/>
                          <a:ea typeface="Canva Student Font"/>
                          <a:cs typeface="Canva Student Font"/>
                          <a:sym typeface="Canva Student Font"/>
                        </a:rPr>
                        <a:t>Record-level encryption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500"/>
                        </a:lnSpc>
                        <a:defRPr/>
                      </a:pPr>
                      <a:r>
                        <a:rPr lang="en-US" sz="2500">
                          <a:solidFill>
                            <a:srgbClr val="000000"/>
                          </a:solidFill>
                          <a:latin typeface="Canva Student Font"/>
                          <a:ea typeface="Canva Student Font"/>
                          <a:cs typeface="Canva Student Font"/>
                          <a:sym typeface="Canva Student Font"/>
                        </a:rPr>
                        <a:t>Protects individual records.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500"/>
                        </a:lnSpc>
                        <a:defRPr/>
                      </a:pPr>
                      <a:r>
                        <a:rPr lang="en-US" sz="2500">
                          <a:solidFill>
                            <a:srgbClr val="000000"/>
                          </a:solidFill>
                          <a:latin typeface="Canva Student Font"/>
                          <a:ea typeface="Canva Student Font"/>
                          <a:cs typeface="Canva Student Font"/>
                          <a:sym typeface="Canva Student Font"/>
                        </a:rPr>
                        <a:t>Different records can have separate protection requirements.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2986368">
                <a:tc>
                  <a:txBody>
                    <a:bodyPr anchor="t" rtlCol="false"/>
                    <a:lstStyle/>
                    <a:p>
                      <a:pPr algn="ctr">
                        <a:lnSpc>
                          <a:spcPts val="3500"/>
                        </a:lnSpc>
                        <a:defRPr/>
                      </a:pPr>
                      <a:r>
                        <a:rPr lang="en-US" sz="2500">
                          <a:solidFill>
                            <a:srgbClr val="FF66C4"/>
                          </a:solidFill>
                          <a:latin typeface="Canva Student Font"/>
                          <a:ea typeface="Canva Student Font"/>
                          <a:cs typeface="Canva Student Font"/>
                          <a:sym typeface="Canva Student Font"/>
                        </a:rPr>
                        <a:t>Cell/column-level encryption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500"/>
                        </a:lnSpc>
                        <a:defRPr/>
                      </a:pPr>
                      <a:r>
                        <a:rPr lang="en-US" sz="2500">
                          <a:solidFill>
                            <a:srgbClr val="000000"/>
                          </a:solidFill>
                          <a:latin typeface="Canva Student Font"/>
                          <a:ea typeface="Canva Student Font"/>
                          <a:cs typeface="Canva Student Font"/>
                          <a:sym typeface="Canva Student Font"/>
                        </a:rPr>
                        <a:t>Protects selected fields or columns.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500"/>
                        </a:lnSpc>
                        <a:defRPr/>
                      </a:pPr>
                      <a:r>
                        <a:rPr lang="en-US" sz="2500">
                          <a:solidFill>
                            <a:srgbClr val="000000"/>
                          </a:solidFill>
                          <a:latin typeface="Canva Student Font"/>
                          <a:ea typeface="Canva Student Font"/>
                          <a:cs typeface="Canva Student Font"/>
                          <a:sym typeface="Canva Student Font"/>
                        </a:rPr>
                        <a:t>Useful for highly sensitive values, such as identity or financial information.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Tree>
  </p:cSld>
  <p:clrMapOvr>
    <a:masterClrMapping/>
  </p:clrMapOvr>
</p:sld>
</file>

<file path=ppt/slides/slide4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85725"/>
            <a:ext cx="10287000" cy="6158865"/>
          </a:xfrm>
          <a:prstGeom prst="rect">
            <a:avLst/>
          </a:prstGeom>
        </p:spPr>
        <p:txBody>
          <a:bodyPr anchor="t" rtlCol="false" tIns="0" lIns="0" bIns="0" rIns="0">
            <a:spAutoFit/>
          </a:bodyPr>
          <a:lstStyle/>
          <a:p>
            <a:pPr algn="ctr">
              <a:lnSpc>
                <a:spcPts val="5460"/>
              </a:lnSpc>
              <a:spcBef>
                <a:spcPct val="0"/>
              </a:spcBef>
            </a:pPr>
            <a:r>
              <a:rPr lang="en-US" sz="3900">
                <a:solidFill>
                  <a:srgbClr val="000000"/>
                </a:solidFill>
                <a:latin typeface="Canva Student Font"/>
                <a:ea typeface="Canva Student Font"/>
                <a:cs typeface="Canva Student Font"/>
                <a:sym typeface="Canva Student Font"/>
              </a:rPr>
              <a:t> </a:t>
            </a:r>
            <a:r>
              <a:rPr lang="en-US" sz="3900">
                <a:solidFill>
                  <a:srgbClr val="FF66C4"/>
                </a:solidFill>
                <a:latin typeface="Canva Student Font"/>
                <a:ea typeface="Canva Student Font"/>
                <a:cs typeface="Canva Student Font"/>
                <a:sym typeface="Canva Student Font"/>
              </a:rPr>
              <a:t>Transp</a:t>
            </a:r>
            <a:r>
              <a:rPr lang="en-US" sz="3900">
                <a:solidFill>
                  <a:srgbClr val="FF66C4"/>
                </a:solidFill>
                <a:latin typeface="Canva Student Font"/>
                <a:ea typeface="Canva Student Font"/>
                <a:cs typeface="Canva Student Font"/>
                <a:sym typeface="Canva Student Font"/>
              </a:rPr>
              <a:t>ort encryption </a:t>
            </a:r>
          </a:p>
          <a:p>
            <a:pPr algn="l" marL="842013" indent="-421007" lvl="1">
              <a:lnSpc>
                <a:spcPts val="5460"/>
              </a:lnSpc>
              <a:spcBef>
                <a:spcPct val="0"/>
              </a:spcBef>
              <a:buFont typeface="Arial"/>
              <a:buChar char="•"/>
            </a:pPr>
            <a:r>
              <a:rPr lang="en-US" sz="3900">
                <a:solidFill>
                  <a:srgbClr val="000000"/>
                </a:solidFill>
                <a:latin typeface="Canva Student Font"/>
                <a:ea typeface="Canva Student Font"/>
                <a:cs typeface="Canva Student Font"/>
                <a:sym typeface="Canva Student Font"/>
              </a:rPr>
              <a:t> protects data as it travels across networks</a:t>
            </a:r>
          </a:p>
          <a:p>
            <a:pPr algn="l" marL="842013" indent="-421007" lvl="1">
              <a:lnSpc>
                <a:spcPts val="5460"/>
              </a:lnSpc>
              <a:spcBef>
                <a:spcPct val="0"/>
              </a:spcBef>
              <a:buFont typeface="Arial"/>
              <a:buChar char="•"/>
            </a:pPr>
            <a:r>
              <a:rPr lang="en-US" sz="3900">
                <a:solidFill>
                  <a:srgbClr val="000000"/>
                </a:solidFill>
                <a:latin typeface="Canva Student Font"/>
                <a:ea typeface="Canva Student Font"/>
                <a:cs typeface="Canva Student Font"/>
                <a:sym typeface="Canva Student Font"/>
              </a:rPr>
              <a:t>TLS (Transport Layer Security): Protects communications such as HTTPS connections between a browser and a website.</a:t>
            </a:r>
          </a:p>
          <a:p>
            <a:pPr algn="l" marL="842013" indent="-421007" lvl="1">
              <a:lnSpc>
                <a:spcPts val="5460"/>
              </a:lnSpc>
              <a:spcBef>
                <a:spcPct val="0"/>
              </a:spcBef>
              <a:buFont typeface="Arial"/>
              <a:buChar char="•"/>
            </a:pPr>
            <a:r>
              <a:rPr lang="en-US" sz="3900">
                <a:solidFill>
                  <a:srgbClr val="000000"/>
                </a:solidFill>
                <a:latin typeface="Canva Student Font"/>
                <a:ea typeface="Canva Student Font"/>
                <a:cs typeface="Canva Student Font"/>
                <a:sym typeface="Canva Student Font"/>
              </a:rPr>
              <a:t>IPsec: Protects IP network traffic, commonly for VPNs.</a:t>
            </a:r>
          </a:p>
          <a:p>
            <a:pPr algn="l" marL="842013" indent="-421007" lvl="1">
              <a:lnSpc>
                <a:spcPts val="5460"/>
              </a:lnSpc>
              <a:spcBef>
                <a:spcPct val="0"/>
              </a:spcBef>
              <a:buFont typeface="Arial"/>
              <a:buChar char="•"/>
            </a:pPr>
            <a:r>
              <a:rPr lang="en-US" sz="3900">
                <a:solidFill>
                  <a:srgbClr val="000000"/>
                </a:solidFill>
                <a:latin typeface="Canva Student Font"/>
                <a:ea typeface="Canva Student Font"/>
                <a:cs typeface="Canva Student Font"/>
                <a:sym typeface="Canva Student Font"/>
              </a:rPr>
              <a:t>WPA2/WPA3: Protects wireless network communications.</a:t>
            </a:r>
          </a:p>
          <a:p>
            <a:pPr algn="l">
              <a:lnSpc>
                <a:spcPts val="5460"/>
              </a:lnSpc>
              <a:spcBef>
                <a:spcPct val="0"/>
              </a:spcBef>
            </a:pPr>
            <a:r>
              <a:rPr lang="en-US" sz="3900">
                <a:solidFill>
                  <a:srgbClr val="000000"/>
                </a:solidFill>
                <a:latin typeface="Canva Student Font"/>
                <a:ea typeface="Canva Student Font"/>
                <a:cs typeface="Canva Student Font"/>
                <a:sym typeface="Canva Student Font"/>
              </a:rPr>
              <a:t>.</a:t>
            </a:r>
          </a:p>
          <a:p>
            <a:pPr algn="l">
              <a:lnSpc>
                <a:spcPts val="5460"/>
              </a:lnSpc>
              <a:spcBef>
                <a:spcPct val="0"/>
              </a:spcBef>
            </a:pPr>
          </a:p>
        </p:txBody>
      </p:sp>
      <p:sp>
        <p:nvSpPr>
          <p:cNvPr name="TextBox 3" id="3"/>
          <p:cNvSpPr txBox="true"/>
          <p:nvPr/>
        </p:nvSpPr>
        <p:spPr>
          <a:xfrm rot="0">
            <a:off x="0" y="4772233"/>
            <a:ext cx="10188795" cy="6158865"/>
          </a:xfrm>
          <a:prstGeom prst="rect">
            <a:avLst/>
          </a:prstGeom>
        </p:spPr>
        <p:txBody>
          <a:bodyPr anchor="t" rtlCol="false" tIns="0" lIns="0" bIns="0" rIns="0">
            <a:spAutoFit/>
          </a:bodyPr>
          <a:lstStyle/>
          <a:p>
            <a:pPr algn="ctr">
              <a:lnSpc>
                <a:spcPts val="5460"/>
              </a:lnSpc>
            </a:pPr>
            <a:r>
              <a:rPr lang="en-US" sz="3900">
                <a:solidFill>
                  <a:srgbClr val="FF66C4"/>
                </a:solidFill>
                <a:latin typeface="Canva Student Font"/>
                <a:ea typeface="Canva Student Font"/>
                <a:cs typeface="Canva Student Font"/>
                <a:sym typeface="Canva Student Font"/>
              </a:rPr>
              <a:t>key exchange</a:t>
            </a:r>
          </a:p>
          <a:p>
            <a:pPr algn="l" marL="842013" indent="-421007" lvl="1">
              <a:lnSpc>
                <a:spcPts val="5460"/>
              </a:lnSpc>
              <a:buFont typeface="Arial"/>
              <a:buChar char="•"/>
            </a:pPr>
            <a:r>
              <a:rPr lang="en-US" sz="3900">
                <a:solidFill>
                  <a:srgbClr val="000000"/>
                </a:solidFill>
                <a:latin typeface="Canva Student Font"/>
                <a:ea typeface="Canva Student Font"/>
                <a:cs typeface="Canva Student Font"/>
                <a:sym typeface="Canva Student Font"/>
              </a:rPr>
              <a:t>enable secure sharing of symmetric session keys</a:t>
            </a:r>
          </a:p>
          <a:p>
            <a:pPr algn="ctr">
              <a:lnSpc>
                <a:spcPts val="5460"/>
              </a:lnSpc>
            </a:pPr>
            <a:r>
              <a:rPr lang="en-US" sz="3900">
                <a:solidFill>
                  <a:srgbClr val="FF66C4"/>
                </a:solidFill>
                <a:latin typeface="Canva Student Font"/>
                <a:ea typeface="Canva Student Font"/>
                <a:cs typeface="Canva Student Font"/>
                <a:sym typeface="Canva Student Font"/>
              </a:rPr>
              <a:t>What protects integrity and authenticity?</a:t>
            </a:r>
          </a:p>
          <a:p>
            <a:pPr algn="l" marL="842013" indent="-421007" lvl="1">
              <a:lnSpc>
                <a:spcPts val="5460"/>
              </a:lnSpc>
              <a:buFont typeface="Arial"/>
              <a:buChar char="•"/>
            </a:pPr>
            <a:r>
              <a:rPr lang="en-US" sz="3900">
                <a:solidFill>
                  <a:srgbClr val="FF66C4"/>
                </a:solidFill>
                <a:latin typeface="Canva Student Font"/>
                <a:ea typeface="Canva Student Font"/>
                <a:cs typeface="Canva Student Font"/>
                <a:sym typeface="Canva Student Font"/>
              </a:rPr>
              <a:t>HMAC</a:t>
            </a:r>
            <a:r>
              <a:rPr lang="en-US" sz="3900">
                <a:solidFill>
                  <a:srgbClr val="000000"/>
                </a:solidFill>
                <a:latin typeface="Canva Student Font"/>
                <a:ea typeface="Canva Student Font"/>
                <a:cs typeface="Canva Student Font"/>
                <a:sym typeface="Canva Student Font"/>
              </a:rPr>
              <a:t>: Uses a secret key and a cryptographic hash function to help verify data integrity and authenticity.</a:t>
            </a:r>
          </a:p>
          <a:p>
            <a:pPr algn="l" marL="842013" indent="-421007" lvl="1">
              <a:lnSpc>
                <a:spcPts val="5460"/>
              </a:lnSpc>
              <a:buFont typeface="Arial"/>
              <a:buChar char="•"/>
            </a:pPr>
            <a:r>
              <a:rPr lang="en-US" sz="3900">
                <a:solidFill>
                  <a:srgbClr val="FF66C4"/>
                </a:solidFill>
                <a:latin typeface="Canva Student Font"/>
                <a:ea typeface="Canva Student Font"/>
                <a:cs typeface="Canva Student Font"/>
                <a:sym typeface="Canva Student Font"/>
              </a:rPr>
              <a:t>Authenticated encryption</a:t>
            </a:r>
            <a:r>
              <a:rPr lang="en-US" sz="3900">
                <a:solidFill>
                  <a:srgbClr val="000000"/>
                </a:solidFill>
                <a:latin typeface="Canva Student Font"/>
                <a:ea typeface="Canva Student Font"/>
                <a:cs typeface="Canva Student Font"/>
                <a:sym typeface="Canva Student Font"/>
              </a:rPr>
              <a:t>: Provides confidentiality and integrity, and may provide authenticity, when used correctly. AES-GCM is a common example.</a:t>
            </a:r>
          </a:p>
          <a:p>
            <a:pPr algn="l" marL="842013" indent="-421007" lvl="1">
              <a:lnSpc>
                <a:spcPts val="5460"/>
              </a:lnSpc>
              <a:spcBef>
                <a:spcPct val="0"/>
              </a:spcBef>
              <a:buFont typeface="Arial"/>
              <a:buChar char="•"/>
            </a:pPr>
          </a:p>
        </p:txBody>
      </p:sp>
    </p:spTree>
  </p:cSld>
  <p:clrMapOvr>
    <a:masterClrMapping/>
  </p:clrMapOvr>
</p:sld>
</file>

<file path=ppt/slides/slide4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067640" y="-95250"/>
            <a:ext cx="3513386" cy="715011"/>
          </a:xfrm>
          <a:prstGeom prst="rect">
            <a:avLst/>
          </a:prstGeom>
        </p:spPr>
        <p:txBody>
          <a:bodyPr anchor="t" rtlCol="false" tIns="0" lIns="0" bIns="0" rIns="0">
            <a:spAutoFit/>
          </a:bodyPr>
          <a:lstStyle/>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symmetric encryption</a:t>
            </a:r>
          </a:p>
        </p:txBody>
      </p:sp>
      <p:sp>
        <p:nvSpPr>
          <p:cNvPr name="TextBox 3" id="3"/>
          <p:cNvSpPr txBox="true"/>
          <p:nvPr/>
        </p:nvSpPr>
        <p:spPr>
          <a:xfrm rot="0">
            <a:off x="0" y="642620"/>
            <a:ext cx="10287000" cy="10560663"/>
          </a:xfrm>
          <a:prstGeom prst="rect">
            <a:avLst/>
          </a:prstGeom>
        </p:spPr>
        <p:txBody>
          <a:bodyPr anchor="t" rtlCol="false" tIns="0" lIns="0" bIns="0" rIns="0">
            <a:spAutoFit/>
          </a:bodyPr>
          <a:lstStyle/>
          <a:p>
            <a:pPr algn="l" marL="712467" indent="-356234" lvl="1">
              <a:lnSpc>
                <a:spcPts val="4619"/>
              </a:lnSpc>
              <a:spcBef>
                <a:spcPct val="0"/>
              </a:spcBef>
              <a:buFont typeface="Arial"/>
              <a:buChar char="•"/>
            </a:pPr>
            <a:r>
              <a:rPr lang="en-US" sz="3299">
                <a:solidFill>
                  <a:srgbClr val="000000"/>
                </a:solidFill>
                <a:latin typeface="Canva Student Font"/>
                <a:ea typeface="Canva Student Font"/>
                <a:cs typeface="Canva Student Font"/>
                <a:sym typeface="Canva Student Font"/>
              </a:rPr>
              <a:t>Symmet</a:t>
            </a:r>
            <a:r>
              <a:rPr lang="en-US" sz="3299">
                <a:solidFill>
                  <a:srgbClr val="000000"/>
                </a:solidFill>
                <a:latin typeface="Canva Student Font"/>
                <a:ea typeface="Canva Student Font"/>
                <a:cs typeface="Canva Student Font"/>
                <a:sym typeface="Canva Student Font"/>
              </a:rPr>
              <a:t>ric encryption uses the same shared secret key to encrypt and decrypt data.</a:t>
            </a:r>
          </a:p>
          <a:p>
            <a:pPr algn="ctr">
              <a:lnSpc>
                <a:spcPts val="4619"/>
              </a:lnSpc>
              <a:spcBef>
                <a:spcPct val="0"/>
              </a:spcBef>
            </a:pPr>
            <a:r>
              <a:rPr lang="en-US" sz="3299">
                <a:solidFill>
                  <a:srgbClr val="FF66C4"/>
                </a:solidFill>
                <a:latin typeface="Canva Student Font"/>
                <a:ea typeface="Canva Student Font"/>
                <a:cs typeface="Canva Student Font"/>
                <a:sym typeface="Canva Student Font"/>
              </a:rPr>
              <a:t>Sender</a:t>
            </a:r>
          </a:p>
          <a:p>
            <a:pPr algn="ctr">
              <a:lnSpc>
                <a:spcPts val="4619"/>
              </a:lnSpc>
              <a:spcBef>
                <a:spcPct val="0"/>
              </a:spcBef>
            </a:pPr>
            <a:r>
              <a:rPr lang="en-US" sz="3299">
                <a:solidFill>
                  <a:srgbClr val="000000"/>
                </a:solidFill>
                <a:latin typeface="Canva Student Font"/>
                <a:ea typeface="Canva Student Font"/>
                <a:cs typeface="Canva Student Font"/>
                <a:sym typeface="Canva Student Font"/>
              </a:rPr>
              <a:t>Original message: plaintext</a:t>
            </a:r>
          </a:p>
          <a:p>
            <a:pPr algn="ctr">
              <a:lnSpc>
                <a:spcPts val="4619"/>
              </a:lnSpc>
              <a:spcBef>
                <a:spcPct val="0"/>
              </a:spcBef>
            </a:pPr>
          </a:p>
          <a:p>
            <a:pPr algn="ctr">
              <a:lnSpc>
                <a:spcPts val="4619"/>
              </a:lnSpc>
              <a:spcBef>
                <a:spcPct val="0"/>
              </a:spcBef>
            </a:pPr>
            <a:r>
              <a:rPr lang="en-US" sz="3299">
                <a:solidFill>
                  <a:srgbClr val="FF66C4"/>
                </a:solidFill>
                <a:latin typeface="Canva Student Font"/>
                <a:ea typeface="Canva Student Font"/>
                <a:cs typeface="Canva Student Font"/>
                <a:sym typeface="Canva Student Font"/>
              </a:rPr>
              <a:t>Shared secret key + encryption algorithm</a:t>
            </a:r>
          </a:p>
          <a:p>
            <a:pPr algn="ctr">
              <a:lnSpc>
                <a:spcPts val="4619"/>
              </a:lnSpc>
              <a:spcBef>
                <a:spcPct val="0"/>
              </a:spcBef>
            </a:pPr>
            <a:r>
              <a:rPr lang="en-US" sz="3299">
                <a:solidFill>
                  <a:srgbClr val="000000"/>
                </a:solidFill>
                <a:latin typeface="Canva Student Font"/>
                <a:ea typeface="Canva Student Font"/>
                <a:cs typeface="Canva Student Font"/>
                <a:sym typeface="Canva Student Font"/>
              </a:rPr>
              <a:t>Encrypts the message</a:t>
            </a:r>
          </a:p>
          <a:p>
            <a:pPr algn="ctr">
              <a:lnSpc>
                <a:spcPts val="4619"/>
              </a:lnSpc>
              <a:spcBef>
                <a:spcPct val="0"/>
              </a:spcBef>
            </a:pPr>
          </a:p>
          <a:p>
            <a:pPr algn="ctr">
              <a:lnSpc>
                <a:spcPts val="4619"/>
              </a:lnSpc>
              <a:spcBef>
                <a:spcPct val="0"/>
              </a:spcBef>
            </a:pPr>
            <a:r>
              <a:rPr lang="en-US" sz="3299">
                <a:solidFill>
                  <a:srgbClr val="FF66C4"/>
                </a:solidFill>
                <a:latin typeface="Canva Student Font"/>
                <a:ea typeface="Canva Student Font"/>
                <a:cs typeface="Canva Student Font"/>
                <a:sym typeface="Canva Student Font"/>
              </a:rPr>
              <a:t>Ciphertext</a:t>
            </a:r>
          </a:p>
          <a:p>
            <a:pPr algn="ctr">
              <a:lnSpc>
                <a:spcPts val="4619"/>
              </a:lnSpc>
              <a:spcBef>
                <a:spcPct val="0"/>
              </a:spcBef>
            </a:pPr>
            <a:r>
              <a:rPr lang="en-US" sz="3299">
                <a:solidFill>
                  <a:srgbClr val="000000"/>
                </a:solidFill>
                <a:latin typeface="Canva Student Font"/>
                <a:ea typeface="Canva Student Font"/>
                <a:cs typeface="Canva Student Font"/>
                <a:sym typeface="Canva Student Font"/>
              </a:rPr>
              <a:t>Encrypted message sent to the receiver</a:t>
            </a:r>
          </a:p>
          <a:p>
            <a:pPr algn="ctr">
              <a:lnSpc>
                <a:spcPts val="4619"/>
              </a:lnSpc>
              <a:spcBef>
                <a:spcPct val="0"/>
              </a:spcBef>
            </a:pPr>
          </a:p>
          <a:p>
            <a:pPr algn="ctr">
              <a:lnSpc>
                <a:spcPts val="4619"/>
              </a:lnSpc>
              <a:spcBef>
                <a:spcPct val="0"/>
              </a:spcBef>
            </a:pPr>
            <a:r>
              <a:rPr lang="en-US" sz="3299">
                <a:solidFill>
                  <a:srgbClr val="FF66C4"/>
                </a:solidFill>
                <a:latin typeface="Canva Student Font"/>
                <a:ea typeface="Canva Student Font"/>
                <a:cs typeface="Canva Student Font"/>
                <a:sym typeface="Canva Student Font"/>
              </a:rPr>
              <a:t>Same shared secret key + decryption algorithm</a:t>
            </a:r>
          </a:p>
          <a:p>
            <a:pPr algn="ctr">
              <a:lnSpc>
                <a:spcPts val="4619"/>
              </a:lnSpc>
              <a:spcBef>
                <a:spcPct val="0"/>
              </a:spcBef>
            </a:pPr>
            <a:r>
              <a:rPr lang="en-US" sz="3299">
                <a:solidFill>
                  <a:srgbClr val="000000"/>
                </a:solidFill>
                <a:latin typeface="Canva Student Font"/>
                <a:ea typeface="Canva Student Font"/>
                <a:cs typeface="Canva Student Font"/>
                <a:sym typeface="Canva Student Font"/>
              </a:rPr>
              <a:t>Decrypts the message</a:t>
            </a:r>
          </a:p>
          <a:p>
            <a:pPr algn="ctr">
              <a:lnSpc>
                <a:spcPts val="4619"/>
              </a:lnSpc>
              <a:spcBef>
                <a:spcPct val="0"/>
              </a:spcBef>
            </a:pPr>
          </a:p>
          <a:p>
            <a:pPr algn="ctr">
              <a:lnSpc>
                <a:spcPts val="420"/>
              </a:lnSpc>
              <a:spcBef>
                <a:spcPct val="0"/>
              </a:spcBef>
            </a:pPr>
          </a:p>
          <a:p>
            <a:pPr algn="ctr">
              <a:lnSpc>
                <a:spcPts val="4619"/>
              </a:lnSpc>
              <a:spcBef>
                <a:spcPct val="0"/>
              </a:spcBef>
            </a:pPr>
            <a:r>
              <a:rPr lang="en-US" sz="3299">
                <a:solidFill>
                  <a:srgbClr val="FF66C4"/>
                </a:solidFill>
                <a:latin typeface="Canva Student Font"/>
                <a:ea typeface="Canva Student Font"/>
                <a:cs typeface="Canva Student Font"/>
                <a:sym typeface="Canva Student Font"/>
              </a:rPr>
              <a:t>Receiver</a:t>
            </a:r>
          </a:p>
          <a:p>
            <a:pPr algn="ctr">
              <a:lnSpc>
                <a:spcPts val="4619"/>
              </a:lnSpc>
              <a:spcBef>
                <a:spcPct val="0"/>
              </a:spcBef>
            </a:pPr>
            <a:r>
              <a:rPr lang="en-US" sz="3299">
                <a:solidFill>
                  <a:srgbClr val="000000"/>
                </a:solidFill>
                <a:latin typeface="Canva Student Font"/>
                <a:ea typeface="Canva Student Font"/>
                <a:cs typeface="Canva Student Font"/>
                <a:sym typeface="Canva Student Font"/>
              </a:rPr>
              <a:t>Recovers the original plaintext</a:t>
            </a:r>
          </a:p>
          <a:p>
            <a:pPr algn="l">
              <a:lnSpc>
                <a:spcPts val="4619"/>
              </a:lnSpc>
              <a:spcBef>
                <a:spcPct val="0"/>
              </a:spcBef>
            </a:pPr>
          </a:p>
          <a:p>
            <a:pPr algn="l">
              <a:lnSpc>
                <a:spcPts val="4619"/>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85725"/>
            <a:ext cx="10287000" cy="10657206"/>
          </a:xfrm>
          <a:prstGeom prst="rect">
            <a:avLst/>
          </a:prstGeom>
        </p:spPr>
        <p:txBody>
          <a:bodyPr anchor="t" rtlCol="false" tIns="0" lIns="0" bIns="0" rIns="0">
            <a:spAutoFit/>
          </a:bodyPr>
          <a:lstStyle/>
          <a:p>
            <a:pPr algn="l" marL="820414" indent="-410207" lvl="1">
              <a:lnSpc>
                <a:spcPts val="5319"/>
              </a:lnSpc>
              <a:buFont typeface="Arial"/>
              <a:buChar char="•"/>
            </a:pPr>
            <a:r>
              <a:rPr lang="en-US" sz="3799">
                <a:solidFill>
                  <a:srgbClr val="FF66C4"/>
                </a:solidFill>
                <a:latin typeface="Canva Student Font"/>
                <a:ea typeface="Canva Student Font"/>
                <a:cs typeface="Canva Student Font"/>
                <a:sym typeface="Canva Student Font"/>
              </a:rPr>
              <a:t>symmetric algorithms</a:t>
            </a:r>
            <a:r>
              <a:rPr lang="en-US" sz="3799">
                <a:solidFill>
                  <a:srgbClr val="000000"/>
                </a:solidFill>
                <a:latin typeface="Canva Student Font"/>
                <a:ea typeface="Canva Student Font"/>
                <a:cs typeface="Canva Student Font"/>
                <a:sym typeface="Canva Student Font"/>
              </a:rPr>
              <a:t>: agreement on cipher/key, emcryption, transmission, decryption, fast, suitable for large data. secure method needed for key exchange.</a:t>
            </a:r>
          </a:p>
          <a:p>
            <a:pPr algn="l" marL="820414" indent="-410207" lvl="1">
              <a:lnSpc>
                <a:spcPts val="5319"/>
              </a:lnSpc>
              <a:buFont typeface="Arial"/>
              <a:buChar char="•"/>
            </a:pPr>
            <a:r>
              <a:rPr lang="en-US" sz="3799">
                <a:solidFill>
                  <a:srgbClr val="000000"/>
                </a:solidFill>
                <a:latin typeface="Canva Student Font"/>
                <a:ea typeface="Canva Student Font"/>
                <a:cs typeface="Canva Student Font"/>
                <a:sym typeface="Canva Student Font"/>
              </a:rPr>
              <a:t>For integrity and authenticity, systems can combine encryption with a message authentication code (MAC), or use authenticated encryption such as AES-GCM.</a:t>
            </a:r>
          </a:p>
          <a:p>
            <a:pPr algn="l" marL="820414" indent="-410207" lvl="1">
              <a:lnSpc>
                <a:spcPts val="5319"/>
              </a:lnSpc>
              <a:buFont typeface="Arial"/>
              <a:buChar char="•"/>
            </a:pPr>
            <a:r>
              <a:rPr lang="en-US" sz="3799">
                <a:solidFill>
                  <a:srgbClr val="FF66C4"/>
                </a:solidFill>
                <a:latin typeface="Canva Student Font"/>
                <a:ea typeface="Canva Student Font"/>
                <a:cs typeface="Canva Student Font"/>
                <a:sym typeface="Canva Student Font"/>
              </a:rPr>
              <a:t>Substitution cipher</a:t>
            </a:r>
            <a:r>
              <a:rPr lang="en-US" sz="3799">
                <a:solidFill>
                  <a:srgbClr val="000000"/>
                </a:solidFill>
                <a:latin typeface="Canva Student Font"/>
                <a:ea typeface="Canva Student Font"/>
                <a:cs typeface="Canva Student Font"/>
                <a:sym typeface="Canva Student Font"/>
              </a:rPr>
              <a:t>: Replaces characters or groups of characters with different characters. e.g. ROT13 changes HELLO to URYYB.</a:t>
            </a:r>
          </a:p>
          <a:p>
            <a:pPr algn="l" marL="820414" indent="-410207" lvl="1">
              <a:lnSpc>
                <a:spcPts val="5319"/>
              </a:lnSpc>
              <a:buFont typeface="Arial"/>
              <a:buChar char="•"/>
            </a:pPr>
            <a:r>
              <a:rPr lang="en-US" sz="3799">
                <a:solidFill>
                  <a:srgbClr val="FF66C4"/>
                </a:solidFill>
                <a:latin typeface="Canva Student Font"/>
                <a:ea typeface="Canva Student Font"/>
                <a:cs typeface="Canva Student Font"/>
                <a:sym typeface="Canva Student Font"/>
              </a:rPr>
              <a:t>Transposition cipher</a:t>
            </a:r>
            <a:r>
              <a:rPr lang="en-US" sz="3799">
                <a:solidFill>
                  <a:srgbClr val="000000"/>
                </a:solidFill>
                <a:latin typeface="Canva Student Font"/>
                <a:ea typeface="Canva Student Font"/>
                <a:cs typeface="Canva Student Font"/>
                <a:sym typeface="Canva Student Font"/>
              </a:rPr>
              <a:t>: Keeps the original characters but changes their positions. e.g. TEAM could be rearranged to META.</a:t>
            </a:r>
          </a:p>
          <a:p>
            <a:pPr algn="l" marL="820414" indent="-410207" lvl="1">
              <a:lnSpc>
                <a:spcPts val="5319"/>
              </a:lnSpc>
              <a:buFont typeface="Arial"/>
              <a:buChar char="•"/>
            </a:pPr>
            <a:r>
              <a:rPr lang="en-US" sz="3799">
                <a:solidFill>
                  <a:srgbClr val="FF66C4"/>
                </a:solidFill>
                <a:latin typeface="Canva Student Font"/>
                <a:ea typeface="Canva Student Font"/>
                <a:cs typeface="Canva Student Font"/>
                <a:sym typeface="Canva Student Font"/>
              </a:rPr>
              <a:t>Modern algorithms</a:t>
            </a:r>
            <a:r>
              <a:rPr lang="en-US" sz="3799">
                <a:solidFill>
                  <a:srgbClr val="000000"/>
                </a:solidFill>
                <a:latin typeface="Canva Student Font"/>
                <a:ea typeface="Canva Student Font"/>
                <a:cs typeface="Canva Student Font"/>
                <a:sym typeface="Canva Student Font"/>
              </a:rPr>
              <a:t> such as AES combine multiple rounds of transformations, including substitution and permutation, to provide strong cryptographic protection.</a:t>
            </a:r>
          </a:p>
          <a:p>
            <a:pPr algn="l">
              <a:lnSpc>
                <a:spcPts val="5319"/>
              </a:lnSpc>
              <a:spcBef>
                <a:spcPct val="0"/>
              </a:spcBef>
            </a:pPr>
          </a:p>
        </p:txBody>
      </p:sp>
    </p:spTree>
  </p:cSld>
  <p:clrMapOvr>
    <a:masterClrMapping/>
  </p:clrMapOvr>
</p:sld>
</file>

<file path=ppt/slides/slide4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39611"/>
            <a:ext cx="10287000" cy="2098676"/>
          </a:xfrm>
          <a:prstGeom prst="rect">
            <a:avLst/>
          </a:prstGeom>
        </p:spPr>
        <p:txBody>
          <a:bodyPr anchor="t" rtlCol="false" tIns="0" lIns="0" bIns="0" rIns="0">
            <a:spAutoFit/>
          </a:bodyPr>
          <a:lstStyle/>
          <a:p>
            <a:pPr algn="l" marL="863595" indent="-431797" lvl="1">
              <a:lnSpc>
                <a:spcPts val="5599"/>
              </a:lnSpc>
              <a:buFont typeface="Arial"/>
              <a:buChar char="•"/>
            </a:pPr>
            <a:r>
              <a:rPr lang="en-US" sz="3999">
                <a:solidFill>
                  <a:srgbClr val="000000"/>
                </a:solidFill>
                <a:latin typeface="Canva Student Font"/>
                <a:ea typeface="Canva Student Font"/>
                <a:cs typeface="Canva Student Font"/>
                <a:sym typeface="Canva Student Font"/>
              </a:rPr>
              <a:t>AES, DES, 3DES</a:t>
            </a:r>
          </a:p>
          <a:p>
            <a:pPr algn="l" marL="863595" indent="-431797" lvl="1">
              <a:lnSpc>
                <a:spcPts val="5599"/>
              </a:lnSpc>
              <a:spcBef>
                <a:spcPct val="0"/>
              </a:spcBef>
              <a:buFont typeface="Arial"/>
              <a:buChar char="•"/>
            </a:pPr>
            <a:r>
              <a:rPr lang="en-US" sz="3999">
                <a:solidFill>
                  <a:srgbClr val="000000"/>
                </a:solidFill>
                <a:latin typeface="Canva Student Font"/>
                <a:ea typeface="Canva Student Font"/>
                <a:cs typeface="Canva Student Font"/>
                <a:sym typeface="Canva Student Font"/>
              </a:rPr>
              <a:t>The AES cipher allows the use of three key strengths: 128 bits, 192 bits, and 256 bits.</a:t>
            </a:r>
          </a:p>
        </p:txBody>
      </p:sp>
      <p:sp>
        <p:nvSpPr>
          <p:cNvPr name="TextBox 3" id="3"/>
          <p:cNvSpPr txBox="true"/>
          <p:nvPr/>
        </p:nvSpPr>
        <p:spPr>
          <a:xfrm rot="0">
            <a:off x="0" y="1982864"/>
            <a:ext cx="10287000" cy="8180706"/>
          </a:xfrm>
          <a:prstGeom prst="rect">
            <a:avLst/>
          </a:prstGeom>
        </p:spPr>
        <p:txBody>
          <a:bodyPr anchor="t" rtlCol="false" tIns="0" lIns="0" bIns="0" rIns="0">
            <a:spAutoFit/>
          </a:bodyPr>
          <a:lstStyle/>
          <a:p>
            <a:pPr algn="ctr">
              <a:lnSpc>
                <a:spcPts val="5179"/>
              </a:lnSpc>
            </a:pPr>
            <a:r>
              <a:rPr lang="en-US" sz="3699">
                <a:solidFill>
                  <a:srgbClr val="FF66C4"/>
                </a:solidFill>
                <a:latin typeface="Canva Student Font"/>
                <a:ea typeface="Canva Student Font"/>
                <a:cs typeface="Canva Student Font"/>
                <a:sym typeface="Canva Student Font"/>
              </a:rPr>
              <a:t>Key length</a:t>
            </a:r>
          </a:p>
          <a:p>
            <a:pPr algn="l" marL="842005" indent="-421003" lvl="1">
              <a:lnSpc>
                <a:spcPts val="5459"/>
              </a:lnSpc>
              <a:buFont typeface="Arial"/>
              <a:buChar char="•"/>
            </a:pPr>
            <a:r>
              <a:rPr lang="en-US" sz="3899">
                <a:solidFill>
                  <a:srgbClr val="000000"/>
                </a:solidFill>
                <a:latin typeface="Canva Student Font"/>
                <a:ea typeface="Canva Student Font"/>
                <a:cs typeface="Canva Student Font"/>
                <a:sym typeface="Canva Student Font"/>
              </a:rPr>
              <a:t>A </a:t>
            </a:r>
            <a:r>
              <a:rPr lang="en-US" sz="3899">
                <a:solidFill>
                  <a:srgbClr val="FF66C4"/>
                </a:solidFill>
                <a:latin typeface="Canva Student Font"/>
                <a:ea typeface="Canva Student Font"/>
                <a:cs typeface="Canva Student Font"/>
                <a:sym typeface="Canva Student Font"/>
              </a:rPr>
              <a:t>cryptographic key </a:t>
            </a:r>
            <a:r>
              <a:rPr lang="en-US" sz="3899">
                <a:solidFill>
                  <a:srgbClr val="000000"/>
                </a:solidFill>
                <a:latin typeface="Canva Student Font"/>
                <a:ea typeface="Canva Student Font"/>
                <a:cs typeface="Canva Student Font"/>
                <a:sym typeface="Canva Student Font"/>
              </a:rPr>
              <a:t>is a value used by an encryption algorithm to encrypt or decrypt data.</a:t>
            </a:r>
          </a:p>
          <a:p>
            <a:pPr algn="l" marL="842005" indent="-421003" lvl="1">
              <a:lnSpc>
                <a:spcPts val="5459"/>
              </a:lnSpc>
              <a:buFont typeface="Arial"/>
              <a:buChar char="•"/>
            </a:pPr>
            <a:r>
              <a:rPr lang="en-US" sz="3899">
                <a:solidFill>
                  <a:srgbClr val="FF66C4"/>
                </a:solidFill>
                <a:latin typeface="Canva Student Font"/>
                <a:ea typeface="Canva Student Font"/>
                <a:cs typeface="Canva Student Font"/>
                <a:sym typeface="Canva Student Font"/>
              </a:rPr>
              <a:t>Key length</a:t>
            </a:r>
            <a:r>
              <a:rPr lang="en-US" sz="3899">
                <a:solidFill>
                  <a:srgbClr val="000000"/>
                </a:solidFill>
                <a:latin typeface="Canva Student Font"/>
                <a:ea typeface="Canva Student Font"/>
                <a:cs typeface="Canva Student Font"/>
                <a:sym typeface="Canva Student Font"/>
              </a:rPr>
              <a:t>: The number of bits in a cryptographic key.</a:t>
            </a:r>
          </a:p>
          <a:p>
            <a:pPr algn="l" marL="842005" indent="-421003" lvl="1">
              <a:lnSpc>
                <a:spcPts val="5459"/>
              </a:lnSpc>
              <a:buFont typeface="Arial"/>
              <a:buChar char="•"/>
            </a:pPr>
            <a:r>
              <a:rPr lang="en-US" sz="3899">
                <a:solidFill>
                  <a:srgbClr val="FF66C4"/>
                </a:solidFill>
                <a:latin typeface="Canva Student Font"/>
                <a:ea typeface="Canva Student Font"/>
                <a:cs typeface="Canva Student Font"/>
                <a:sym typeface="Canva Student Font"/>
              </a:rPr>
              <a:t>Key space</a:t>
            </a:r>
            <a:r>
              <a:rPr lang="en-US" sz="3899">
                <a:solidFill>
                  <a:srgbClr val="000000"/>
                </a:solidFill>
                <a:latin typeface="Canva Student Font"/>
                <a:ea typeface="Canva Student Font"/>
                <a:cs typeface="Canva Student Font"/>
                <a:sym typeface="Canva Student Font"/>
              </a:rPr>
              <a:t>: The total number of possible keys an attacker might have to try.</a:t>
            </a:r>
          </a:p>
          <a:p>
            <a:pPr algn="l" marL="842005" indent="-421003" lvl="1">
              <a:lnSpc>
                <a:spcPts val="5459"/>
              </a:lnSpc>
              <a:buFont typeface="Arial"/>
              <a:buChar char="•"/>
            </a:pPr>
            <a:r>
              <a:rPr lang="en-US" sz="3899">
                <a:solidFill>
                  <a:srgbClr val="000000"/>
                </a:solidFill>
                <a:latin typeface="Canva Student Font"/>
                <a:ea typeface="Canva Student Font"/>
                <a:cs typeface="Canva Student Font"/>
                <a:sym typeface="Canva Student Font"/>
              </a:rPr>
              <a:t>The longer the key, the more possible combinations an attacker may need to test in a brute-force attack.</a:t>
            </a:r>
          </a:p>
          <a:p>
            <a:pPr algn="l" marL="842005" indent="-421003" lvl="1">
              <a:lnSpc>
                <a:spcPts val="5459"/>
              </a:lnSpc>
              <a:buFont typeface="Arial"/>
              <a:buChar char="•"/>
            </a:pPr>
            <a:r>
              <a:rPr lang="en-US" sz="3899">
                <a:solidFill>
                  <a:srgbClr val="000000"/>
                </a:solidFill>
                <a:latin typeface="Canva Student Font"/>
                <a:ea typeface="Canva Student Font"/>
                <a:cs typeface="Canva Student Font"/>
                <a:sym typeface="Canva Student Font"/>
              </a:rPr>
              <a:t>e.g. AES-128 </a:t>
            </a:r>
            <a:r>
              <a:rPr lang="en-US" sz="3899">
                <a:solidFill>
                  <a:srgbClr val="000000"/>
                </a:solidFill>
                <a:latin typeface="Canva Student Font"/>
                <a:ea typeface="Canva Student Font"/>
                <a:cs typeface="Canva Student Font"/>
                <a:sym typeface="Canva Student Font"/>
              </a:rPr>
              <a:t>Key space: (2^{128}) possible keys</a:t>
            </a:r>
          </a:p>
          <a:p>
            <a:pPr algn="l" marL="842005" indent="-421003" lvl="1">
              <a:lnSpc>
                <a:spcPts val="5459"/>
              </a:lnSpc>
              <a:buFont typeface="Arial"/>
              <a:buChar char="•"/>
            </a:pPr>
            <a:r>
              <a:rPr lang="en-US" sz="3899">
                <a:solidFill>
                  <a:srgbClr val="000000"/>
                </a:solidFill>
                <a:latin typeface="Canva Student Font"/>
                <a:ea typeface="Canva Student Font"/>
                <a:cs typeface="Canva Student Font"/>
                <a:sym typeface="Canva Student Font"/>
              </a:rPr>
              <a:t>larger keys provide stronger security but also consider performance and the algorithm's design.</a:t>
            </a:r>
          </a:p>
          <a:p>
            <a:pPr algn="l">
              <a:lnSpc>
                <a:spcPts val="5459"/>
              </a:lnSpc>
              <a:spcBef>
                <a:spcPct val="0"/>
              </a:spcBef>
            </a:pPr>
          </a:p>
        </p:txBody>
      </p:sp>
    </p:spTree>
  </p:cSld>
  <p:clrMapOvr>
    <a:masterClrMapping/>
  </p:clrMapOvr>
</p:sld>
</file>

<file path=ppt/slides/slide5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7954011"/>
          </a:xfrm>
          <a:prstGeom prst="rect">
            <a:avLst/>
          </a:prstGeom>
        </p:spPr>
        <p:txBody>
          <a:bodyPr anchor="t" rtlCol="false" tIns="0" lIns="0" bIns="0" rIns="0">
            <a:spAutoFit/>
          </a:bodyPr>
          <a:lstStyle/>
          <a:p>
            <a:pPr algn="l" marL="885184" indent="-442592" lvl="1">
              <a:lnSpc>
                <a:spcPts val="5739"/>
              </a:lnSpc>
              <a:spcBef>
                <a:spcPct val="0"/>
              </a:spcBef>
              <a:buFont typeface="Arial"/>
              <a:buChar char="•"/>
            </a:pPr>
            <a:r>
              <a:rPr lang="en-US" sz="4099">
                <a:solidFill>
                  <a:srgbClr val="000000"/>
                </a:solidFill>
                <a:latin typeface="Canva Student Font"/>
                <a:ea typeface="Canva Student Font"/>
                <a:cs typeface="Canva Student Font"/>
                <a:sym typeface="Canva Student Font"/>
              </a:rPr>
              <a:t>Key sizes from different crypt</a:t>
            </a:r>
            <a:r>
              <a:rPr lang="en-US" sz="4099">
                <a:solidFill>
                  <a:srgbClr val="000000"/>
                </a:solidFill>
                <a:latin typeface="Canva Student Font"/>
                <a:ea typeface="Canva Student Font"/>
                <a:cs typeface="Canva Student Font"/>
                <a:sym typeface="Canva Student Font"/>
              </a:rPr>
              <a:t>ographic algorithms are not directly equivalent.</a:t>
            </a:r>
          </a:p>
          <a:p>
            <a:pPr algn="l" marL="885184" indent="-442592" lvl="1">
              <a:lnSpc>
                <a:spcPts val="5739"/>
              </a:lnSpc>
              <a:spcBef>
                <a:spcPct val="0"/>
              </a:spcBef>
              <a:buFont typeface="Arial"/>
              <a:buChar char="•"/>
            </a:pPr>
            <a:r>
              <a:rPr lang="en-US" sz="4099">
                <a:solidFill>
                  <a:srgbClr val="000000"/>
                </a:solidFill>
                <a:latin typeface="Canva Student Font"/>
                <a:ea typeface="Canva Student Font"/>
                <a:cs typeface="Canva Student Font"/>
                <a:sym typeface="Canva Student Font"/>
              </a:rPr>
              <a:t>For example, RSA and elliptic-curve cryptography (ECC) achieve comparable security with different key lengths. An RSA key of 1,024 bits is not a modern secure recommendation; it is too weak for current security needs. RSA-2048 is a common minimum baseline, while ECC can provide comparable security with much shorter keys.</a:t>
            </a:r>
          </a:p>
          <a:p>
            <a:pPr algn="l" marL="885184" indent="-442592" lvl="1">
              <a:lnSpc>
                <a:spcPts val="5739"/>
              </a:lnSpc>
              <a:spcBef>
                <a:spcPct val="0"/>
              </a:spcBef>
              <a:buFont typeface="Arial"/>
              <a:buChar char="•"/>
            </a:pPr>
            <a:r>
              <a:rPr lang="en-US" sz="4099">
                <a:solidFill>
                  <a:srgbClr val="000000"/>
                </a:solidFill>
                <a:latin typeface="Canva Student Font"/>
                <a:ea typeface="Canva Student Font"/>
                <a:cs typeface="Canva Student Font"/>
                <a:sym typeface="Canva Student Font"/>
              </a:rPr>
              <a:t>ROT13 is a simple substitution cipher that shifts each letter by 13 positions.</a:t>
            </a:r>
          </a:p>
        </p:txBody>
      </p:sp>
    </p:spTree>
  </p:cSld>
  <p:clrMapOvr>
    <a:masterClrMapping/>
  </p:clrMapOvr>
</p:sld>
</file>

<file path=ppt/slides/slide5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2886711"/>
          </a:xfrm>
          <a:prstGeom prst="rect">
            <a:avLst/>
          </a:prstGeom>
        </p:spPr>
        <p:txBody>
          <a:bodyPr anchor="t" rtlCol="false" tIns="0" lIns="0" bIns="0" rIns="0">
            <a:spAutoFit/>
          </a:bodyPr>
          <a:lstStyle/>
          <a:p>
            <a:pPr algn="ctr">
              <a:lnSpc>
                <a:spcPts val="5739"/>
              </a:lnSpc>
            </a:pPr>
            <a:r>
              <a:rPr lang="en-US" sz="4099">
                <a:solidFill>
                  <a:srgbClr val="FF66C4"/>
                </a:solidFill>
                <a:latin typeface="Canva Student Font"/>
                <a:ea typeface="Canva Student Font"/>
                <a:cs typeface="Canva Student Font"/>
                <a:sym typeface="Canva Student Font"/>
              </a:rPr>
              <a:t>asymmetric encryption</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uses two different but related keys (public and private key) for encryption and decryption.</a:t>
            </a:r>
          </a:p>
          <a:p>
            <a:pPr algn="l" marL="885184" indent="-442592" lvl="1">
              <a:lnSpc>
                <a:spcPts val="5739"/>
              </a:lnSpc>
              <a:spcBef>
                <a:spcPct val="0"/>
              </a:spcBef>
              <a:buFont typeface="Arial"/>
              <a:buChar char="•"/>
            </a:pPr>
            <a:r>
              <a:rPr lang="en-US" sz="4099">
                <a:solidFill>
                  <a:srgbClr val="000000"/>
                </a:solidFill>
                <a:latin typeface="Canva Student Font"/>
                <a:ea typeface="Canva Student Font"/>
                <a:cs typeface="Canva Student Font"/>
                <a:sym typeface="Canva Student Font"/>
              </a:rPr>
              <a:t>Public key distribution does not compromise security.</a:t>
            </a:r>
          </a:p>
        </p:txBody>
      </p:sp>
      <p:sp>
        <p:nvSpPr>
          <p:cNvPr name="TextBox 3" id="3"/>
          <p:cNvSpPr txBox="true"/>
          <p:nvPr/>
        </p:nvSpPr>
        <p:spPr>
          <a:xfrm rot="0">
            <a:off x="780455" y="2724786"/>
            <a:ext cx="8477845" cy="7677785"/>
          </a:xfrm>
          <a:prstGeom prst="rect">
            <a:avLst/>
          </a:prstGeom>
        </p:spPr>
        <p:txBody>
          <a:bodyPr anchor="t" rtlCol="false" tIns="0" lIns="0" bIns="0" rIns="0">
            <a:spAutoFit/>
          </a:bodyPr>
          <a:lstStyle/>
          <a:p>
            <a:pPr algn="ctr">
              <a:lnSpc>
                <a:spcPts val="4339"/>
              </a:lnSpc>
            </a:pPr>
            <a:r>
              <a:rPr lang="en-US" sz="3099">
                <a:solidFill>
                  <a:srgbClr val="FF66C4"/>
                </a:solidFill>
                <a:latin typeface="Canva Student Font"/>
                <a:ea typeface="Canva Student Font"/>
                <a:cs typeface="Canva Student Font"/>
                <a:sym typeface="Canva Student Font"/>
              </a:rPr>
              <a:t>How asymmetric encryption works</a:t>
            </a:r>
          </a:p>
          <a:p>
            <a:pPr algn="ctr">
              <a:lnSpc>
                <a:spcPts val="4339"/>
              </a:lnSpc>
            </a:pPr>
            <a:r>
              <a:rPr lang="en-US" sz="3099">
                <a:solidFill>
                  <a:srgbClr val="000000"/>
                </a:solidFill>
                <a:latin typeface="Canva Student Font"/>
                <a:ea typeface="Canva Student Font"/>
                <a:cs typeface="Canva Student Font"/>
                <a:sym typeface="Canva Student Font"/>
              </a:rPr>
              <a:t>Imagine Alice wants to send Bob a confidential message.</a:t>
            </a:r>
          </a:p>
          <a:p>
            <a:pPr algn="ctr">
              <a:lnSpc>
                <a:spcPts val="4339"/>
              </a:lnSpc>
            </a:pPr>
            <a:r>
              <a:rPr lang="en-US" sz="3099">
                <a:solidFill>
                  <a:srgbClr val="000000"/>
                </a:solidFill>
                <a:latin typeface="Canva Student Font"/>
                <a:ea typeface="Canva Student Font"/>
                <a:cs typeface="Canva Student Font"/>
                <a:sym typeface="Canva Student Font"/>
              </a:rPr>
              <a:t>Step 1: Bob generates a</a:t>
            </a:r>
            <a:r>
              <a:rPr lang="en-US" sz="3099">
                <a:solidFill>
                  <a:srgbClr val="FF66C4"/>
                </a:solidFill>
                <a:latin typeface="Canva Student Font"/>
                <a:ea typeface="Canva Student Font"/>
                <a:cs typeface="Canva Student Font"/>
                <a:sym typeface="Canva Student Font"/>
              </a:rPr>
              <a:t> key pair</a:t>
            </a:r>
          </a:p>
          <a:p>
            <a:pPr algn="ctr">
              <a:lnSpc>
                <a:spcPts val="4339"/>
              </a:lnSpc>
              <a:spcBef>
                <a:spcPct val="0"/>
              </a:spcBef>
            </a:pPr>
            <a:r>
              <a:rPr lang="en-US" sz="3099">
                <a:solidFill>
                  <a:srgbClr val="000000"/>
                </a:solidFill>
                <a:latin typeface="Canva Student Font"/>
                <a:ea typeface="Canva Student Font"/>
                <a:cs typeface="Canva Student Font"/>
                <a:sym typeface="Canva Student Font"/>
              </a:rPr>
              <a:t>B</a:t>
            </a:r>
            <a:r>
              <a:rPr lang="en-US" sz="3099">
                <a:solidFill>
                  <a:srgbClr val="000000"/>
                </a:solidFill>
                <a:latin typeface="Canva Student Font"/>
                <a:ea typeface="Canva Student Font"/>
                <a:cs typeface="Canva Student Font"/>
                <a:sym typeface="Canva Student Font"/>
              </a:rPr>
              <a:t>ob keeps his private key secret and shares his public key with Alice.</a:t>
            </a:r>
          </a:p>
          <a:p>
            <a:pPr algn="ctr">
              <a:lnSpc>
                <a:spcPts val="4339"/>
              </a:lnSpc>
              <a:spcBef>
                <a:spcPct val="0"/>
              </a:spcBef>
            </a:pPr>
          </a:p>
          <a:p>
            <a:pPr algn="ctr">
              <a:lnSpc>
                <a:spcPts val="4339"/>
              </a:lnSpc>
              <a:spcBef>
                <a:spcPct val="0"/>
              </a:spcBef>
            </a:pPr>
            <a:r>
              <a:rPr lang="en-US" sz="3099">
                <a:solidFill>
                  <a:srgbClr val="000000"/>
                </a:solidFill>
                <a:latin typeface="Canva Student Font"/>
                <a:ea typeface="Canva Student Font"/>
                <a:cs typeface="Canva Student Font"/>
                <a:sym typeface="Canva Student Font"/>
              </a:rPr>
              <a:t>Step 2: Alice </a:t>
            </a:r>
            <a:r>
              <a:rPr lang="en-US" sz="3099">
                <a:solidFill>
                  <a:srgbClr val="FF66C4"/>
                </a:solidFill>
                <a:latin typeface="Canva Student Font"/>
                <a:ea typeface="Canva Student Font"/>
                <a:cs typeface="Canva Student Font"/>
                <a:sym typeface="Canva Student Font"/>
              </a:rPr>
              <a:t>encrypts</a:t>
            </a:r>
            <a:r>
              <a:rPr lang="en-US" sz="3099">
                <a:solidFill>
                  <a:srgbClr val="000000"/>
                </a:solidFill>
                <a:latin typeface="Canva Student Font"/>
                <a:ea typeface="Canva Student Font"/>
                <a:cs typeface="Canva Student Font"/>
                <a:sym typeface="Canva Student Font"/>
              </a:rPr>
              <a:t> the message</a:t>
            </a:r>
          </a:p>
          <a:p>
            <a:pPr algn="ctr">
              <a:lnSpc>
                <a:spcPts val="4339"/>
              </a:lnSpc>
              <a:spcBef>
                <a:spcPct val="0"/>
              </a:spcBef>
            </a:pPr>
            <a:r>
              <a:rPr lang="en-US" sz="3099">
                <a:solidFill>
                  <a:srgbClr val="000000"/>
                </a:solidFill>
                <a:latin typeface="Canva Student Font"/>
                <a:ea typeface="Canva Student Font"/>
                <a:cs typeface="Canva Student Font"/>
                <a:sym typeface="Canva Student Font"/>
              </a:rPr>
              <a:t>Alice uses Bob's</a:t>
            </a:r>
            <a:r>
              <a:rPr lang="en-US" sz="3099">
                <a:solidFill>
                  <a:srgbClr val="FF66C4"/>
                </a:solidFill>
                <a:latin typeface="Canva Student Font"/>
                <a:ea typeface="Canva Student Font"/>
                <a:cs typeface="Canva Student Font"/>
                <a:sym typeface="Canva Student Font"/>
              </a:rPr>
              <a:t> public key</a:t>
            </a:r>
            <a:r>
              <a:rPr lang="en-US" sz="3099">
                <a:solidFill>
                  <a:srgbClr val="000000"/>
                </a:solidFill>
                <a:latin typeface="Canva Student Font"/>
                <a:ea typeface="Canva Student Font"/>
                <a:cs typeface="Canva Student Font"/>
                <a:sym typeface="Canva Student Font"/>
              </a:rPr>
              <a:t> to </a:t>
            </a:r>
            <a:r>
              <a:rPr lang="en-US" sz="3099">
                <a:solidFill>
                  <a:srgbClr val="FF66C4"/>
                </a:solidFill>
                <a:latin typeface="Canva Student Font"/>
                <a:ea typeface="Canva Student Font"/>
                <a:cs typeface="Canva Student Font"/>
                <a:sym typeface="Canva Student Font"/>
              </a:rPr>
              <a:t>encrypt</a:t>
            </a:r>
            <a:r>
              <a:rPr lang="en-US" sz="3099">
                <a:solidFill>
                  <a:srgbClr val="000000"/>
                </a:solidFill>
                <a:latin typeface="Canva Student Font"/>
                <a:ea typeface="Canva Student Font"/>
                <a:cs typeface="Canva Student Font"/>
                <a:sym typeface="Canva Student Font"/>
              </a:rPr>
              <a:t> her message.</a:t>
            </a:r>
          </a:p>
          <a:p>
            <a:pPr algn="ctr">
              <a:lnSpc>
                <a:spcPts val="4339"/>
              </a:lnSpc>
              <a:spcBef>
                <a:spcPct val="0"/>
              </a:spcBef>
            </a:pPr>
          </a:p>
          <a:p>
            <a:pPr algn="ctr">
              <a:lnSpc>
                <a:spcPts val="4339"/>
              </a:lnSpc>
              <a:spcBef>
                <a:spcPct val="0"/>
              </a:spcBef>
            </a:pPr>
            <a:r>
              <a:rPr lang="en-US" sz="3099">
                <a:solidFill>
                  <a:srgbClr val="000000"/>
                </a:solidFill>
                <a:latin typeface="Canva Student Font"/>
                <a:ea typeface="Canva Student Font"/>
                <a:cs typeface="Canva Student Font"/>
                <a:sym typeface="Canva Student Font"/>
              </a:rPr>
              <a:t>Step 3: Alice sends the </a:t>
            </a:r>
            <a:r>
              <a:rPr lang="en-US" sz="3099">
                <a:solidFill>
                  <a:srgbClr val="FF66C4"/>
                </a:solidFill>
                <a:latin typeface="Canva Student Font"/>
                <a:ea typeface="Canva Student Font"/>
                <a:cs typeface="Canva Student Font"/>
                <a:sym typeface="Canva Student Font"/>
              </a:rPr>
              <a:t>ciphertext</a:t>
            </a:r>
          </a:p>
          <a:p>
            <a:pPr algn="ctr">
              <a:lnSpc>
                <a:spcPts val="4339"/>
              </a:lnSpc>
              <a:spcBef>
                <a:spcPct val="0"/>
              </a:spcBef>
            </a:pPr>
            <a:r>
              <a:rPr lang="en-US" sz="3099">
                <a:solidFill>
                  <a:srgbClr val="000000"/>
                </a:solidFill>
                <a:latin typeface="Canva Student Font"/>
                <a:ea typeface="Canva Student Font"/>
                <a:cs typeface="Canva Student Font"/>
                <a:sym typeface="Canva Student Font"/>
              </a:rPr>
              <a:t>The encrypted message travels over the network.</a:t>
            </a:r>
          </a:p>
          <a:p>
            <a:pPr algn="ctr">
              <a:lnSpc>
                <a:spcPts val="4339"/>
              </a:lnSpc>
              <a:spcBef>
                <a:spcPct val="0"/>
              </a:spcBef>
            </a:pPr>
          </a:p>
          <a:p>
            <a:pPr algn="ctr">
              <a:lnSpc>
                <a:spcPts val="4339"/>
              </a:lnSpc>
              <a:spcBef>
                <a:spcPct val="0"/>
              </a:spcBef>
            </a:pPr>
            <a:r>
              <a:rPr lang="en-US" sz="3099">
                <a:solidFill>
                  <a:srgbClr val="000000"/>
                </a:solidFill>
                <a:latin typeface="Canva Student Font"/>
                <a:ea typeface="Canva Student Font"/>
                <a:cs typeface="Canva Student Font"/>
                <a:sym typeface="Canva Student Font"/>
              </a:rPr>
              <a:t>Step 4: Bob </a:t>
            </a:r>
            <a:r>
              <a:rPr lang="en-US" sz="3099">
                <a:solidFill>
                  <a:srgbClr val="FF66C4"/>
                </a:solidFill>
                <a:latin typeface="Canva Student Font"/>
                <a:ea typeface="Canva Student Font"/>
                <a:cs typeface="Canva Student Font"/>
                <a:sym typeface="Canva Student Font"/>
              </a:rPr>
              <a:t>decrypts</a:t>
            </a:r>
            <a:r>
              <a:rPr lang="en-US" sz="3099">
                <a:solidFill>
                  <a:srgbClr val="000000"/>
                </a:solidFill>
                <a:latin typeface="Canva Student Font"/>
                <a:ea typeface="Canva Student Font"/>
                <a:cs typeface="Canva Student Font"/>
                <a:sym typeface="Canva Student Font"/>
              </a:rPr>
              <a:t> the message</a:t>
            </a:r>
          </a:p>
          <a:p>
            <a:pPr algn="ctr">
              <a:lnSpc>
                <a:spcPts val="4339"/>
              </a:lnSpc>
              <a:spcBef>
                <a:spcPct val="0"/>
              </a:spcBef>
            </a:pPr>
            <a:r>
              <a:rPr lang="en-US" sz="3099">
                <a:solidFill>
                  <a:srgbClr val="000000"/>
                </a:solidFill>
                <a:latin typeface="Canva Student Font"/>
                <a:ea typeface="Canva Student Font"/>
                <a:cs typeface="Canva Student Font"/>
                <a:sym typeface="Canva Student Font"/>
              </a:rPr>
              <a:t>Bob uses his </a:t>
            </a:r>
            <a:r>
              <a:rPr lang="en-US" sz="3099">
                <a:solidFill>
                  <a:srgbClr val="FF66C4"/>
                </a:solidFill>
                <a:latin typeface="Canva Student Font"/>
                <a:ea typeface="Canva Student Font"/>
                <a:cs typeface="Canva Student Font"/>
                <a:sym typeface="Canva Student Font"/>
              </a:rPr>
              <a:t>private key</a:t>
            </a:r>
            <a:r>
              <a:rPr lang="en-US" sz="3099">
                <a:solidFill>
                  <a:srgbClr val="000000"/>
                </a:solidFill>
                <a:latin typeface="Canva Student Font"/>
                <a:ea typeface="Canva Student Font"/>
                <a:cs typeface="Canva Student Font"/>
                <a:sym typeface="Canva Student Font"/>
              </a:rPr>
              <a:t> to </a:t>
            </a:r>
            <a:r>
              <a:rPr lang="en-US" sz="3099">
                <a:solidFill>
                  <a:srgbClr val="FF66C4"/>
                </a:solidFill>
                <a:latin typeface="Canva Student Font"/>
                <a:ea typeface="Canva Student Font"/>
                <a:cs typeface="Canva Student Font"/>
                <a:sym typeface="Canva Student Font"/>
              </a:rPr>
              <a:t>decrypt</a:t>
            </a:r>
            <a:r>
              <a:rPr lang="en-US" sz="3099">
                <a:solidFill>
                  <a:srgbClr val="000000"/>
                </a:solidFill>
                <a:latin typeface="Canva Student Font"/>
                <a:ea typeface="Canva Student Font"/>
                <a:cs typeface="Canva Student Font"/>
                <a:sym typeface="Canva Student Font"/>
              </a:rPr>
              <a:t> the original message.</a:t>
            </a:r>
          </a:p>
          <a:p>
            <a:pPr algn="ctr">
              <a:lnSpc>
                <a:spcPts val="5039"/>
              </a:lnSpc>
              <a:spcBef>
                <a:spcPct val="0"/>
              </a:spcBef>
            </a:pPr>
          </a:p>
        </p:txBody>
      </p:sp>
    </p:spTree>
  </p:cSld>
  <p:clrMapOvr>
    <a:masterClrMapping/>
  </p:clrMapOvr>
</p:sld>
</file>

<file path=ppt/slides/slide5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57150"/>
            <a:ext cx="10287000" cy="1438911"/>
          </a:xfrm>
          <a:prstGeom prst="rect">
            <a:avLst/>
          </a:prstGeom>
        </p:spPr>
        <p:txBody>
          <a:bodyPr anchor="t" rtlCol="false" tIns="0" lIns="0" bIns="0" rIns="0">
            <a:spAutoFit/>
          </a:bodyPr>
          <a:lstStyle/>
          <a:p>
            <a:pPr algn="l" marL="885184" indent="-442592" lvl="1">
              <a:lnSpc>
                <a:spcPts val="5739"/>
              </a:lnSpc>
              <a:spcBef>
                <a:spcPct val="0"/>
              </a:spcBef>
              <a:buFont typeface="Arial"/>
              <a:buChar char="•"/>
            </a:pPr>
            <a:r>
              <a:rPr lang="en-US" sz="4099">
                <a:solidFill>
                  <a:srgbClr val="000000"/>
                </a:solidFill>
                <a:latin typeface="Canva Student Font"/>
                <a:ea typeface="Canva Student Font"/>
                <a:cs typeface="Canva Student Font"/>
                <a:sym typeface="Canva Student Font"/>
              </a:rPr>
              <a:t>Inte</a:t>
            </a:r>
            <a:r>
              <a:rPr lang="en-US" sz="4099">
                <a:solidFill>
                  <a:srgbClr val="000000"/>
                </a:solidFill>
                <a:latin typeface="Canva Student Font"/>
                <a:ea typeface="Canva Student Font"/>
                <a:cs typeface="Canva Student Font"/>
                <a:sym typeface="Canva Student Font"/>
              </a:rPr>
              <a:t>rcepting the public key and ciphertext should not enable an attacker to recover the plaintext</a:t>
            </a:r>
          </a:p>
        </p:txBody>
      </p:sp>
      <p:sp>
        <p:nvSpPr>
          <p:cNvPr name="TextBox 3" id="3"/>
          <p:cNvSpPr txBox="true"/>
          <p:nvPr/>
        </p:nvSpPr>
        <p:spPr>
          <a:xfrm rot="0">
            <a:off x="0" y="1436218"/>
            <a:ext cx="9501358" cy="5782311"/>
          </a:xfrm>
          <a:prstGeom prst="rect">
            <a:avLst/>
          </a:prstGeom>
        </p:spPr>
        <p:txBody>
          <a:bodyPr anchor="t" rtlCol="false" tIns="0" lIns="0" bIns="0" rIns="0">
            <a:spAutoFit/>
          </a:bodyPr>
          <a:lstStyle/>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Asymmet</a:t>
            </a:r>
            <a:r>
              <a:rPr lang="en-US" sz="4099">
                <a:solidFill>
                  <a:srgbClr val="FF66C4"/>
                </a:solidFill>
                <a:latin typeface="Canva Student Font"/>
                <a:ea typeface="Canva Student Font"/>
                <a:cs typeface="Canva Student Font"/>
                <a:sym typeface="Canva Student Font"/>
              </a:rPr>
              <a:t>ric algorithms</a:t>
            </a:r>
          </a:p>
          <a:p>
            <a:pPr algn="l" marL="885184" indent="-442592" lvl="1">
              <a:lnSpc>
                <a:spcPts val="5739"/>
              </a:lnSpc>
              <a:spcBef>
                <a:spcPct val="0"/>
              </a:spcBef>
              <a:buFont typeface="Arial"/>
              <a:buChar char="•"/>
            </a:pPr>
            <a:r>
              <a:rPr lang="en-US" sz="4099">
                <a:solidFill>
                  <a:srgbClr val="FF66C4"/>
                </a:solidFill>
                <a:latin typeface="Canva Student Font"/>
                <a:ea typeface="Canva Student Font"/>
                <a:cs typeface="Canva Student Font"/>
                <a:sym typeface="Canva Student Font"/>
              </a:rPr>
              <a:t>RSA</a:t>
            </a:r>
            <a:r>
              <a:rPr lang="en-US" sz="4099">
                <a:solidFill>
                  <a:srgbClr val="000000"/>
                </a:solidFill>
                <a:latin typeface="Canva Student Font"/>
                <a:ea typeface="Canva Student Font"/>
                <a:cs typeface="Canva Student Font"/>
                <a:sym typeface="Canva Student Font"/>
              </a:rPr>
              <a:t>: 2,048-bit private key</a:t>
            </a:r>
          </a:p>
          <a:p>
            <a:pPr algn="l" marL="885184" indent="-442592" lvl="1">
              <a:lnSpc>
                <a:spcPts val="5739"/>
              </a:lnSpc>
              <a:spcBef>
                <a:spcPct val="0"/>
              </a:spcBef>
              <a:buFont typeface="Arial"/>
              <a:buChar char="•"/>
            </a:pPr>
            <a:r>
              <a:rPr lang="en-US" sz="4099">
                <a:solidFill>
                  <a:srgbClr val="FF66C4"/>
                </a:solidFill>
                <a:latin typeface="Canva Student Font"/>
                <a:ea typeface="Canva Student Font"/>
                <a:cs typeface="Canva Student Font"/>
                <a:sym typeface="Canva Student Font"/>
              </a:rPr>
              <a:t>ECC</a:t>
            </a:r>
            <a:r>
              <a:rPr lang="en-US" sz="4099">
                <a:solidFill>
                  <a:srgbClr val="000000"/>
                </a:solidFill>
                <a:latin typeface="Canva Student Font"/>
                <a:ea typeface="Canva Student Font"/>
                <a:cs typeface="Canva Student Font"/>
                <a:sym typeface="Canva Student Font"/>
              </a:rPr>
              <a:t>: 256-bit private key for high security</a:t>
            </a:r>
          </a:p>
          <a:p>
            <a:pPr algn="l" marL="885184" indent="-442592" lvl="1">
              <a:lnSpc>
                <a:spcPts val="5739"/>
              </a:lnSpc>
              <a:spcBef>
                <a:spcPct val="0"/>
              </a:spcBef>
              <a:buFont typeface="Arial"/>
              <a:buChar char="•"/>
            </a:pPr>
            <a:r>
              <a:rPr lang="en-US" sz="4099">
                <a:solidFill>
                  <a:srgbClr val="FF66C4"/>
                </a:solidFill>
                <a:latin typeface="Canva Student Font"/>
                <a:ea typeface="Canva Student Font"/>
                <a:cs typeface="Canva Student Font"/>
                <a:sym typeface="Canva Student Font"/>
              </a:rPr>
              <a:t>DSA</a:t>
            </a:r>
            <a:r>
              <a:rPr lang="en-US" sz="4099">
                <a:solidFill>
                  <a:srgbClr val="000000"/>
                </a:solidFill>
                <a:latin typeface="Canva Student Font"/>
                <a:ea typeface="Canva Student Font"/>
                <a:cs typeface="Canva Student Font"/>
                <a:sym typeface="Canva Student Font"/>
              </a:rPr>
              <a:t> — Digital Signature Algorithm: Designed for creating and verifying digital signatures, rather than encrypting messages. It helps verify authenticity and integrity.</a:t>
            </a:r>
          </a:p>
          <a:p>
            <a:pPr algn="l">
              <a:lnSpc>
                <a:spcPts val="5739"/>
              </a:lnSpc>
              <a:spcBef>
                <a:spcPct val="0"/>
              </a:spcBef>
            </a:pPr>
          </a:p>
        </p:txBody>
      </p:sp>
    </p:spTree>
  </p:cSld>
  <p:clrMapOvr>
    <a:masterClrMapping/>
  </p:clrMapOvr>
</p:sld>
</file>

<file path=ppt/slides/slide5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24585"/>
            <a:ext cx="9550461" cy="10125711"/>
          </a:xfrm>
          <a:prstGeom prst="rect">
            <a:avLst/>
          </a:prstGeom>
        </p:spPr>
        <p:txBody>
          <a:bodyPr anchor="t" rtlCol="false" tIns="0" lIns="0" bIns="0" rIns="0">
            <a:spAutoFit/>
          </a:bodyPr>
          <a:lstStyle/>
          <a:p>
            <a:pPr algn="ctr">
              <a:lnSpc>
                <a:spcPts val="5739"/>
              </a:lnSpc>
            </a:pPr>
            <a:r>
              <a:rPr lang="en-US" sz="4099">
                <a:solidFill>
                  <a:srgbClr val="FF66C4"/>
                </a:solidFill>
                <a:latin typeface="Canva Student Font"/>
                <a:ea typeface="Canva Student Font"/>
                <a:cs typeface="Canva Student Font"/>
                <a:sym typeface="Canva Student Font"/>
              </a:rPr>
              <a:t>key exchange</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the process of establishing or securely sharing cryptographic key material between two parties so they can communicate securely.</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Asymmetric encryption is generally slower than symmetric encryption, so encrypting an entire large message with public-key cryptography is inefficient.</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Instead, systems commonly use </a:t>
            </a:r>
            <a:r>
              <a:rPr lang="en-US" sz="4099">
                <a:solidFill>
                  <a:srgbClr val="FF66C4"/>
                </a:solidFill>
                <a:latin typeface="Canva Student Font"/>
                <a:ea typeface="Canva Student Font"/>
                <a:cs typeface="Canva Student Font"/>
                <a:sym typeface="Canva Student Font"/>
              </a:rPr>
              <a:t>hybrid encryption</a:t>
            </a:r>
            <a:r>
              <a:rPr lang="en-US" sz="4099">
                <a:solidFill>
                  <a:srgbClr val="000000"/>
                </a:solidFill>
                <a:latin typeface="Canva Student Font"/>
                <a:ea typeface="Canva Student Font"/>
                <a:cs typeface="Canva Student Font"/>
                <a:sym typeface="Canva Student Font"/>
              </a:rPr>
              <a:t>:</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Asymmetric cryptography helps protect or establish a </a:t>
            </a:r>
            <a:r>
              <a:rPr lang="en-US" sz="4099">
                <a:solidFill>
                  <a:srgbClr val="FF66C4"/>
                </a:solidFill>
                <a:latin typeface="Canva Student Font"/>
                <a:ea typeface="Canva Student Font"/>
                <a:cs typeface="Canva Student Font"/>
                <a:sym typeface="Canva Student Font"/>
              </a:rPr>
              <a:t>session key</a:t>
            </a:r>
            <a:r>
              <a:rPr lang="en-US" sz="4099">
                <a:solidFill>
                  <a:srgbClr val="000000"/>
                </a:solidFill>
                <a:latin typeface="Canva Student Font"/>
                <a:ea typeface="Canva Student Font"/>
                <a:cs typeface="Canva Student Font"/>
                <a:sym typeface="Canva Student Font"/>
              </a:rPr>
              <a:t>.</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Symmetric cryptography encrypts and decrypts the actual message.</a:t>
            </a:r>
          </a:p>
          <a:p>
            <a:pPr algn="l" marL="885184" indent="-442592" lvl="1">
              <a:lnSpc>
                <a:spcPts val="5739"/>
              </a:lnSpc>
              <a:spcBef>
                <a:spcPct val="0"/>
              </a:spcBef>
              <a:buFont typeface="Arial"/>
              <a:buChar char="•"/>
            </a:pPr>
            <a:r>
              <a:rPr lang="en-US" sz="4099">
                <a:solidFill>
                  <a:srgbClr val="000000"/>
                </a:solidFill>
                <a:latin typeface="Canva Student Font"/>
                <a:ea typeface="Canva Student Font"/>
                <a:cs typeface="Canva Student Font"/>
                <a:sym typeface="Canva Student Font"/>
              </a:rPr>
              <a:t>A </a:t>
            </a:r>
            <a:r>
              <a:rPr lang="en-US" sz="4099">
                <a:solidFill>
                  <a:srgbClr val="FF66C4"/>
                </a:solidFill>
                <a:latin typeface="Canva Student Font"/>
                <a:ea typeface="Canva Student Font"/>
                <a:cs typeface="Canva Student Font"/>
                <a:sym typeface="Canva Student Font"/>
              </a:rPr>
              <a:t>session key</a:t>
            </a:r>
            <a:r>
              <a:rPr lang="en-US" sz="4099">
                <a:solidFill>
                  <a:srgbClr val="000000"/>
                </a:solidFill>
                <a:latin typeface="Canva Student Font"/>
                <a:ea typeface="Canva Student Font"/>
                <a:cs typeface="Canva Student Font"/>
                <a:sym typeface="Canva Student Font"/>
              </a:rPr>
              <a:t> is a temporary symmetric key used to protect data during a communication session.</a:t>
            </a:r>
          </a:p>
        </p:txBody>
      </p:sp>
    </p:spTree>
  </p:cSld>
  <p:clrMapOvr>
    <a:masterClrMapping/>
  </p:clrMapOvr>
</p:sld>
</file>

<file path=ppt/slides/slide5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51408" y="-95250"/>
            <a:ext cx="9184184" cy="12259311"/>
          </a:xfrm>
          <a:prstGeom prst="rect">
            <a:avLst/>
          </a:prstGeom>
        </p:spPr>
        <p:txBody>
          <a:bodyPr anchor="t" rtlCol="false" tIns="0" lIns="0" bIns="0" rIns="0">
            <a:spAutoFit/>
          </a:bodyPr>
          <a:lstStyle/>
          <a:p>
            <a:pPr algn="ctr">
              <a:lnSpc>
                <a:spcPts val="5739"/>
              </a:lnSpc>
            </a:pPr>
            <a:r>
              <a:rPr lang="en-US" sz="4099">
                <a:solidFill>
                  <a:srgbClr val="FF66C4"/>
                </a:solidFill>
                <a:latin typeface="Canva Student Font"/>
                <a:ea typeface="Canva Student Font"/>
                <a:cs typeface="Canva Student Font"/>
                <a:sym typeface="Canva Student Font"/>
              </a:rPr>
              <a:t>How a digital envelope works</a:t>
            </a: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Imagine Alice wants t</a:t>
            </a:r>
            <a:r>
              <a:rPr lang="en-US" sz="4099">
                <a:solidFill>
                  <a:srgbClr val="FF66C4"/>
                </a:solidFill>
                <a:latin typeface="Canva Student Font"/>
                <a:ea typeface="Canva Student Font"/>
                <a:cs typeface="Canva Student Font"/>
                <a:sym typeface="Canva Student Font"/>
              </a:rPr>
              <a:t>o send Bob a large, confidential file.</a:t>
            </a: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Step 1: public key acquisition</a:t>
            </a: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Alice obtains Bob's public key </a:t>
            </a:r>
          </a:p>
          <a:p>
            <a:pPr algn="ctr">
              <a:lnSpc>
                <a:spcPts val="5739"/>
              </a:lnSpc>
              <a:spcBef>
                <a:spcPct val="0"/>
              </a:spcBef>
            </a:pP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Step 2: session key encryption</a:t>
            </a: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Alice encrypts message with symmetric key.</a:t>
            </a:r>
          </a:p>
          <a:p>
            <a:pPr algn="ctr">
              <a:lnSpc>
                <a:spcPts val="5739"/>
              </a:lnSpc>
              <a:spcBef>
                <a:spcPct val="0"/>
              </a:spcBef>
            </a:pP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Step 3: session key encryption with public key</a:t>
            </a: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Alice encrypts the session key with Bobs public key</a:t>
            </a:r>
          </a:p>
          <a:p>
            <a:pPr algn="ctr">
              <a:lnSpc>
                <a:spcPts val="5739"/>
              </a:lnSpc>
              <a:spcBef>
                <a:spcPct val="0"/>
              </a:spcBef>
            </a:pP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Step 4:digital envelope</a:t>
            </a: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Alice sends encrypted session key and ciphertext</a:t>
            </a:r>
          </a:p>
          <a:p>
            <a:pPr algn="l">
              <a:lnSpc>
                <a:spcPts val="5599"/>
              </a:lnSpc>
              <a:spcBef>
                <a:spcPct val="0"/>
              </a:spcBef>
            </a:pPr>
            <a:r>
              <a:rPr lang="en-US" sz="3999">
                <a:solidFill>
                  <a:srgbClr val="FF66C4"/>
                </a:solidFill>
                <a:latin typeface="Canva Student Font"/>
                <a:ea typeface="Canva Student Font"/>
                <a:cs typeface="Canva Student Font"/>
                <a:sym typeface="Canva Student Font"/>
              </a:rPr>
              <a:t>.</a:t>
            </a:r>
          </a:p>
          <a:p>
            <a:pPr algn="ctr">
              <a:lnSpc>
                <a:spcPts val="5739"/>
              </a:lnSpc>
              <a:spcBef>
                <a:spcPct val="0"/>
              </a:spcBef>
            </a:pPr>
          </a:p>
          <a:p>
            <a:pPr algn="ctr">
              <a:lnSpc>
                <a:spcPts val="5599"/>
              </a:lnSpc>
              <a:spcBef>
                <a:spcPct val="0"/>
              </a:spcBef>
            </a:pPr>
          </a:p>
          <a:p>
            <a:pPr algn="ctr">
              <a:lnSpc>
                <a:spcPts val="5739"/>
              </a:lnSpc>
              <a:spcBef>
                <a:spcPct val="0"/>
              </a:spcBef>
            </a:pPr>
          </a:p>
        </p:txBody>
      </p:sp>
    </p:spTree>
  </p:cSld>
  <p:clrMapOvr>
    <a:masterClrMapping/>
  </p:clrMapOvr>
</p:sld>
</file>

<file path=ppt/slides/slide5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1461" y="81395"/>
            <a:ext cx="10004078" cy="2886711"/>
          </a:xfrm>
          <a:prstGeom prst="rect">
            <a:avLst/>
          </a:prstGeom>
        </p:spPr>
        <p:txBody>
          <a:bodyPr anchor="t" rtlCol="false" tIns="0" lIns="0" bIns="0" rIns="0">
            <a:spAutoFit/>
          </a:bodyPr>
          <a:lstStyle/>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Step 5: session key decryption</a:t>
            </a: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Bob decrypts session key with private key</a:t>
            </a: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Step 6: message decryption</a:t>
            </a:r>
          </a:p>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Bob uses the recovered session key to decrypt the ciphertext.</a:t>
            </a:r>
          </a:p>
        </p:txBody>
      </p:sp>
      <p:sp>
        <p:nvSpPr>
          <p:cNvPr name="TextBox 3" id="3"/>
          <p:cNvSpPr txBox="true"/>
          <p:nvPr/>
        </p:nvSpPr>
        <p:spPr>
          <a:xfrm rot="0">
            <a:off x="0" y="3652520"/>
            <a:ext cx="10029793" cy="2886711"/>
          </a:xfrm>
          <a:prstGeom prst="rect">
            <a:avLst/>
          </a:prstGeom>
        </p:spPr>
        <p:txBody>
          <a:bodyPr anchor="t" rtlCol="false" tIns="0" lIns="0" bIns="0" rIns="0">
            <a:spAutoFit/>
          </a:bodyPr>
          <a:lstStyle/>
          <a:p>
            <a:pPr algn="ctr">
              <a:lnSpc>
                <a:spcPts val="5739"/>
              </a:lnSpc>
            </a:pPr>
            <a:r>
              <a:rPr lang="en-US" sz="4099">
                <a:solidFill>
                  <a:srgbClr val="000000"/>
                </a:solidFill>
                <a:latin typeface="Canva Student Font"/>
                <a:ea typeface="Canva Student Font"/>
                <a:cs typeface="Canva Student Font"/>
                <a:sym typeface="Canva Student Font"/>
              </a:rPr>
              <a:t>#</a:t>
            </a:r>
            <a:r>
              <a:rPr lang="en-US" sz="4099">
                <a:solidFill>
                  <a:srgbClr val="FF66C4"/>
                </a:solidFill>
                <a:latin typeface="Canva Student Font"/>
                <a:ea typeface="Canva Student Font"/>
                <a:cs typeface="Canva Student Font"/>
                <a:sym typeface="Canva Student Font"/>
              </a:rPr>
              <a:t>in-band key exchange</a:t>
            </a:r>
            <a:r>
              <a:rPr lang="en-US" sz="4099">
                <a:solidFill>
                  <a:srgbClr val="000000"/>
                </a:solidFill>
                <a:latin typeface="Canva Student Font"/>
                <a:ea typeface="Canva Student Font"/>
                <a:cs typeface="Canva Student Font"/>
                <a:sym typeface="Canva Student Font"/>
              </a:rPr>
              <a:t>: is on the network. protect key with additional encryption such as TLS</a:t>
            </a:r>
          </a:p>
          <a:p>
            <a:pPr algn="ctr">
              <a:lnSpc>
                <a:spcPts val="5739"/>
              </a:lnSpc>
              <a:spcBef>
                <a:spcPct val="0"/>
              </a:spcBef>
            </a:pPr>
            <a:r>
              <a:rPr lang="en-US" sz="4099">
                <a:solidFill>
                  <a:srgbClr val="000000"/>
                </a:solidFill>
                <a:latin typeface="Canva Student Font"/>
                <a:ea typeface="Canva Student Font"/>
                <a:cs typeface="Canva Student Font"/>
                <a:sym typeface="Canva Student Font"/>
              </a:rPr>
              <a:t>#</a:t>
            </a:r>
            <a:r>
              <a:rPr lang="en-US" sz="4099">
                <a:solidFill>
                  <a:srgbClr val="FF66C4"/>
                </a:solidFill>
                <a:latin typeface="Canva Student Font"/>
                <a:ea typeface="Canva Student Font"/>
                <a:cs typeface="Canva Student Font"/>
                <a:sym typeface="Canva Student Font"/>
              </a:rPr>
              <a:t>out-of-band key exchange</a:t>
            </a:r>
            <a:r>
              <a:rPr lang="en-US" sz="4099">
                <a:solidFill>
                  <a:srgbClr val="000000"/>
                </a:solidFill>
                <a:latin typeface="Canva Student Font"/>
                <a:ea typeface="Canva Student Font"/>
                <a:cs typeface="Canva Student Font"/>
                <a:sym typeface="Canva Student Font"/>
              </a:rPr>
              <a:t>: don’t send symmetric key over the net</a:t>
            </a:r>
          </a:p>
        </p:txBody>
      </p:sp>
    </p:spTree>
  </p:cSld>
  <p:clrMapOvr>
    <a:masterClrMapping/>
  </p:clrMapOvr>
</p:sld>
</file>

<file path=ppt/slides/slide5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85725"/>
            <a:ext cx="9697768" cy="2153286"/>
          </a:xfrm>
          <a:prstGeom prst="rect">
            <a:avLst/>
          </a:prstGeom>
        </p:spPr>
        <p:txBody>
          <a:bodyPr anchor="t" rtlCol="false" tIns="0" lIns="0" bIns="0" rIns="0">
            <a:spAutoFit/>
          </a:bodyPr>
          <a:lstStyle/>
          <a:p>
            <a:pPr algn="ctr">
              <a:lnSpc>
                <a:spcPts val="5739"/>
              </a:lnSpc>
            </a:pPr>
            <a:r>
              <a:rPr lang="en-US" sz="4099">
                <a:gradFill>
                  <a:gsLst>
                    <a:gs pos="0">
                      <a:srgbClr val="7B2D9F">
                        <a:alpha val="100000"/>
                      </a:srgbClr>
                    </a:gs>
                    <a:gs pos="100000">
                      <a:srgbClr val="FDD82E">
                        <a:alpha val="100000"/>
                      </a:srgbClr>
                    </a:gs>
                  </a:gsLst>
                  <a:lin ang="5400000"/>
                </a:gradFill>
                <a:latin typeface="Gagalin"/>
                <a:ea typeface="Gagalin"/>
                <a:cs typeface="Gagalin"/>
                <a:sym typeface="Gagalin"/>
              </a:rPr>
              <a:t>tools</a:t>
            </a:r>
          </a:p>
          <a:p>
            <a:pPr algn="l" marL="885184" indent="-442592" lvl="1">
              <a:lnSpc>
                <a:spcPts val="5739"/>
              </a:lnSpc>
              <a:spcBef>
                <a:spcPct val="0"/>
              </a:spcBef>
              <a:buFont typeface="Arial"/>
              <a:buChar char="•"/>
            </a:pPr>
            <a:r>
              <a:rPr lang="en-US" sz="4099">
                <a:solidFill>
                  <a:srgbClr val="000000"/>
                </a:solidFill>
                <a:latin typeface="Canva Student Font"/>
                <a:ea typeface="Canva Student Font"/>
                <a:cs typeface="Canva Student Font"/>
                <a:sym typeface="Canva Student Font"/>
              </a:rPr>
              <a:t>dedicated servers or applications generate and store keys e.g TPM, HSM, KSM, Secure Enclaves.</a:t>
            </a:r>
          </a:p>
        </p:txBody>
      </p:sp>
      <p:sp>
        <p:nvSpPr>
          <p:cNvPr name="TextBox 3" id="3"/>
          <p:cNvSpPr txBox="true"/>
          <p:nvPr/>
        </p:nvSpPr>
        <p:spPr>
          <a:xfrm rot="0">
            <a:off x="0" y="1981836"/>
            <a:ext cx="9697768" cy="8479156"/>
          </a:xfrm>
          <a:prstGeom prst="rect">
            <a:avLst/>
          </a:prstGeom>
        </p:spPr>
        <p:txBody>
          <a:bodyPr anchor="t" rtlCol="false" tIns="0" lIns="0" bIns="0" rIns="0">
            <a:spAutoFit/>
          </a:bodyPr>
          <a:lstStyle/>
          <a:p>
            <a:pPr algn="ctr">
              <a:lnSpc>
                <a:spcPts val="5599"/>
              </a:lnSpc>
              <a:spcBef>
                <a:spcPct val="0"/>
              </a:spcBef>
            </a:pPr>
            <a:r>
              <a:rPr lang="en-US" sz="3999">
                <a:solidFill>
                  <a:srgbClr val="FF66C4"/>
                </a:solidFill>
                <a:latin typeface="Canva Student Font"/>
                <a:ea typeface="Canva Student Font"/>
                <a:cs typeface="Canva Student Font"/>
                <a:sym typeface="Canva Student Font"/>
              </a:rPr>
              <a:t>Tr</a:t>
            </a:r>
            <a:r>
              <a:rPr lang="en-US" sz="3999">
                <a:solidFill>
                  <a:srgbClr val="FF66C4"/>
                </a:solidFill>
                <a:latin typeface="Canva Student Font"/>
                <a:ea typeface="Canva Student Font"/>
                <a:cs typeface="Canva Student Font"/>
                <a:sym typeface="Canva Student Font"/>
              </a:rPr>
              <a:t>usted Platform Module (TPM)</a:t>
            </a:r>
          </a:p>
          <a:p>
            <a:pPr algn="l" marL="863595" indent="-431797" lvl="1">
              <a:lnSpc>
                <a:spcPts val="5599"/>
              </a:lnSpc>
              <a:spcBef>
                <a:spcPct val="0"/>
              </a:spcBef>
              <a:buFont typeface="Arial"/>
              <a:buChar char="•"/>
            </a:pPr>
            <a:r>
              <a:rPr lang="en-US" sz="3999">
                <a:solidFill>
                  <a:srgbClr val="000000"/>
                </a:solidFill>
                <a:latin typeface="Canva Student Font"/>
                <a:ea typeface="Canva Student Font"/>
                <a:cs typeface="Canva Student Font"/>
                <a:sym typeface="Canva Student Font"/>
              </a:rPr>
              <a:t>Protects keys and supports measured boot, platform-state checks and attestation.</a:t>
            </a:r>
          </a:p>
          <a:p>
            <a:pPr algn="l" marL="863595" indent="-431797" lvl="1">
              <a:lnSpc>
                <a:spcPts val="5599"/>
              </a:lnSpc>
              <a:spcBef>
                <a:spcPct val="0"/>
              </a:spcBef>
              <a:buFont typeface="Arial"/>
              <a:buChar char="•"/>
            </a:pPr>
            <a:r>
              <a:rPr lang="en-US" sz="3999">
                <a:solidFill>
                  <a:srgbClr val="000000"/>
                </a:solidFill>
                <a:latin typeface="Canva Student Font"/>
                <a:ea typeface="Canva Student Font"/>
                <a:cs typeface="Canva Student Font"/>
                <a:sym typeface="Canva Student Font"/>
              </a:rPr>
              <a:t>Common TPM functions include: </a:t>
            </a:r>
            <a:r>
              <a:rPr lang="en-US" sz="3999">
                <a:solidFill>
                  <a:srgbClr val="FF66C4"/>
                </a:solidFill>
                <a:latin typeface="Canva Student Font"/>
                <a:ea typeface="Canva Student Font"/>
                <a:cs typeface="Canva Student Font"/>
                <a:sym typeface="Canva Student Font"/>
              </a:rPr>
              <a:t>Secure key storage</a:t>
            </a:r>
            <a:r>
              <a:rPr lang="en-US" sz="3999">
                <a:solidFill>
                  <a:srgbClr val="000000"/>
                </a:solidFill>
                <a:latin typeface="Canva Student Font"/>
                <a:ea typeface="Canva Student Font"/>
                <a:cs typeface="Canva Student Font"/>
                <a:sym typeface="Canva Student Font"/>
              </a:rPr>
              <a:t>, </a:t>
            </a:r>
            <a:r>
              <a:rPr lang="en-US" sz="3999">
                <a:solidFill>
                  <a:srgbClr val="FF66C4"/>
                </a:solidFill>
                <a:latin typeface="Canva Student Font"/>
                <a:ea typeface="Canva Student Font"/>
                <a:cs typeface="Canva Student Font"/>
                <a:sym typeface="Canva Student Font"/>
              </a:rPr>
              <a:t>Random number generation</a:t>
            </a:r>
            <a:r>
              <a:rPr lang="en-US" sz="3999">
                <a:solidFill>
                  <a:srgbClr val="000000"/>
                </a:solidFill>
                <a:latin typeface="Canva Student Font"/>
                <a:ea typeface="Canva Student Font"/>
                <a:cs typeface="Canva Student Font"/>
                <a:sym typeface="Canva Student Font"/>
              </a:rPr>
              <a:t>, </a:t>
            </a:r>
            <a:r>
              <a:rPr lang="en-US" sz="3999">
                <a:solidFill>
                  <a:srgbClr val="FF66C4"/>
                </a:solidFill>
                <a:latin typeface="Canva Student Font"/>
                <a:ea typeface="Canva Student Font"/>
                <a:cs typeface="Canva Student Font"/>
                <a:sym typeface="Canva Student Font"/>
              </a:rPr>
              <a:t>Remote attestation</a:t>
            </a:r>
            <a:r>
              <a:rPr lang="en-US" sz="3999">
                <a:solidFill>
                  <a:srgbClr val="000000"/>
                </a:solidFill>
                <a:latin typeface="Canva Student Font"/>
                <a:ea typeface="Canva Student Font"/>
                <a:cs typeface="Canva Student Font"/>
                <a:sym typeface="Canva Student Font"/>
              </a:rPr>
              <a:t> (Helps a remote verifier assess boot measurements and system state.), </a:t>
            </a:r>
            <a:r>
              <a:rPr lang="en-US" sz="3999">
                <a:solidFill>
                  <a:srgbClr val="FF66C4"/>
                </a:solidFill>
                <a:latin typeface="Canva Student Font"/>
                <a:ea typeface="Canva Student Font"/>
                <a:cs typeface="Canva Student Font"/>
                <a:sym typeface="Canva Student Font"/>
              </a:rPr>
              <a:t>Binding</a:t>
            </a:r>
            <a:r>
              <a:rPr lang="en-US" sz="3999">
                <a:solidFill>
                  <a:srgbClr val="000000"/>
                </a:solidFill>
                <a:latin typeface="Canva Student Font"/>
                <a:ea typeface="Canva Student Font"/>
                <a:cs typeface="Canva Student Font"/>
                <a:sym typeface="Canva Student Font"/>
              </a:rPr>
              <a:t> (Protects data so it can be recovered using the appropriate TPM-associated key.), </a:t>
            </a:r>
            <a:r>
              <a:rPr lang="en-US" sz="3999">
                <a:solidFill>
                  <a:srgbClr val="FF66C4"/>
                </a:solidFill>
                <a:latin typeface="Canva Student Font"/>
                <a:ea typeface="Canva Student Font"/>
                <a:cs typeface="Canva Student Font"/>
                <a:sym typeface="Canva Student Font"/>
              </a:rPr>
              <a:t>Sealin</a:t>
            </a:r>
            <a:r>
              <a:rPr lang="en-US" sz="3999">
                <a:solidFill>
                  <a:srgbClr val="000000"/>
                </a:solidFill>
                <a:latin typeface="Canva Student Font"/>
                <a:ea typeface="Canva Student Font"/>
                <a:cs typeface="Canva Student Font"/>
                <a:sym typeface="Canva Student Font"/>
              </a:rPr>
              <a:t>g (Protects data so that access or unsealing depends on specified TPM or platform-state conditions.)</a:t>
            </a:r>
          </a:p>
          <a:p>
            <a:pPr algn="l">
              <a:lnSpc>
                <a:spcPts val="5739"/>
              </a:lnSpc>
              <a:spcBef>
                <a:spcPct val="0"/>
              </a:spcBef>
            </a:pPr>
          </a:p>
          <a:p>
            <a:pPr algn="ctr">
              <a:lnSpc>
                <a:spcPts val="5739"/>
              </a:lnSpc>
              <a:spcBef>
                <a:spcPct val="0"/>
              </a:spcBef>
            </a:pPr>
          </a:p>
        </p:txBody>
      </p:sp>
    </p:spTree>
  </p:cSld>
  <p:clrMapOvr>
    <a:masterClrMapping/>
  </p:clrMapOvr>
</p:sld>
</file>

<file path=ppt/slides/slide5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7230111"/>
          </a:xfrm>
          <a:prstGeom prst="rect">
            <a:avLst/>
          </a:prstGeom>
        </p:spPr>
        <p:txBody>
          <a:bodyPr anchor="t" rtlCol="false" tIns="0" lIns="0" bIns="0" rIns="0">
            <a:spAutoFit/>
          </a:bodyPr>
          <a:lstStyle/>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H</a:t>
            </a:r>
            <a:r>
              <a:rPr lang="en-US" sz="4099">
                <a:solidFill>
                  <a:srgbClr val="FF66C4"/>
                </a:solidFill>
                <a:latin typeface="Canva Student Font"/>
                <a:ea typeface="Canva Student Font"/>
                <a:cs typeface="Canva Student Font"/>
                <a:sym typeface="Canva Student Font"/>
              </a:rPr>
              <a:t>ardware Security Module (HSM)</a:t>
            </a:r>
          </a:p>
          <a:p>
            <a:pPr algn="l" marL="885184" indent="-442592" lvl="1">
              <a:lnSpc>
                <a:spcPts val="5739"/>
              </a:lnSpc>
              <a:spcBef>
                <a:spcPct val="0"/>
              </a:spcBef>
              <a:buFont typeface="Arial"/>
              <a:buChar char="•"/>
            </a:pPr>
            <a:r>
              <a:rPr lang="en-US" sz="4099">
                <a:solidFill>
                  <a:srgbClr val="000000"/>
                </a:solidFill>
                <a:latin typeface="Canva Student Font"/>
                <a:ea typeface="Canva Student Font"/>
                <a:cs typeface="Canva Student Font"/>
                <a:sym typeface="Canva Student Font"/>
              </a:rPr>
              <a:t>A Hardware Security Module is a specialised hardware device designed to</a:t>
            </a:r>
            <a:r>
              <a:rPr lang="en-US" sz="4099">
                <a:solidFill>
                  <a:srgbClr val="FF66C4"/>
                </a:solidFill>
                <a:latin typeface="Canva Student Font"/>
                <a:ea typeface="Canva Student Font"/>
                <a:cs typeface="Canva Student Font"/>
                <a:sym typeface="Canva Student Font"/>
              </a:rPr>
              <a:t> generate, protect, store and use cryptographic keys. </a:t>
            </a:r>
          </a:p>
          <a:p>
            <a:pPr algn="l" marL="885184" indent="-442592" lvl="1">
              <a:lnSpc>
                <a:spcPts val="5739"/>
              </a:lnSpc>
              <a:spcBef>
                <a:spcPct val="0"/>
              </a:spcBef>
              <a:buFont typeface="Arial"/>
              <a:buChar char="•"/>
            </a:pPr>
            <a:r>
              <a:rPr lang="en-US" sz="4099">
                <a:solidFill>
                  <a:srgbClr val="FF66C4"/>
                </a:solidFill>
                <a:latin typeface="Canva Student Font"/>
                <a:ea typeface="Canva Student Font"/>
                <a:cs typeface="Canva Student Font"/>
                <a:sym typeface="Canva Student Font"/>
              </a:rPr>
              <a:t>Typical uses </a:t>
            </a:r>
            <a:r>
              <a:rPr lang="en-US" sz="4099">
                <a:solidFill>
                  <a:srgbClr val="000000"/>
                </a:solidFill>
                <a:latin typeface="Canva Student Font"/>
                <a:ea typeface="Canva Student Font"/>
                <a:cs typeface="Canva Student Font"/>
                <a:sym typeface="Canva Student Font"/>
              </a:rPr>
              <a:t>include: Protecting certificate-authority signing keys, Generating and protecting encryption keys, Performing digital signatures and cryptographic operations, Providing controlled access to sensitive key material.</a:t>
            </a:r>
          </a:p>
          <a:p>
            <a:pPr algn="l">
              <a:lnSpc>
                <a:spcPts val="5739"/>
              </a:lnSpc>
              <a:spcBef>
                <a:spcPct val="0"/>
              </a:spcBef>
            </a:pPr>
          </a:p>
        </p:txBody>
      </p:sp>
    </p:spTree>
  </p:cSld>
  <p:clrMapOvr>
    <a:masterClrMapping/>
  </p:clrMapOvr>
</p:sld>
</file>

<file path=ppt/slides/slide5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76200"/>
            <a:ext cx="9648666" cy="7930516"/>
          </a:xfrm>
          <a:prstGeom prst="rect">
            <a:avLst/>
          </a:prstGeom>
        </p:spPr>
        <p:txBody>
          <a:bodyPr anchor="t" rtlCol="false" tIns="0" lIns="0" bIns="0" rIns="0">
            <a:spAutoFit/>
          </a:bodyPr>
          <a:lstStyle/>
          <a:p>
            <a:pPr algn="ctr">
              <a:lnSpc>
                <a:spcPts val="5179"/>
              </a:lnSpc>
              <a:spcBef>
                <a:spcPct val="0"/>
              </a:spcBef>
            </a:pPr>
            <a:r>
              <a:rPr lang="en-US" sz="3699">
                <a:solidFill>
                  <a:srgbClr val="000000"/>
                </a:solidFill>
                <a:latin typeface="Canva Student Font"/>
                <a:ea typeface="Canva Student Font"/>
                <a:cs typeface="Canva Student Font"/>
                <a:sym typeface="Canva Student Font"/>
              </a:rPr>
              <a:t> </a:t>
            </a:r>
            <a:r>
              <a:rPr lang="en-US" sz="3699">
                <a:solidFill>
                  <a:srgbClr val="FF66C4"/>
                </a:solidFill>
                <a:latin typeface="Canva Student Font"/>
                <a:ea typeface="Canva Student Font"/>
                <a:cs typeface="Canva Student Font"/>
                <a:sym typeface="Canva Student Font"/>
              </a:rPr>
              <a:t>Key</a:t>
            </a:r>
            <a:r>
              <a:rPr lang="en-US" sz="3699">
                <a:solidFill>
                  <a:srgbClr val="FF66C4"/>
                </a:solidFill>
                <a:latin typeface="Canva Student Font"/>
                <a:ea typeface="Canva Student Font"/>
                <a:cs typeface="Canva Student Font"/>
                <a:sym typeface="Canva Student Font"/>
              </a:rPr>
              <a:t> Management System (KMS)</a:t>
            </a:r>
          </a:p>
          <a:p>
            <a:pPr algn="l" marL="798826" indent="-399413" lvl="1">
              <a:lnSpc>
                <a:spcPts val="5179"/>
              </a:lnSpc>
              <a:spcBef>
                <a:spcPct val="0"/>
              </a:spcBef>
              <a:buFont typeface="Arial"/>
              <a:buChar char="•"/>
            </a:pPr>
            <a:r>
              <a:rPr lang="en-US" sz="3699">
                <a:solidFill>
                  <a:srgbClr val="000000"/>
                </a:solidFill>
                <a:latin typeface="Canva Student Font"/>
                <a:ea typeface="Canva Student Font"/>
                <a:cs typeface="Canva Student Font"/>
                <a:sym typeface="Canva Student Font"/>
              </a:rPr>
              <a:t>A Key Management System (KMS) </a:t>
            </a:r>
            <a:r>
              <a:rPr lang="en-US" sz="3699">
                <a:solidFill>
                  <a:srgbClr val="FF66C4"/>
                </a:solidFill>
                <a:latin typeface="Canva Student Font"/>
                <a:ea typeface="Canva Student Font"/>
                <a:cs typeface="Canva Student Font"/>
                <a:sym typeface="Canva Student Font"/>
              </a:rPr>
              <a:t>manages cryptographic keys throughout their lifecycle</a:t>
            </a:r>
          </a:p>
          <a:p>
            <a:pPr algn="ctr">
              <a:lnSpc>
                <a:spcPts val="5179"/>
              </a:lnSpc>
              <a:spcBef>
                <a:spcPct val="0"/>
              </a:spcBef>
            </a:pPr>
            <a:r>
              <a:rPr lang="en-US" sz="3699">
                <a:solidFill>
                  <a:srgbClr val="FF66C4"/>
                </a:solidFill>
                <a:latin typeface="Canva Student Font"/>
                <a:ea typeface="Canva Student Font"/>
                <a:cs typeface="Canva Student Font"/>
                <a:sym typeface="Canva Student Font"/>
              </a:rPr>
              <a:t>Key lifecycle</a:t>
            </a:r>
          </a:p>
          <a:p>
            <a:pPr algn="l" marL="798826" indent="-399413" lvl="1">
              <a:lnSpc>
                <a:spcPts val="5179"/>
              </a:lnSpc>
              <a:spcBef>
                <a:spcPct val="0"/>
              </a:spcBef>
              <a:buFont typeface="Arial"/>
              <a:buChar char="•"/>
            </a:pPr>
            <a:r>
              <a:rPr lang="en-US" sz="3699">
                <a:solidFill>
                  <a:srgbClr val="FF66C4"/>
                </a:solidFill>
                <a:latin typeface="Canva Student Font"/>
                <a:ea typeface="Canva Student Font"/>
                <a:cs typeface="Canva Student Font"/>
                <a:sym typeface="Canva Student Font"/>
              </a:rPr>
              <a:t>Generation</a:t>
            </a:r>
            <a:r>
              <a:rPr lang="en-US" sz="3699">
                <a:solidFill>
                  <a:srgbClr val="000000"/>
                </a:solidFill>
                <a:latin typeface="Canva Student Font"/>
                <a:ea typeface="Canva Student Font"/>
                <a:cs typeface="Canva Student Font"/>
                <a:sym typeface="Canva Student Font"/>
              </a:rPr>
              <a:t>: Create asymmetric key pair or symmetric secret key</a:t>
            </a:r>
          </a:p>
          <a:p>
            <a:pPr algn="l" marL="798826" indent="-399413" lvl="1">
              <a:lnSpc>
                <a:spcPts val="5179"/>
              </a:lnSpc>
              <a:spcBef>
                <a:spcPct val="0"/>
              </a:spcBef>
              <a:buFont typeface="Arial"/>
              <a:buChar char="•"/>
            </a:pPr>
            <a:r>
              <a:rPr lang="en-US" sz="3699">
                <a:solidFill>
                  <a:srgbClr val="FF66C4"/>
                </a:solidFill>
                <a:latin typeface="Canva Student Font"/>
                <a:ea typeface="Canva Student Font"/>
                <a:cs typeface="Canva Student Font"/>
                <a:sym typeface="Canva Student Font"/>
              </a:rPr>
              <a:t>Storage </a:t>
            </a:r>
            <a:r>
              <a:rPr lang="en-US" sz="3699">
                <a:solidFill>
                  <a:srgbClr val="000000"/>
                </a:solidFill>
                <a:latin typeface="Canva Student Font"/>
                <a:ea typeface="Canva Student Font"/>
                <a:cs typeface="Canva Student Font"/>
                <a:sym typeface="Canva Student Font"/>
              </a:rPr>
              <a:t>: prevents unauthorized access and loss/damage</a:t>
            </a:r>
          </a:p>
          <a:p>
            <a:pPr algn="l" marL="798826" indent="-399413" lvl="1">
              <a:lnSpc>
                <a:spcPts val="5179"/>
              </a:lnSpc>
              <a:spcBef>
                <a:spcPct val="0"/>
              </a:spcBef>
              <a:buFont typeface="Arial"/>
              <a:buChar char="•"/>
            </a:pPr>
            <a:r>
              <a:rPr lang="en-US" sz="3699">
                <a:solidFill>
                  <a:srgbClr val="FF66C4"/>
                </a:solidFill>
                <a:latin typeface="Canva Student Font"/>
                <a:ea typeface="Canva Student Font"/>
                <a:cs typeface="Canva Student Font"/>
                <a:sym typeface="Canva Student Font"/>
              </a:rPr>
              <a:t>Revocation</a:t>
            </a:r>
            <a:r>
              <a:rPr lang="en-US" sz="3699">
                <a:solidFill>
                  <a:srgbClr val="000000"/>
                </a:solidFill>
                <a:latin typeface="Canva Student Font"/>
                <a:ea typeface="Canva Student Font"/>
                <a:cs typeface="Canva Student Font"/>
                <a:sym typeface="Canva Student Font"/>
              </a:rPr>
              <a:t>: Prevent further use when a key is compromised or no longer trusted.</a:t>
            </a:r>
          </a:p>
          <a:p>
            <a:pPr algn="l" marL="798826" indent="-399413" lvl="1">
              <a:lnSpc>
                <a:spcPts val="5179"/>
              </a:lnSpc>
              <a:spcBef>
                <a:spcPct val="0"/>
              </a:spcBef>
              <a:buFont typeface="Arial"/>
              <a:buChar char="•"/>
            </a:pPr>
            <a:r>
              <a:rPr lang="en-US" sz="3699">
                <a:solidFill>
                  <a:srgbClr val="FF66C4"/>
                </a:solidFill>
                <a:latin typeface="Canva Student Font"/>
                <a:ea typeface="Canva Student Font"/>
                <a:cs typeface="Canva Student Font"/>
                <a:sym typeface="Canva Student Font"/>
              </a:rPr>
              <a:t>Expiration and renewal</a:t>
            </a:r>
            <a:r>
              <a:rPr lang="en-US" sz="3699">
                <a:solidFill>
                  <a:srgbClr val="000000"/>
                </a:solidFill>
                <a:latin typeface="Canva Student Font"/>
                <a:ea typeface="Canva Student Font"/>
                <a:cs typeface="Canva Student Font"/>
                <a:sym typeface="Canva Student Font"/>
              </a:rPr>
              <a:t>: shelf-life enhances security. renewal with same or new key pair.</a:t>
            </a:r>
          </a:p>
          <a:p>
            <a:pPr algn="l">
              <a:lnSpc>
                <a:spcPts val="5739"/>
              </a:lnSpc>
              <a:spcBef>
                <a:spcPct val="0"/>
              </a:spcBef>
            </a:pPr>
          </a:p>
        </p:txBody>
      </p:sp>
      <p:sp>
        <p:nvSpPr>
          <p:cNvPr name="TextBox 3" id="3"/>
          <p:cNvSpPr txBox="true"/>
          <p:nvPr/>
        </p:nvSpPr>
        <p:spPr>
          <a:xfrm rot="0">
            <a:off x="0" y="7139305"/>
            <a:ext cx="9648666" cy="1438911"/>
          </a:xfrm>
          <a:prstGeom prst="rect">
            <a:avLst/>
          </a:prstGeom>
        </p:spPr>
        <p:txBody>
          <a:bodyPr anchor="t" rtlCol="false" tIns="0" lIns="0" bIns="0" rIns="0">
            <a:spAutoFit/>
          </a:bodyPr>
          <a:lstStyle/>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decentalised km:</a:t>
            </a:r>
            <a:r>
              <a:rPr lang="en-US" sz="4099">
                <a:solidFill>
                  <a:srgbClr val="000000"/>
                </a:solidFill>
                <a:latin typeface="Canva Student Font"/>
                <a:ea typeface="Canva Student Font"/>
                <a:cs typeface="Canva Student Font"/>
                <a:sym typeface="Canva Student Font"/>
              </a:rPr>
              <a:t> Keys are managed separately by individual applications, devices or users.</a:t>
            </a:r>
          </a:p>
        </p:txBody>
      </p:sp>
      <p:sp>
        <p:nvSpPr>
          <p:cNvPr name="TextBox 4" id="4"/>
          <p:cNvSpPr txBox="true"/>
          <p:nvPr/>
        </p:nvSpPr>
        <p:spPr>
          <a:xfrm rot="0">
            <a:off x="0" y="8421067"/>
            <a:ext cx="9992384" cy="1438911"/>
          </a:xfrm>
          <a:prstGeom prst="rect">
            <a:avLst/>
          </a:prstGeom>
        </p:spPr>
        <p:txBody>
          <a:bodyPr anchor="t" rtlCol="false" tIns="0" lIns="0" bIns="0" rIns="0">
            <a:spAutoFit/>
          </a:bodyPr>
          <a:lstStyle/>
          <a:p>
            <a:pPr algn="ctr">
              <a:lnSpc>
                <a:spcPts val="5739"/>
              </a:lnSpc>
              <a:spcBef>
                <a:spcPct val="0"/>
              </a:spcBef>
            </a:pPr>
            <a:r>
              <a:rPr lang="en-US" sz="4099">
                <a:solidFill>
                  <a:srgbClr val="FF66C4"/>
                </a:solidFill>
                <a:latin typeface="Canva Student Font"/>
                <a:ea typeface="Canva Student Font"/>
                <a:cs typeface="Canva Student Font"/>
                <a:sym typeface="Canva Student Font"/>
              </a:rPr>
              <a:t>centralised km</a:t>
            </a:r>
            <a:r>
              <a:rPr lang="en-US" sz="4099">
                <a:solidFill>
                  <a:srgbClr val="000000"/>
                </a:solidFill>
                <a:latin typeface="Canva Student Font"/>
                <a:ea typeface="Canva Student Font"/>
                <a:cs typeface="Canva Student Font"/>
                <a:sym typeface="Canva Student Font"/>
              </a:rPr>
              <a:t>: P</a:t>
            </a:r>
            <a:r>
              <a:rPr lang="en-US" sz="4099">
                <a:solidFill>
                  <a:srgbClr val="000000"/>
                </a:solidFill>
                <a:latin typeface="Canva Student Font"/>
                <a:ea typeface="Canva Student Font"/>
                <a:cs typeface="Canva Student Font"/>
                <a:sym typeface="Canva Student Font"/>
              </a:rPr>
              <a:t>olicies and lifecycle operations are managed through a central service. e.g KMS</a:t>
            </a:r>
          </a:p>
        </p:txBody>
      </p:sp>
    </p:spTree>
  </p:cSld>
  <p:clrMapOvr>
    <a:masterClrMapping/>
  </p:clrMapOvr>
</p:sld>
</file>

<file path=ppt/slides/slide5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9354050" cy="5058411"/>
          </a:xfrm>
          <a:prstGeom prst="rect">
            <a:avLst/>
          </a:prstGeom>
        </p:spPr>
        <p:txBody>
          <a:bodyPr anchor="t" rtlCol="false" tIns="0" lIns="0" bIns="0" rIns="0">
            <a:spAutoFit/>
          </a:bodyPr>
          <a:lstStyle/>
          <a:p>
            <a:pPr algn="ctr">
              <a:lnSpc>
                <a:spcPts val="5739"/>
              </a:lnSpc>
            </a:pPr>
            <a:r>
              <a:rPr lang="en-US" sz="4099">
                <a:solidFill>
                  <a:srgbClr val="FF66C4"/>
                </a:solidFill>
                <a:latin typeface="Canva Student Font"/>
                <a:ea typeface="Canva Student Font"/>
                <a:cs typeface="Canva Student Font"/>
                <a:sym typeface="Canva Student Font"/>
              </a:rPr>
              <a:t>secure enclave</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protects decrypted data in system memory from unauthorized access.</a:t>
            </a:r>
          </a:p>
          <a:p>
            <a:pPr algn="l" marL="885184" indent="-442592" lvl="1">
              <a:lnSpc>
                <a:spcPts val="5739"/>
              </a:lnSpc>
              <a:buFont typeface="Arial"/>
              <a:buChar char="•"/>
            </a:pPr>
            <a:r>
              <a:rPr lang="en-US" sz="4099">
                <a:solidFill>
                  <a:srgbClr val="000000"/>
                </a:solidFill>
                <a:latin typeface="Canva Student Font"/>
                <a:ea typeface="Canva Student Font"/>
                <a:cs typeface="Canva Student Font"/>
                <a:sym typeface="Canva Student Font"/>
              </a:rPr>
              <a:t>security prevents access by untrusted processes, even with root or system privileges.</a:t>
            </a:r>
          </a:p>
          <a:p>
            <a:pPr algn="l" marL="885184" indent="-442592" lvl="1">
              <a:lnSpc>
                <a:spcPts val="5739"/>
              </a:lnSpc>
              <a:spcBef>
                <a:spcPct val="0"/>
              </a:spcBef>
              <a:buFont typeface="Arial"/>
              <a:buChar char="•"/>
            </a:pPr>
            <a:r>
              <a:rPr lang="en-US" sz="4099">
                <a:solidFill>
                  <a:srgbClr val="000000"/>
                </a:solidFill>
                <a:latin typeface="Canva Student Font"/>
                <a:ea typeface="Canva Student Font"/>
                <a:cs typeface="Canva Student Font"/>
                <a:sym typeface="Canva Student Font"/>
              </a:rPr>
              <a:t>implemented by Trusted Execution Environment (TEE) like Intel Software Guard Extensions</a:t>
            </a:r>
          </a:p>
        </p:txBody>
      </p:sp>
    </p:spTree>
  </p:cSld>
  <p:clrMapOvr>
    <a:masterClrMapping/>
  </p:clrMapOvr>
</p:sld>
</file>

<file path=ppt/slides/slide6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53077" y="-85725"/>
            <a:ext cx="3017193" cy="755016"/>
          </a:xfrm>
          <a:prstGeom prst="rect">
            <a:avLst/>
          </a:prstGeom>
        </p:spPr>
        <p:txBody>
          <a:bodyPr anchor="t" rtlCol="false" tIns="0" lIns="0" bIns="0" rIns="0">
            <a:spAutoFit/>
          </a:bodyPr>
          <a:lstStyle/>
          <a:p>
            <a:pPr algn="ctr">
              <a:lnSpc>
                <a:spcPts val="6159"/>
              </a:lnSpc>
              <a:spcBef>
                <a:spcPct val="0"/>
              </a:spcBef>
            </a:pPr>
            <a:r>
              <a:rPr lang="en-US" sz="4399">
                <a:gradFill>
                  <a:gsLst>
                    <a:gs pos="0">
                      <a:srgbClr val="7B2D9F">
                        <a:alpha val="100000"/>
                      </a:srgbClr>
                    </a:gs>
                    <a:gs pos="100000">
                      <a:srgbClr val="FDD82E">
                        <a:alpha val="100000"/>
                      </a:srgbClr>
                    </a:gs>
                  </a:gsLst>
                  <a:lin ang="5400000"/>
                </a:gradFill>
                <a:latin typeface="Gagalin"/>
                <a:ea typeface="Gagalin"/>
                <a:cs typeface="Gagalin"/>
                <a:sym typeface="Gagalin"/>
              </a:rPr>
              <a:t>obfuscation</a:t>
            </a:r>
          </a:p>
        </p:txBody>
      </p:sp>
      <p:sp>
        <p:nvSpPr>
          <p:cNvPr name="TextBox 3" id="3"/>
          <p:cNvSpPr txBox="true"/>
          <p:nvPr/>
        </p:nvSpPr>
        <p:spPr>
          <a:xfrm rot="0">
            <a:off x="0" y="574041"/>
            <a:ext cx="7226350" cy="1510321"/>
          </a:xfrm>
          <a:prstGeom prst="rect">
            <a:avLst/>
          </a:prstGeom>
        </p:spPr>
        <p:txBody>
          <a:bodyPr anchor="t" rtlCol="false" tIns="0" lIns="0" bIns="0" rIns="0">
            <a:spAutoFit/>
          </a:bodyPr>
          <a:lstStyle/>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h</a:t>
            </a:r>
            <a:r>
              <a:rPr lang="en-US" sz="4288">
                <a:solidFill>
                  <a:srgbClr val="000000"/>
                </a:solidFill>
                <a:latin typeface="Canva Student Font"/>
                <a:ea typeface="Canva Student Font"/>
                <a:cs typeface="Canva Student Font"/>
                <a:sym typeface="Canva Student Font"/>
              </a:rPr>
              <a:t>olds data to make it difficult to find</a:t>
            </a:r>
          </a:p>
          <a:p>
            <a:pPr algn="l">
              <a:lnSpc>
                <a:spcPts val="6003"/>
              </a:lnSpc>
              <a:spcBef>
                <a:spcPct val="0"/>
              </a:spcBef>
            </a:pPr>
          </a:p>
        </p:txBody>
      </p:sp>
      <p:sp>
        <p:nvSpPr>
          <p:cNvPr name="TextBox 4" id="4"/>
          <p:cNvSpPr txBox="true"/>
          <p:nvPr/>
        </p:nvSpPr>
        <p:spPr>
          <a:xfrm rot="0">
            <a:off x="0" y="1281576"/>
            <a:ext cx="9660625" cy="8261351"/>
          </a:xfrm>
          <a:prstGeom prst="rect">
            <a:avLst/>
          </a:prstGeom>
        </p:spPr>
        <p:txBody>
          <a:bodyPr anchor="t" rtlCol="false" tIns="0" lIns="0" bIns="0" rIns="0">
            <a:spAutoFit/>
          </a:bodyPr>
          <a:lstStyle/>
          <a:p>
            <a:pPr algn="ctr">
              <a:lnSpc>
                <a:spcPts val="5739"/>
              </a:lnSpc>
            </a:pPr>
            <a:r>
              <a:rPr lang="en-US" sz="4099">
                <a:solidFill>
                  <a:srgbClr val="FF66C4"/>
                </a:solidFill>
                <a:latin typeface="Canva Student Font"/>
                <a:ea typeface="Canva Student Font"/>
                <a:cs typeface="Canva Student Font"/>
                <a:sym typeface="Canva Student Font"/>
              </a:rPr>
              <a:t>steganography</a:t>
            </a:r>
          </a:p>
          <a:p>
            <a:pPr algn="ctr" marL="842005" indent="-421003" lvl="1">
              <a:lnSpc>
                <a:spcPts val="5459"/>
              </a:lnSpc>
              <a:buFont typeface="Arial"/>
              <a:buChar char="•"/>
            </a:pPr>
            <a:r>
              <a:rPr lang="en-US" sz="3899">
                <a:solidFill>
                  <a:srgbClr val="000000"/>
                </a:solidFill>
                <a:latin typeface="Canva Student Font"/>
                <a:ea typeface="Canva Student Font"/>
                <a:cs typeface="Canva Student Font"/>
                <a:sym typeface="Canva Student Font"/>
              </a:rPr>
              <a:t>the technique of </a:t>
            </a:r>
            <a:r>
              <a:rPr lang="en-US" sz="3899">
                <a:solidFill>
                  <a:srgbClr val="FF66C4"/>
                </a:solidFill>
                <a:latin typeface="Canva Student Font"/>
                <a:ea typeface="Canva Student Font"/>
                <a:cs typeface="Canva Student Font"/>
                <a:sym typeface="Canva Student Font"/>
              </a:rPr>
              <a:t>concealing </a:t>
            </a:r>
            <a:r>
              <a:rPr lang="en-US" sz="3899">
                <a:solidFill>
                  <a:srgbClr val="000000"/>
                </a:solidFill>
                <a:latin typeface="Canva Student Font"/>
                <a:ea typeface="Canva Student Font"/>
                <a:cs typeface="Canva Student Font"/>
                <a:sym typeface="Canva Student Font"/>
              </a:rPr>
              <a:t>secret information within an ordinary-looking file or communication medium to prevent the existence of the message from being detected.</a:t>
            </a:r>
          </a:p>
          <a:p>
            <a:pPr algn="ctr" marL="842005" indent="-421003" lvl="1">
              <a:lnSpc>
                <a:spcPts val="5459"/>
              </a:lnSpc>
              <a:buFont typeface="Arial"/>
              <a:buChar char="•"/>
            </a:pPr>
            <a:r>
              <a:rPr lang="en-US" sz="3899">
                <a:solidFill>
                  <a:srgbClr val="000000"/>
                </a:solidFill>
                <a:latin typeface="Canva Student Font"/>
                <a:ea typeface="Canva Student Font"/>
                <a:cs typeface="Canva Student Font"/>
                <a:sym typeface="Canva Student Font"/>
              </a:rPr>
              <a:t> conceals the very existence of the communication</a:t>
            </a:r>
          </a:p>
          <a:p>
            <a:pPr algn="ctr" marL="842005" indent="-421003" lvl="1">
              <a:lnSpc>
                <a:spcPts val="5459"/>
              </a:lnSpc>
              <a:buFont typeface="Arial"/>
              <a:buChar char="•"/>
            </a:pPr>
            <a:r>
              <a:rPr lang="en-US" sz="3899">
                <a:solidFill>
                  <a:srgbClr val="000000"/>
                </a:solidFill>
                <a:latin typeface="Canva Student Font"/>
                <a:ea typeface="Canva Student Font"/>
                <a:cs typeface="Canva Student Font"/>
                <a:sym typeface="Canva Student Font"/>
              </a:rPr>
              <a:t>The image, document or other medium used to conceal the information is commonly referred to as the </a:t>
            </a:r>
            <a:r>
              <a:rPr lang="en-US" sz="3899">
                <a:solidFill>
                  <a:srgbClr val="FF66C4"/>
                </a:solidFill>
                <a:latin typeface="Canva Student Font"/>
                <a:ea typeface="Canva Student Font"/>
                <a:cs typeface="Canva Student Font"/>
                <a:sym typeface="Canva Student Font"/>
              </a:rPr>
              <a:t>cover medium</a:t>
            </a:r>
          </a:p>
          <a:p>
            <a:pPr algn="ctr" marL="842005" indent="-421003" lvl="1">
              <a:lnSpc>
                <a:spcPts val="5459"/>
              </a:lnSpc>
              <a:buFont typeface="Arial"/>
              <a:buChar char="•"/>
            </a:pPr>
            <a:r>
              <a:rPr lang="en-US" sz="3899">
                <a:solidFill>
                  <a:srgbClr val="000000"/>
                </a:solidFill>
                <a:latin typeface="Canva Student Font"/>
                <a:ea typeface="Canva Student Font"/>
                <a:cs typeface="Canva Student Font"/>
                <a:sym typeface="Canva Student Font"/>
              </a:rPr>
              <a:t>The hidden message may be encrypted before embedding, thereby combining cryptography and steganography to provide an additional layer of security</a:t>
            </a:r>
          </a:p>
          <a:p>
            <a:pPr algn="ctr">
              <a:lnSpc>
                <a:spcPts val="5459"/>
              </a:lnSpc>
              <a:spcBef>
                <a:spcPct val="0"/>
              </a:spcBef>
            </a:pPr>
          </a:p>
        </p:txBody>
      </p:sp>
    </p:spTree>
  </p:cSld>
  <p:clrMapOvr>
    <a:masterClrMapping/>
  </p:clrMapOvr>
</p:sld>
</file>

<file path=ppt/slides/slide6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025057" y="-95250"/>
            <a:ext cx="2236887" cy="748321"/>
          </a:xfrm>
          <a:prstGeom prst="rect">
            <a:avLst/>
          </a:prstGeom>
        </p:spPr>
        <p:txBody>
          <a:bodyPr anchor="t" rtlCol="false" tIns="0" lIns="0" bIns="0" rIns="0">
            <a:spAutoFit/>
          </a:bodyPr>
          <a:lstStyle/>
          <a:p>
            <a:pPr algn="ctr">
              <a:lnSpc>
                <a:spcPts val="6003"/>
              </a:lnSpc>
              <a:spcBef>
                <a:spcPct val="0"/>
              </a:spcBef>
            </a:pPr>
            <a:r>
              <a:rPr lang="en-US" sz="4288">
                <a:solidFill>
                  <a:srgbClr val="FF66C4"/>
                </a:solidFill>
                <a:latin typeface="Canva Student Font"/>
                <a:ea typeface="Canva Student Font"/>
                <a:cs typeface="Canva Student Font"/>
                <a:sym typeface="Canva Student Font"/>
              </a:rPr>
              <a:t>data masking</a:t>
            </a:r>
          </a:p>
        </p:txBody>
      </p:sp>
      <p:sp>
        <p:nvSpPr>
          <p:cNvPr name="TextBox 3" id="3"/>
          <p:cNvSpPr txBox="true"/>
          <p:nvPr/>
        </p:nvSpPr>
        <p:spPr>
          <a:xfrm rot="0">
            <a:off x="78370" y="481640"/>
            <a:ext cx="10208630" cy="8368321"/>
          </a:xfrm>
          <a:prstGeom prst="rect">
            <a:avLst/>
          </a:prstGeom>
        </p:spPr>
        <p:txBody>
          <a:bodyPr anchor="t" rtlCol="false" tIns="0" lIns="0" bIns="0" rIns="0">
            <a:spAutoFit/>
          </a:bodyPr>
          <a:lstStyle/>
          <a:p>
            <a:pPr algn="l" marL="925900" indent="-462950" lvl="1">
              <a:lnSpc>
                <a:spcPts val="6003"/>
              </a:lnSpc>
              <a:buFont typeface="Arial"/>
              <a:buChar char="•"/>
            </a:pPr>
            <a:r>
              <a:rPr lang="en-US" sz="4288">
                <a:solidFill>
                  <a:srgbClr val="000000"/>
                </a:solidFill>
                <a:latin typeface="Canva Student Font"/>
                <a:ea typeface="Canva Student Font"/>
                <a:cs typeface="Canva Student Font"/>
                <a:sym typeface="Canva Student Font"/>
              </a:rPr>
              <a:t>used to conceal sensitive information by replacing some or all of its characters with substitute characters, such as Xs, asterisks, or blank spaces.</a:t>
            </a:r>
          </a:p>
          <a:p>
            <a:pPr algn="l" marL="925900" indent="-462950" lvl="1">
              <a:lnSpc>
                <a:spcPts val="6003"/>
              </a:lnSpc>
              <a:buFont typeface="Arial"/>
              <a:buChar char="•"/>
            </a:pPr>
            <a:r>
              <a:rPr lang="en-US" sz="4288">
                <a:solidFill>
                  <a:srgbClr val="000000"/>
                </a:solidFill>
                <a:latin typeface="Canva Student Font"/>
                <a:ea typeface="Canva Student Font"/>
                <a:cs typeface="Canva Student Font"/>
                <a:sym typeface="Canva Student Font"/>
              </a:rPr>
              <a:t>a credit card number may be displayed as **** **** **** 1234</a:t>
            </a:r>
          </a:p>
          <a:p>
            <a:pPr algn="l" marL="925900" indent="-462950" lvl="1">
              <a:lnSpc>
                <a:spcPts val="6003"/>
              </a:lnSpc>
              <a:buFont typeface="Arial"/>
              <a:buChar char="•"/>
            </a:pPr>
            <a:r>
              <a:rPr lang="en-US" sz="4288">
                <a:solidFill>
                  <a:srgbClr val="000000"/>
                </a:solidFill>
                <a:latin typeface="Canva Student Font"/>
                <a:ea typeface="Canva Student Font"/>
                <a:cs typeface="Canva Student Font"/>
                <a:sym typeface="Canva Student Font"/>
              </a:rPr>
              <a:t> used to prevent unauthorized users from viewing sensitive information in applications, databases, reports, and other information systems.</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Techniques associated with data masking include character substitution, shuffling, encrypting, masking out etc.</a:t>
            </a:r>
          </a:p>
        </p:txBody>
      </p:sp>
    </p:spTree>
  </p:cSld>
  <p:clrMapOvr>
    <a:masterClrMapping/>
  </p:clrMapOvr>
</p:sld>
</file>

<file path=ppt/slides/slide6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963592" y="-144735"/>
            <a:ext cx="1974354" cy="748321"/>
          </a:xfrm>
          <a:prstGeom prst="rect">
            <a:avLst/>
          </a:prstGeom>
        </p:spPr>
        <p:txBody>
          <a:bodyPr anchor="t" rtlCol="false" tIns="0" lIns="0" bIns="0" rIns="0">
            <a:spAutoFit/>
          </a:bodyPr>
          <a:lstStyle/>
          <a:p>
            <a:pPr algn="ctr">
              <a:lnSpc>
                <a:spcPts val="6003"/>
              </a:lnSpc>
              <a:spcBef>
                <a:spcPct val="0"/>
              </a:spcBef>
            </a:pPr>
            <a:r>
              <a:rPr lang="en-US" sz="4288">
                <a:solidFill>
                  <a:srgbClr val="FF66C4"/>
                </a:solidFill>
                <a:latin typeface="Canva Student Font"/>
                <a:ea typeface="Canva Student Font"/>
                <a:cs typeface="Canva Student Font"/>
                <a:sym typeface="Canva Student Font"/>
              </a:rPr>
              <a:t>tokenization</a:t>
            </a:r>
          </a:p>
        </p:txBody>
      </p:sp>
      <p:sp>
        <p:nvSpPr>
          <p:cNvPr name="TextBox 3" id="3"/>
          <p:cNvSpPr txBox="true"/>
          <p:nvPr/>
        </p:nvSpPr>
        <p:spPr>
          <a:xfrm rot="0">
            <a:off x="0" y="508336"/>
            <a:ext cx="10287000" cy="3796321"/>
          </a:xfrm>
          <a:prstGeom prst="rect">
            <a:avLst/>
          </a:prstGeom>
        </p:spPr>
        <p:txBody>
          <a:bodyPr anchor="t" rtlCol="false" tIns="0" lIns="0" bIns="0" rIns="0">
            <a:spAutoFit/>
          </a:bodyPr>
          <a:lstStyle/>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 </a:t>
            </a:r>
            <a:r>
              <a:rPr lang="en-US" sz="4288">
                <a:solidFill>
                  <a:srgbClr val="000000"/>
                </a:solidFill>
                <a:latin typeface="Canva Student Font"/>
                <a:ea typeface="Canva Student Font"/>
                <a:cs typeface="Canva Student Font"/>
                <a:sym typeface="Canva Student Font"/>
              </a:rPr>
              <a:t>replaces sensitive information with a non-sensitive substitute known as a token.</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tokens and original values are stored separately in a token server or vault</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used as a substitution for encryption</a:t>
            </a:r>
          </a:p>
        </p:txBody>
      </p:sp>
      <p:sp>
        <p:nvSpPr>
          <p:cNvPr name="TextBox 4" id="4"/>
          <p:cNvSpPr txBox="true"/>
          <p:nvPr/>
        </p:nvSpPr>
        <p:spPr>
          <a:xfrm rot="0">
            <a:off x="3684465" y="4731240"/>
            <a:ext cx="1886099" cy="738796"/>
          </a:xfrm>
          <a:prstGeom prst="rect">
            <a:avLst/>
          </a:prstGeom>
        </p:spPr>
        <p:txBody>
          <a:bodyPr anchor="t" rtlCol="false" tIns="0" lIns="0" bIns="0" rIns="0">
            <a:spAutoFit/>
          </a:bodyPr>
          <a:lstStyle/>
          <a:p>
            <a:pPr algn="ctr">
              <a:lnSpc>
                <a:spcPts val="6003"/>
              </a:lnSpc>
              <a:spcBef>
                <a:spcPct val="0"/>
              </a:spcBef>
            </a:pPr>
            <a:r>
              <a:rPr lang="en-US" sz="4288">
                <a:gradFill>
                  <a:gsLst>
                    <a:gs pos="0">
                      <a:srgbClr val="7B2D9F">
                        <a:alpha val="100000"/>
                      </a:srgbClr>
                    </a:gs>
                    <a:gs pos="100000">
                      <a:srgbClr val="FDD82E">
                        <a:alpha val="100000"/>
                      </a:srgbClr>
                    </a:gs>
                  </a:gsLst>
                  <a:lin ang="5400000"/>
                </a:gradFill>
                <a:latin typeface="Gagalin"/>
                <a:ea typeface="Gagalin"/>
                <a:cs typeface="Gagalin"/>
                <a:sym typeface="Gagalin"/>
              </a:rPr>
              <a:t>Hashing</a:t>
            </a:r>
          </a:p>
        </p:txBody>
      </p:sp>
      <p:sp>
        <p:nvSpPr>
          <p:cNvPr name="TextBox 5" id="5"/>
          <p:cNvSpPr txBox="true"/>
          <p:nvPr/>
        </p:nvSpPr>
        <p:spPr>
          <a:xfrm rot="0">
            <a:off x="0" y="5384310"/>
            <a:ext cx="10359274" cy="3508665"/>
          </a:xfrm>
          <a:prstGeom prst="rect">
            <a:avLst/>
          </a:prstGeom>
        </p:spPr>
        <p:txBody>
          <a:bodyPr anchor="t" rtlCol="false" tIns="0" lIns="0" bIns="0" rIns="0">
            <a:spAutoFit/>
          </a:bodyPr>
          <a:lstStyle/>
          <a:p>
            <a:pPr algn="l" marL="861132" indent="-430566" lvl="1">
              <a:lnSpc>
                <a:spcPts val="5583"/>
              </a:lnSpc>
              <a:buFont typeface="Arial"/>
              <a:buChar char="•"/>
            </a:pPr>
            <a:r>
              <a:rPr lang="en-US" sz="3988">
                <a:solidFill>
                  <a:srgbClr val="000000"/>
                </a:solidFill>
                <a:latin typeface="Canva Student Font"/>
                <a:ea typeface="Canva Student Font"/>
                <a:cs typeface="Canva Student Font"/>
                <a:sym typeface="Canva Student Font"/>
              </a:rPr>
              <a:t>represent data as a short string of text</a:t>
            </a:r>
          </a:p>
          <a:p>
            <a:pPr algn="l" marL="861132" indent="-430566" lvl="1">
              <a:lnSpc>
                <a:spcPts val="5583"/>
              </a:lnSpc>
              <a:buFont typeface="Arial"/>
              <a:buChar char="•"/>
            </a:pPr>
            <a:r>
              <a:rPr lang="en-US" sz="3988">
                <a:solidFill>
                  <a:srgbClr val="000000"/>
                </a:solidFill>
                <a:latin typeface="Canva Student Font"/>
                <a:ea typeface="Canva Student Font"/>
                <a:cs typeface="Canva Student Font"/>
                <a:sym typeface="Canva Student Font"/>
              </a:rPr>
              <a:t>one-way function (impossible to recover plaintext) and collision-resistant (unlikely for different inputs to produce the same output).</a:t>
            </a:r>
          </a:p>
          <a:p>
            <a:pPr algn="l">
              <a:lnSpc>
                <a:spcPts val="5583"/>
              </a:lnSpc>
              <a:spcBef>
                <a:spcPct val="0"/>
              </a:spcBef>
            </a:pPr>
          </a:p>
        </p:txBody>
      </p:sp>
    </p:spTree>
  </p:cSld>
  <p:clrMapOvr>
    <a:masterClrMapping/>
  </p:clrMapOvr>
</p:sld>
</file>

<file path=ppt/slides/slide6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5250"/>
            <a:ext cx="10287000" cy="2272321"/>
          </a:xfrm>
          <a:prstGeom prst="rect">
            <a:avLst/>
          </a:prstGeom>
        </p:spPr>
        <p:txBody>
          <a:bodyPr anchor="t" rtlCol="false" tIns="0" lIns="0" bIns="0" rIns="0">
            <a:spAutoFit/>
          </a:bodyPr>
          <a:lstStyle/>
          <a:p>
            <a:pPr algn="ctr">
              <a:lnSpc>
                <a:spcPts val="6003"/>
              </a:lnSpc>
              <a:spcBef>
                <a:spcPct val="0"/>
              </a:spcBef>
            </a:pPr>
            <a:r>
              <a:rPr lang="en-US" sz="4288">
                <a:solidFill>
                  <a:srgbClr val="000000"/>
                </a:solidFill>
                <a:latin typeface="Canva Student Font"/>
                <a:ea typeface="Canva Student Font"/>
                <a:cs typeface="Canva Student Font"/>
                <a:sym typeface="Canva Student Font"/>
              </a:rPr>
              <a:t>#</a:t>
            </a:r>
            <a:r>
              <a:rPr lang="en-US" sz="4288">
                <a:solidFill>
                  <a:srgbClr val="FF66C4"/>
                </a:solidFill>
                <a:latin typeface="Canva Student Font"/>
                <a:ea typeface="Canva Student Font"/>
                <a:cs typeface="Canva Student Font"/>
                <a:sym typeface="Canva Student Font"/>
              </a:rPr>
              <a:t>integrity verificati</a:t>
            </a:r>
            <a:r>
              <a:rPr lang="en-US" sz="4288">
                <a:solidFill>
                  <a:srgbClr val="FF66C4"/>
                </a:solidFill>
                <a:latin typeface="Canva Student Font"/>
                <a:ea typeface="Canva Student Font"/>
                <a:cs typeface="Canva Student Font"/>
                <a:sym typeface="Canva Student Font"/>
              </a:rPr>
              <a:t>on</a:t>
            </a:r>
            <a:r>
              <a:rPr lang="en-US" sz="4288">
                <a:solidFill>
                  <a:srgbClr val="000000"/>
                </a:solidFill>
                <a:latin typeface="Canva Student Font"/>
                <a:ea typeface="Canva Student Font"/>
                <a:cs typeface="Canva Student Font"/>
                <a:sym typeface="Canva Student Font"/>
              </a:rPr>
              <a:t>: 1. password comparison: hashes compared to verify psswords. 2. file integrity: hashes compared to verify file integrity</a:t>
            </a:r>
          </a:p>
        </p:txBody>
      </p:sp>
      <p:sp>
        <p:nvSpPr>
          <p:cNvPr name="TextBox 3" id="3"/>
          <p:cNvSpPr txBox="true"/>
          <p:nvPr/>
        </p:nvSpPr>
        <p:spPr>
          <a:xfrm rot="0">
            <a:off x="0" y="2081821"/>
            <a:ext cx="9564260" cy="7606321"/>
          </a:xfrm>
          <a:prstGeom prst="rect">
            <a:avLst/>
          </a:prstGeom>
        </p:spPr>
        <p:txBody>
          <a:bodyPr anchor="t" rtlCol="false" tIns="0" lIns="0" bIns="0" rIns="0">
            <a:spAutoFit/>
          </a:bodyPr>
          <a:lstStyle/>
          <a:p>
            <a:pPr algn="ctr">
              <a:lnSpc>
                <a:spcPts val="6003"/>
              </a:lnSpc>
              <a:spcBef>
                <a:spcPct val="0"/>
              </a:spcBef>
            </a:pPr>
            <a:r>
              <a:rPr lang="en-US" sz="4288">
                <a:solidFill>
                  <a:srgbClr val="FF66C4"/>
                </a:solidFill>
                <a:latin typeface="Canva Student Font"/>
                <a:ea typeface="Canva Student Font"/>
                <a:cs typeface="Canva Student Font"/>
                <a:sym typeface="Canva Student Font"/>
              </a:rPr>
              <a:t>c</a:t>
            </a:r>
            <a:r>
              <a:rPr lang="en-US" sz="4288">
                <a:solidFill>
                  <a:srgbClr val="FF66C4"/>
                </a:solidFill>
                <a:latin typeface="Canva Student Font"/>
                <a:ea typeface="Canva Student Font"/>
                <a:cs typeface="Canva Student Font"/>
                <a:sym typeface="Canva Student Font"/>
              </a:rPr>
              <a:t>ryptographic hash algorithms</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the </a:t>
            </a:r>
            <a:r>
              <a:rPr lang="en-US" sz="4288">
                <a:solidFill>
                  <a:srgbClr val="FF66C4"/>
                </a:solidFill>
                <a:latin typeface="Canva Student Font"/>
                <a:ea typeface="Canva Student Font"/>
                <a:cs typeface="Canva Student Font"/>
                <a:sym typeface="Canva Student Font"/>
              </a:rPr>
              <a:t>Secure Hash Algorithm (SHA) </a:t>
            </a:r>
            <a:r>
              <a:rPr lang="en-US" sz="4288">
                <a:solidFill>
                  <a:srgbClr val="000000"/>
                </a:solidFill>
                <a:latin typeface="Canva Student Font"/>
                <a:ea typeface="Canva Student Font"/>
                <a:cs typeface="Canva Student Font"/>
                <a:sym typeface="Canva Student Font"/>
              </a:rPr>
              <a:t>family and the</a:t>
            </a:r>
            <a:r>
              <a:rPr lang="en-US" sz="4288">
                <a:solidFill>
                  <a:srgbClr val="FF66C4"/>
                </a:solidFill>
                <a:latin typeface="Canva Student Font"/>
                <a:ea typeface="Canva Student Font"/>
                <a:cs typeface="Canva Student Font"/>
                <a:sym typeface="Canva Student Font"/>
              </a:rPr>
              <a:t> Message Digest 5 (MD5) </a:t>
            </a:r>
            <a:r>
              <a:rPr lang="en-US" sz="4288">
                <a:solidFill>
                  <a:srgbClr val="000000"/>
                </a:solidFill>
                <a:latin typeface="Canva Student Font"/>
                <a:ea typeface="Canva Student Font"/>
                <a:cs typeface="Canva Student Font"/>
                <a:sym typeface="Canva Student Font"/>
              </a:rPr>
              <a:t>algorithm</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SHA-1 and MD5 have known collision weaknesses and should not be used where collision resistance is required for security</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SHA-256, SHA-512, and suitable SHA-3 variants remain widely used for cryptographic integrity applications.</a:t>
            </a:r>
          </a:p>
          <a:p>
            <a:pPr algn="l">
              <a:lnSpc>
                <a:spcPts val="6003"/>
              </a:lnSpc>
              <a:spcBef>
                <a:spcPct val="0"/>
              </a:spcBef>
            </a:pPr>
          </a:p>
        </p:txBody>
      </p:sp>
    </p:spTree>
  </p:cSld>
  <p:clrMapOvr>
    <a:masterClrMapping/>
  </p:clrMapOvr>
</p:sld>
</file>

<file path=ppt/slides/slide6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65287" y="-95250"/>
            <a:ext cx="8556427" cy="748321"/>
          </a:xfrm>
          <a:prstGeom prst="rect">
            <a:avLst/>
          </a:prstGeom>
        </p:spPr>
        <p:txBody>
          <a:bodyPr anchor="t" rtlCol="false" tIns="0" lIns="0" bIns="0" rIns="0">
            <a:spAutoFit/>
          </a:bodyPr>
          <a:lstStyle/>
          <a:p>
            <a:pPr algn="ctr">
              <a:lnSpc>
                <a:spcPts val="6003"/>
              </a:lnSpc>
              <a:spcBef>
                <a:spcPct val="0"/>
              </a:spcBef>
            </a:pPr>
            <a:r>
              <a:rPr lang="en-US" sz="4288">
                <a:solidFill>
                  <a:srgbClr val="FF66C4"/>
                </a:solidFill>
                <a:latin typeface="Canva Student Font"/>
                <a:ea typeface="Canva Student Font"/>
                <a:cs typeface="Canva Student Font"/>
                <a:sym typeface="Canva Student Font"/>
              </a:rPr>
              <a:t>Hash-Based</a:t>
            </a:r>
            <a:r>
              <a:rPr lang="en-US" sz="4288">
                <a:solidFill>
                  <a:srgbClr val="FF66C4"/>
                </a:solidFill>
                <a:latin typeface="Canva Student Font"/>
                <a:ea typeface="Canva Student Font"/>
                <a:cs typeface="Canva Student Font"/>
                <a:sym typeface="Canva Student Font"/>
              </a:rPr>
              <a:t> Message Authentication Code (HMAC)</a:t>
            </a:r>
          </a:p>
        </p:txBody>
      </p:sp>
      <p:sp>
        <p:nvSpPr>
          <p:cNvPr name="TextBox 3" id="3"/>
          <p:cNvSpPr txBox="true"/>
          <p:nvPr/>
        </p:nvSpPr>
        <p:spPr>
          <a:xfrm rot="0">
            <a:off x="0" y="703280"/>
            <a:ext cx="10287000" cy="6844321"/>
          </a:xfrm>
          <a:prstGeom prst="rect">
            <a:avLst/>
          </a:prstGeom>
        </p:spPr>
        <p:txBody>
          <a:bodyPr anchor="t" rtlCol="false" tIns="0" lIns="0" bIns="0" rIns="0">
            <a:spAutoFit/>
          </a:bodyPr>
          <a:lstStyle/>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a security mechanism that combines a crypt</a:t>
            </a:r>
            <a:r>
              <a:rPr lang="en-US" sz="4288">
                <a:solidFill>
                  <a:srgbClr val="000000"/>
                </a:solidFill>
                <a:latin typeface="Canva Student Font"/>
                <a:ea typeface="Canva Student Font"/>
                <a:cs typeface="Canva Student Font"/>
                <a:sym typeface="Canva Student Font"/>
              </a:rPr>
              <a:t>ographic hash function, such as SHA-256 or SHA-3, with a shared secret key to verify message integrity and authenticity.</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Both the sender and recipient must know the secret key to generate or verify the HMAC</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Unlike digital signatures, HMAC does not provide non-repudiation because both parties share the same secret key.</a:t>
            </a:r>
          </a:p>
        </p:txBody>
      </p:sp>
    </p:spTree>
  </p:cSld>
  <p:clrMapOvr>
    <a:masterClrMapping/>
  </p:clrMapOvr>
</p:sld>
</file>

<file path=ppt/slides/slide6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727622" y="-53411"/>
            <a:ext cx="4246021" cy="701978"/>
          </a:xfrm>
          <a:prstGeom prst="rect">
            <a:avLst/>
          </a:prstGeom>
        </p:spPr>
        <p:txBody>
          <a:bodyPr anchor="t" rtlCol="false" tIns="0" lIns="0" bIns="0" rIns="0">
            <a:spAutoFit/>
          </a:bodyPr>
          <a:lstStyle/>
          <a:p>
            <a:pPr algn="ctr">
              <a:lnSpc>
                <a:spcPts val="5753"/>
              </a:lnSpc>
              <a:spcBef>
                <a:spcPct val="0"/>
              </a:spcBef>
            </a:pPr>
            <a:r>
              <a:rPr lang="en-US" sz="4109">
                <a:gradFill>
                  <a:gsLst>
                    <a:gs pos="0">
                      <a:srgbClr val="7B2D9F">
                        <a:alpha val="100000"/>
                      </a:srgbClr>
                    </a:gs>
                    <a:gs pos="100000">
                      <a:srgbClr val="FDD82E">
                        <a:alpha val="100000"/>
                      </a:srgbClr>
                    </a:gs>
                  </a:gsLst>
                  <a:lin ang="5400000"/>
                </a:gradFill>
                <a:latin typeface="Gagalin"/>
                <a:ea typeface="Gagalin"/>
                <a:cs typeface="Gagalin"/>
                <a:sym typeface="Gagalin"/>
              </a:rPr>
              <a:t>digital signatures</a:t>
            </a:r>
          </a:p>
        </p:txBody>
      </p:sp>
      <p:sp>
        <p:nvSpPr>
          <p:cNvPr name="TextBox 3" id="3"/>
          <p:cNvSpPr txBox="true"/>
          <p:nvPr/>
        </p:nvSpPr>
        <p:spPr>
          <a:xfrm rot="0">
            <a:off x="0" y="553317"/>
            <a:ext cx="10232722" cy="2272321"/>
          </a:xfrm>
          <a:prstGeom prst="rect">
            <a:avLst/>
          </a:prstGeom>
        </p:spPr>
        <p:txBody>
          <a:bodyPr anchor="t" rtlCol="false" tIns="0" lIns="0" bIns="0" rIns="0">
            <a:spAutoFit/>
          </a:bodyPr>
          <a:lstStyle/>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c</a:t>
            </a:r>
            <a:r>
              <a:rPr lang="en-US" sz="4288">
                <a:solidFill>
                  <a:srgbClr val="000000"/>
                </a:solidFill>
                <a:latin typeface="Canva Student Font"/>
                <a:ea typeface="Canva Student Font"/>
                <a:cs typeface="Canva Student Font"/>
                <a:sym typeface="Canva Student Font"/>
              </a:rPr>
              <a:t>ombines hashing and public-key cryptography to provide message integrity, authentication and support for non-repudiation.</a:t>
            </a:r>
          </a:p>
        </p:txBody>
      </p:sp>
      <p:sp>
        <p:nvSpPr>
          <p:cNvPr name="TextBox 4" id="4"/>
          <p:cNvSpPr txBox="true"/>
          <p:nvPr/>
        </p:nvSpPr>
        <p:spPr>
          <a:xfrm rot="0">
            <a:off x="0" y="2572545"/>
            <a:ext cx="10287000" cy="8273705"/>
          </a:xfrm>
          <a:prstGeom prst="rect">
            <a:avLst/>
          </a:prstGeom>
        </p:spPr>
        <p:txBody>
          <a:bodyPr anchor="t" rtlCol="false" tIns="0" lIns="0" bIns="0" rIns="0">
            <a:spAutoFit/>
          </a:bodyPr>
          <a:lstStyle/>
          <a:p>
            <a:pPr algn="ctr">
              <a:lnSpc>
                <a:spcPts val="4884"/>
              </a:lnSpc>
              <a:spcBef>
                <a:spcPct val="0"/>
              </a:spcBef>
            </a:pPr>
            <a:r>
              <a:rPr lang="en-US" sz="3488">
                <a:solidFill>
                  <a:srgbClr val="FF66C4"/>
                </a:solidFill>
                <a:latin typeface="Canva Student Font"/>
                <a:ea typeface="Canva Student Font"/>
                <a:cs typeface="Canva Student Font"/>
                <a:sym typeface="Canva Student Font"/>
              </a:rPr>
              <a:t>How it w</a:t>
            </a:r>
            <a:r>
              <a:rPr lang="en-US" sz="3488">
                <a:solidFill>
                  <a:srgbClr val="FF66C4"/>
                </a:solidFill>
                <a:latin typeface="Canva Student Font"/>
                <a:ea typeface="Canva Student Font"/>
                <a:cs typeface="Canva Student Font"/>
                <a:sym typeface="Canva Student Font"/>
              </a:rPr>
              <a:t>orks</a:t>
            </a:r>
            <a:r>
              <a:rPr lang="en-US" sz="3488">
                <a:solidFill>
                  <a:srgbClr val="000000"/>
                </a:solidFill>
                <a:latin typeface="Canva Student Font"/>
                <a:ea typeface="Canva Student Font"/>
                <a:cs typeface="Canva Student Font"/>
                <a:sym typeface="Canva Student Font"/>
              </a:rPr>
              <a:t>:</a:t>
            </a:r>
          </a:p>
          <a:p>
            <a:pPr algn="ctr" marL="774774" indent="-387387" lvl="1">
              <a:lnSpc>
                <a:spcPts val="5024"/>
              </a:lnSpc>
              <a:spcBef>
                <a:spcPct val="0"/>
              </a:spcBef>
              <a:buAutoNum type="arabicPeriod" startAt="1"/>
            </a:pPr>
            <a:r>
              <a:rPr lang="en-US" sz="3588">
                <a:solidFill>
                  <a:srgbClr val="FF66C4"/>
                </a:solidFill>
                <a:latin typeface="Canva Student Font"/>
                <a:ea typeface="Canva Student Font"/>
                <a:cs typeface="Canva Student Font"/>
                <a:sym typeface="Canva Student Font"/>
              </a:rPr>
              <a:t>Hashing</a:t>
            </a:r>
            <a:r>
              <a:rPr lang="en-US" sz="3588">
                <a:solidFill>
                  <a:srgbClr val="000000"/>
                </a:solidFill>
                <a:latin typeface="Canva Student Font"/>
                <a:ea typeface="Canva Student Font"/>
                <a:cs typeface="Canva Student Font"/>
                <a:sym typeface="Canva Student Font"/>
              </a:rPr>
              <a:t>: Alice generates a message digest using a secure hash algorithm, such as SHA-256 or SHA3-512.</a:t>
            </a:r>
          </a:p>
          <a:p>
            <a:pPr algn="ctr" marL="774774" indent="-387387" lvl="1">
              <a:lnSpc>
                <a:spcPts val="5024"/>
              </a:lnSpc>
              <a:spcBef>
                <a:spcPct val="0"/>
              </a:spcBef>
              <a:buAutoNum type="arabicPeriod" startAt="1"/>
            </a:pPr>
            <a:r>
              <a:rPr lang="en-US" sz="3588">
                <a:solidFill>
                  <a:srgbClr val="FF66C4"/>
                </a:solidFill>
                <a:latin typeface="Canva Student Font"/>
                <a:ea typeface="Canva Student Font"/>
                <a:cs typeface="Canva Student Font"/>
                <a:sym typeface="Canva Student Font"/>
              </a:rPr>
              <a:t>Signing</a:t>
            </a:r>
            <a:r>
              <a:rPr lang="en-US" sz="3588">
                <a:solidFill>
                  <a:srgbClr val="000000"/>
                </a:solidFill>
                <a:latin typeface="Canva Student Font"/>
                <a:ea typeface="Canva Student Font"/>
                <a:cs typeface="Canva Student Font"/>
                <a:sym typeface="Canva Student Font"/>
              </a:rPr>
              <a:t>: Alice uses her private key to create a digital signature over the digest.</a:t>
            </a:r>
          </a:p>
          <a:p>
            <a:pPr algn="ctr" marL="774774" indent="-387387" lvl="1">
              <a:lnSpc>
                <a:spcPts val="5024"/>
              </a:lnSpc>
              <a:spcBef>
                <a:spcPct val="0"/>
              </a:spcBef>
              <a:buAutoNum type="arabicPeriod" startAt="1"/>
            </a:pPr>
            <a:r>
              <a:rPr lang="en-US" sz="3588">
                <a:solidFill>
                  <a:srgbClr val="FF66C4"/>
                </a:solidFill>
                <a:latin typeface="Canva Student Font"/>
                <a:ea typeface="Canva Student Font"/>
                <a:cs typeface="Canva Student Font"/>
                <a:sym typeface="Canva Student Font"/>
              </a:rPr>
              <a:t>Sending</a:t>
            </a:r>
            <a:r>
              <a:rPr lang="en-US" sz="3588">
                <a:solidFill>
                  <a:srgbClr val="000000"/>
                </a:solidFill>
                <a:latin typeface="Canva Student Font"/>
                <a:ea typeface="Canva Student Font"/>
                <a:cs typeface="Canva Student Font"/>
                <a:sym typeface="Canva Student Font"/>
              </a:rPr>
              <a:t>: Alice sends the message together with the digital signature to Bob.</a:t>
            </a:r>
          </a:p>
          <a:p>
            <a:pPr algn="ctr" marL="774774" indent="-387387" lvl="1">
              <a:lnSpc>
                <a:spcPts val="5024"/>
              </a:lnSpc>
              <a:spcBef>
                <a:spcPct val="0"/>
              </a:spcBef>
              <a:buAutoNum type="arabicPeriod" startAt="1"/>
            </a:pPr>
            <a:r>
              <a:rPr lang="en-US" sz="3588">
                <a:solidFill>
                  <a:srgbClr val="FF66C4"/>
                </a:solidFill>
                <a:latin typeface="Canva Student Font"/>
                <a:ea typeface="Canva Student Font"/>
                <a:cs typeface="Canva Student Font"/>
                <a:sym typeface="Canva Student Font"/>
              </a:rPr>
              <a:t>Verification</a:t>
            </a:r>
            <a:r>
              <a:rPr lang="en-US" sz="3588">
                <a:solidFill>
                  <a:srgbClr val="000000"/>
                </a:solidFill>
                <a:latin typeface="Canva Student Font"/>
                <a:ea typeface="Canva Student Font"/>
                <a:cs typeface="Canva Student Font"/>
                <a:sym typeface="Canva Student Font"/>
              </a:rPr>
              <a:t>: Bob uses Alice’s public key to verify the signature and independently hashes the received message.</a:t>
            </a:r>
          </a:p>
          <a:p>
            <a:pPr algn="ctr" marL="774774" indent="-387387" lvl="1">
              <a:lnSpc>
                <a:spcPts val="5024"/>
              </a:lnSpc>
              <a:spcBef>
                <a:spcPct val="0"/>
              </a:spcBef>
              <a:buAutoNum type="arabicPeriod" startAt="1"/>
            </a:pPr>
            <a:r>
              <a:rPr lang="en-US" sz="3588">
                <a:solidFill>
                  <a:srgbClr val="FF66C4"/>
                </a:solidFill>
                <a:latin typeface="Canva Student Font"/>
                <a:ea typeface="Canva Student Font"/>
                <a:cs typeface="Canva Student Font"/>
                <a:sym typeface="Canva Student Font"/>
              </a:rPr>
              <a:t>Comparison</a:t>
            </a:r>
            <a:r>
              <a:rPr lang="en-US" sz="3588">
                <a:solidFill>
                  <a:srgbClr val="000000"/>
                </a:solidFill>
                <a:latin typeface="Canva Student Font"/>
                <a:ea typeface="Canva Student Font"/>
                <a:cs typeface="Canva Student Font"/>
                <a:sym typeface="Canva Student Font"/>
              </a:rPr>
              <a:t>: If verification succeeds, Bob gains evidence that the message has not been altered and that the signature was generated using the corresponding private key.</a:t>
            </a:r>
          </a:p>
          <a:p>
            <a:pPr algn="ctr">
              <a:lnSpc>
                <a:spcPts val="6003"/>
              </a:lnSpc>
              <a:spcBef>
                <a:spcPct val="0"/>
              </a:spcBef>
            </a:pPr>
          </a:p>
        </p:txBody>
      </p:sp>
    </p:spTree>
  </p:cSld>
  <p:clrMapOvr>
    <a:masterClrMapping/>
  </p:clrMapOvr>
</p:sld>
</file>

<file path=ppt/slides/slide6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13356" y="-85725"/>
            <a:ext cx="4826645" cy="738796"/>
          </a:xfrm>
          <a:prstGeom prst="rect">
            <a:avLst/>
          </a:prstGeom>
        </p:spPr>
        <p:txBody>
          <a:bodyPr anchor="t" rtlCol="false" tIns="0" lIns="0" bIns="0" rIns="0">
            <a:spAutoFit/>
          </a:bodyPr>
          <a:lstStyle/>
          <a:p>
            <a:pPr algn="ctr">
              <a:lnSpc>
                <a:spcPts val="6003"/>
              </a:lnSpc>
              <a:spcBef>
                <a:spcPct val="0"/>
              </a:spcBef>
            </a:pPr>
            <a:r>
              <a:rPr lang="en-US" sz="4288">
                <a:gradFill>
                  <a:gsLst>
                    <a:gs pos="0">
                      <a:srgbClr val="7B2D9F">
                        <a:alpha val="100000"/>
                      </a:srgbClr>
                    </a:gs>
                    <a:gs pos="100000">
                      <a:srgbClr val="FDD82E">
                        <a:alpha val="100000"/>
                      </a:srgbClr>
                    </a:gs>
                  </a:gsLst>
                  <a:lin ang="5400000"/>
                </a:gradFill>
                <a:latin typeface="Gagalin"/>
                <a:ea typeface="Gagalin"/>
                <a:cs typeface="Gagalin"/>
                <a:sym typeface="Gagalin"/>
              </a:rPr>
              <a:t>Digital</a:t>
            </a:r>
            <a:r>
              <a:rPr lang="en-US" sz="4288">
                <a:gradFill>
                  <a:gsLst>
                    <a:gs pos="0">
                      <a:srgbClr val="7B2D9F">
                        <a:alpha val="100000"/>
                      </a:srgbClr>
                    </a:gs>
                    <a:gs pos="100000">
                      <a:srgbClr val="FDD82E">
                        <a:alpha val="100000"/>
                      </a:srgbClr>
                    </a:gs>
                  </a:gsLst>
                  <a:lin ang="5400000"/>
                </a:gradFill>
                <a:latin typeface="Gagalin"/>
                <a:ea typeface="Gagalin"/>
                <a:cs typeface="Gagalin"/>
                <a:sym typeface="Gagalin"/>
              </a:rPr>
              <a:t> Certificates</a:t>
            </a:r>
          </a:p>
        </p:txBody>
      </p:sp>
      <p:sp>
        <p:nvSpPr>
          <p:cNvPr name="TextBox 3" id="3"/>
          <p:cNvSpPr txBox="true"/>
          <p:nvPr/>
        </p:nvSpPr>
        <p:spPr>
          <a:xfrm rot="0">
            <a:off x="0" y="557821"/>
            <a:ext cx="10132815" cy="6082321"/>
          </a:xfrm>
          <a:prstGeom prst="rect">
            <a:avLst/>
          </a:prstGeom>
        </p:spPr>
        <p:txBody>
          <a:bodyPr anchor="t" rtlCol="false" tIns="0" lIns="0" bIns="0" rIns="0">
            <a:spAutoFit/>
          </a:bodyPr>
          <a:lstStyle/>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electr</a:t>
            </a:r>
            <a:r>
              <a:rPr lang="en-US" sz="4288">
                <a:solidFill>
                  <a:srgbClr val="000000"/>
                </a:solidFill>
                <a:latin typeface="Canva Student Font"/>
                <a:ea typeface="Canva Student Font"/>
                <a:cs typeface="Canva Student Font"/>
                <a:sym typeface="Canva Student Font"/>
              </a:rPr>
              <a:t>onic document that links an entity's identity to its public key.</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It is issued and digitally signed by a trusted Certificate Authority (CA), which helps other parties verify that the public key belongs to the claimed entity.</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follow the X.509 standard and are used to secure websites, email, devices and digitally signed software.</a:t>
            </a:r>
          </a:p>
        </p:txBody>
      </p:sp>
    </p:spTree>
  </p:cSld>
  <p:clrMapOvr>
    <a:masterClrMapping/>
  </p:clrMapOvr>
</p:sld>
</file>

<file path=ppt/slides/slide6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27894" y="-95250"/>
            <a:ext cx="5334298" cy="748321"/>
          </a:xfrm>
          <a:prstGeom prst="rect">
            <a:avLst/>
          </a:prstGeom>
        </p:spPr>
        <p:txBody>
          <a:bodyPr anchor="t" rtlCol="false" tIns="0" lIns="0" bIns="0" rIns="0">
            <a:spAutoFit/>
          </a:bodyPr>
          <a:lstStyle/>
          <a:p>
            <a:pPr algn="ctr">
              <a:lnSpc>
                <a:spcPts val="6003"/>
              </a:lnSpc>
              <a:spcBef>
                <a:spcPct val="0"/>
              </a:spcBef>
            </a:pPr>
            <a:r>
              <a:rPr lang="en-US" sz="4288">
                <a:solidFill>
                  <a:srgbClr val="000000"/>
                </a:solidFill>
                <a:latin typeface="Canva Student Font"/>
                <a:ea typeface="Canva Student Font"/>
                <a:cs typeface="Canva Student Font"/>
                <a:sym typeface="Canva Student Font"/>
              </a:rPr>
              <a:t> </a:t>
            </a:r>
            <a:r>
              <a:rPr lang="en-US" sz="4288">
                <a:solidFill>
                  <a:srgbClr val="FF66C4"/>
                </a:solidFill>
                <a:latin typeface="Canva Student Font"/>
                <a:ea typeface="Canva Student Font"/>
                <a:cs typeface="Canva Student Font"/>
                <a:sym typeface="Canva Student Font"/>
              </a:rPr>
              <a:t>Certificate revocation</a:t>
            </a:r>
          </a:p>
        </p:txBody>
      </p:sp>
      <p:sp>
        <p:nvSpPr>
          <p:cNvPr name="TextBox 3" id="3"/>
          <p:cNvSpPr txBox="true"/>
          <p:nvPr/>
        </p:nvSpPr>
        <p:spPr>
          <a:xfrm rot="0">
            <a:off x="37004" y="557821"/>
            <a:ext cx="10249996" cy="4558321"/>
          </a:xfrm>
          <a:prstGeom prst="rect">
            <a:avLst/>
          </a:prstGeom>
        </p:spPr>
        <p:txBody>
          <a:bodyPr anchor="t" rtlCol="false" tIns="0" lIns="0" bIns="0" rIns="0">
            <a:spAutoFit/>
          </a:bodyPr>
          <a:lstStyle/>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Ce</a:t>
            </a:r>
            <a:r>
              <a:rPr lang="en-US" sz="4288">
                <a:solidFill>
                  <a:srgbClr val="000000"/>
                </a:solidFill>
                <a:latin typeface="Canva Student Font"/>
                <a:ea typeface="Canva Student Font"/>
                <a:cs typeface="Canva Student Font"/>
                <a:sym typeface="Canva Student Font"/>
              </a:rPr>
              <a:t>rtificate Revocation List (CRL): A published list of revoked certificates. Revoked certificate or Suspended certificate.</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Online Certificate Status Protocol (OCSP): Allows a client to query a service for a certificate's revocation status.</a:t>
            </a:r>
          </a:p>
        </p:txBody>
      </p:sp>
    </p:spTree>
  </p:cSld>
  <p:clrMapOvr>
    <a:masterClrMapping/>
  </p:clrMapOvr>
</p:sld>
</file>

<file path=ppt/slides/slide6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46915" y="653071"/>
          <a:ext cx="9593170" cy="9144000"/>
        </p:xfrm>
        <a:graphic>
          <a:graphicData uri="http://schemas.openxmlformats.org/drawingml/2006/table">
            <a:tbl>
              <a:tblPr/>
              <a:tblGrid>
                <a:gridCol w="4796585"/>
                <a:gridCol w="4796585"/>
              </a:tblGrid>
              <a:tr h="850382">
                <a:tc>
                  <a:txBody>
                    <a:bodyPr anchor="t" rtlCol="false"/>
                    <a:lstStyle/>
                    <a:p>
                      <a:pPr algn="ctr">
                        <a:lnSpc>
                          <a:spcPts val="3639"/>
                        </a:lnSpc>
                        <a:defRPr/>
                      </a:pPr>
                      <a:r>
                        <a:rPr lang="en-US" sz="2599">
                          <a:solidFill>
                            <a:srgbClr val="000000"/>
                          </a:solidFill>
                          <a:latin typeface="Canva Student Font"/>
                          <a:ea typeface="Canva Student Font"/>
                          <a:cs typeface="Canva Student Font"/>
                          <a:sym typeface="Canva Student Font"/>
                        </a:rPr>
                        <a:t>Type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Canva Student Font"/>
                          <a:ea typeface="Canva Student Font"/>
                          <a:cs typeface="Canva Student Font"/>
                          <a:sym typeface="Canva Student Font"/>
                        </a:rPr>
                        <a:t>Explanation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2073404">
                <a:tc>
                  <a:txBody>
                    <a:bodyPr anchor="t" rtlCol="false"/>
                    <a:lstStyle/>
                    <a:p>
                      <a:pPr algn="l">
                        <a:lnSpc>
                          <a:spcPts val="3359"/>
                        </a:lnSpc>
                        <a:defRPr/>
                      </a:pPr>
                      <a:r>
                        <a:rPr lang="en-US" sz="2399">
                          <a:solidFill>
                            <a:srgbClr val="000000"/>
                          </a:solidFill>
                          <a:latin typeface="Canva Student Font"/>
                          <a:ea typeface="Canva Student Font"/>
                          <a:cs typeface="Canva Student Font"/>
                          <a:sym typeface="Canva Student Font"/>
                        </a:rPr>
                        <a:t>Self-signed certificate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Canva Student Font"/>
                          <a:ea typeface="Canva Student Font"/>
                          <a:cs typeface="Canva Student Font"/>
                          <a:sym typeface="Canva Student Font"/>
                        </a:rPr>
                        <a:t>Signed using its own private key rather than a trusted CA. Common in testing and private environments, but requires a separate method of establishing trust.</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652991">
                <a:tc>
                  <a:txBody>
                    <a:bodyPr anchor="t" rtlCol="false"/>
                    <a:lstStyle/>
                    <a:p>
                      <a:pPr algn="l">
                        <a:lnSpc>
                          <a:spcPts val="3359"/>
                        </a:lnSpc>
                        <a:defRPr/>
                      </a:pPr>
                      <a:r>
                        <a:rPr lang="en-US" sz="2399">
                          <a:solidFill>
                            <a:srgbClr val="000000"/>
                          </a:solidFill>
                          <a:latin typeface="Canva Student Font"/>
                          <a:ea typeface="Canva Student Font"/>
                          <a:cs typeface="Canva Student Font"/>
                          <a:sym typeface="Canva Student Font"/>
                        </a:rPr>
                        <a:t>Third-party CA</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C274A"/>
                          </a:solidFill>
                          <a:latin typeface="Canva Student Font"/>
                          <a:ea typeface="Canva Student Font"/>
                          <a:cs typeface="Canva Student Font"/>
                          <a:sym typeface="Canva Student Font"/>
                        </a:rPr>
                        <a:t> Root certificate authority issues certificates to intermediate certificate authorities, which in turn issue certificates to end entities.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2493818">
                <a:tc>
                  <a:txBody>
                    <a:bodyPr anchor="t" rtlCol="false"/>
                    <a:lstStyle/>
                    <a:p>
                      <a:pPr algn="l">
                        <a:lnSpc>
                          <a:spcPts val="3359"/>
                        </a:lnSpc>
                        <a:defRPr/>
                      </a:pPr>
                      <a:r>
                        <a:rPr lang="en-US" sz="2399">
                          <a:solidFill>
                            <a:srgbClr val="000000"/>
                          </a:solidFill>
                          <a:latin typeface="Canva Student Font"/>
                          <a:ea typeface="Canva Student Font"/>
                          <a:cs typeface="Canva Student Font"/>
                          <a:sym typeface="Canva Student Font"/>
                        </a:rPr>
                        <a:t>Root CA</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C274A"/>
                          </a:solidFill>
                          <a:latin typeface="Canva Student Font"/>
                          <a:ea typeface="Canva Student Font"/>
                          <a:cs typeface="Canva Student Font"/>
                          <a:sym typeface="Canva Student Font"/>
                        </a:rPr>
                        <a:t>establishes trust between users and certificate authorities by using root certificates, which are self-signed by the certificate authority and used to sign other certificates.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2073404">
                <a:tc>
                  <a:txBody>
                    <a:bodyPr anchor="t" rtlCol="false"/>
                    <a:lstStyle/>
                    <a:p>
                      <a:pPr algn="l">
                        <a:lnSpc>
                          <a:spcPts val="3359"/>
                        </a:lnSpc>
                        <a:defRPr/>
                      </a:pPr>
                      <a:r>
                        <a:rPr lang="en-US" sz="2399">
                          <a:solidFill>
                            <a:srgbClr val="000000"/>
                          </a:solidFill>
                          <a:latin typeface="Canva Student Font"/>
                          <a:ea typeface="Canva Student Font"/>
                          <a:cs typeface="Canva Student Font"/>
                          <a:sym typeface="Canva Student Font"/>
                        </a:rPr>
                        <a:t>Single-CA model</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C274A"/>
                          </a:solidFill>
                          <a:latin typeface="Canva Student Font"/>
                          <a:ea typeface="Canva Student Font"/>
                          <a:cs typeface="Canva Student Font"/>
                          <a:sym typeface="Canva Student Font"/>
                        </a:rPr>
                        <a:t>The root CA directly issues certificates to users and computers, often used on private networks, vulnerable because if compromised, the entire PKI collapses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642849" y="-95250"/>
            <a:ext cx="8085832" cy="748321"/>
          </a:xfrm>
          <a:prstGeom prst="rect">
            <a:avLst/>
          </a:prstGeom>
        </p:spPr>
        <p:txBody>
          <a:bodyPr anchor="t" rtlCol="false" tIns="0" lIns="0" bIns="0" rIns="0">
            <a:spAutoFit/>
          </a:bodyPr>
          <a:lstStyle/>
          <a:p>
            <a:pPr algn="ctr">
              <a:lnSpc>
                <a:spcPts val="6003"/>
              </a:lnSpc>
              <a:spcBef>
                <a:spcPct val="0"/>
              </a:spcBef>
            </a:pPr>
            <a:r>
              <a:rPr lang="en-US" sz="4288">
                <a:solidFill>
                  <a:srgbClr val="FF66C4"/>
                </a:solidFill>
                <a:latin typeface="Canva Student Font"/>
                <a:ea typeface="Canva Student Font"/>
                <a:cs typeface="Canva Student Font"/>
                <a:sym typeface="Canva Student Font"/>
              </a:rPr>
              <a:t>Types </a:t>
            </a:r>
            <a:r>
              <a:rPr lang="en-US" sz="4288">
                <a:solidFill>
                  <a:srgbClr val="FF66C4"/>
                </a:solidFill>
                <a:latin typeface="Canva Student Font"/>
                <a:ea typeface="Canva Student Font"/>
                <a:cs typeface="Canva Student Font"/>
                <a:sym typeface="Canva Student Font"/>
              </a:rPr>
              <a:t>of certificates and certificate authorities</a:t>
            </a:r>
          </a:p>
        </p:txBody>
      </p:sp>
    </p:spTree>
  </p:cSld>
  <p:clrMapOvr>
    <a:masterClrMapping/>
  </p:clrMapOvr>
</p:sld>
</file>

<file path=ppt/slides/slide6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80939" y="-85725"/>
            <a:ext cx="3720554" cy="738796"/>
          </a:xfrm>
          <a:prstGeom prst="rect">
            <a:avLst/>
          </a:prstGeom>
        </p:spPr>
        <p:txBody>
          <a:bodyPr anchor="t" rtlCol="false" tIns="0" lIns="0" bIns="0" rIns="0">
            <a:spAutoFit/>
          </a:bodyPr>
          <a:lstStyle/>
          <a:p>
            <a:pPr algn="ctr">
              <a:lnSpc>
                <a:spcPts val="6003"/>
              </a:lnSpc>
              <a:spcBef>
                <a:spcPct val="0"/>
              </a:spcBef>
            </a:pPr>
            <a:r>
              <a:rPr lang="en-US" sz="4288">
                <a:gradFill>
                  <a:gsLst>
                    <a:gs pos="0">
                      <a:srgbClr val="7B2D9F">
                        <a:alpha val="100000"/>
                      </a:srgbClr>
                    </a:gs>
                    <a:gs pos="100000">
                      <a:srgbClr val="FDD82E">
                        <a:alpha val="100000"/>
                      </a:srgbClr>
                    </a:gs>
                  </a:gsLst>
                  <a:lin ang="5400000"/>
                </a:gradFill>
                <a:latin typeface="Gagalin"/>
                <a:ea typeface="Gagalin"/>
                <a:cs typeface="Gagalin"/>
                <a:sym typeface="Gagalin"/>
              </a:rPr>
              <a:t>key stretching</a:t>
            </a:r>
          </a:p>
        </p:txBody>
      </p:sp>
      <p:sp>
        <p:nvSpPr>
          <p:cNvPr name="TextBox 3" id="3"/>
          <p:cNvSpPr txBox="true"/>
          <p:nvPr/>
        </p:nvSpPr>
        <p:spPr>
          <a:xfrm rot="0">
            <a:off x="0" y="606915"/>
            <a:ext cx="10287000" cy="3034321"/>
          </a:xfrm>
          <a:prstGeom prst="rect">
            <a:avLst/>
          </a:prstGeom>
        </p:spPr>
        <p:txBody>
          <a:bodyPr anchor="t" rtlCol="false" tIns="0" lIns="0" bIns="0" rIns="0">
            <a:spAutoFit/>
          </a:bodyPr>
          <a:lstStyle/>
          <a:p>
            <a:pPr algn="l" marL="925900" indent="-462950" lvl="1">
              <a:lnSpc>
                <a:spcPts val="6003"/>
              </a:lnSpc>
              <a:buFont typeface="Arial"/>
              <a:buChar char="•"/>
            </a:pPr>
            <a:r>
              <a:rPr lang="en-US" sz="4288">
                <a:solidFill>
                  <a:srgbClr val="000000"/>
                </a:solidFill>
                <a:latin typeface="Canva Student Font"/>
                <a:ea typeface="Canva Student Font"/>
                <a:cs typeface="Canva Student Font"/>
                <a:sym typeface="Canva Student Font"/>
              </a:rPr>
              <a:t>increases key length through multiple iterations.</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uses algorithms such as PBKDF2, which repeatedly applies hashing and other operations to increase the time required for attackers to test password guesses.</a:t>
            </a:r>
          </a:p>
        </p:txBody>
      </p:sp>
      <p:sp>
        <p:nvSpPr>
          <p:cNvPr name="TextBox 4" id="4"/>
          <p:cNvSpPr txBox="true"/>
          <p:nvPr/>
        </p:nvSpPr>
        <p:spPr>
          <a:xfrm rot="0">
            <a:off x="3406398" y="3603135"/>
            <a:ext cx="2269637" cy="738796"/>
          </a:xfrm>
          <a:prstGeom prst="rect">
            <a:avLst/>
          </a:prstGeom>
        </p:spPr>
        <p:txBody>
          <a:bodyPr anchor="t" rtlCol="false" tIns="0" lIns="0" bIns="0" rIns="0">
            <a:spAutoFit/>
          </a:bodyPr>
          <a:lstStyle/>
          <a:p>
            <a:pPr algn="ctr">
              <a:lnSpc>
                <a:spcPts val="6003"/>
              </a:lnSpc>
              <a:spcBef>
                <a:spcPct val="0"/>
              </a:spcBef>
            </a:pPr>
            <a:r>
              <a:rPr lang="en-US" sz="4288">
                <a:gradFill>
                  <a:gsLst>
                    <a:gs pos="0">
                      <a:srgbClr val="7B2D9F">
                        <a:alpha val="100000"/>
                      </a:srgbClr>
                    </a:gs>
                    <a:gs pos="100000">
                      <a:srgbClr val="FDD82E">
                        <a:alpha val="100000"/>
                      </a:srgbClr>
                    </a:gs>
                  </a:gsLst>
                  <a:lin ang="5400000"/>
                </a:gradFill>
                <a:latin typeface="Gagalin"/>
                <a:ea typeface="Gagalin"/>
                <a:cs typeface="Gagalin"/>
                <a:sym typeface="Gagalin"/>
              </a:rPr>
              <a:t>S</a:t>
            </a:r>
            <a:r>
              <a:rPr lang="en-US" sz="4288">
                <a:gradFill>
                  <a:gsLst>
                    <a:gs pos="0">
                      <a:srgbClr val="7B2D9F">
                        <a:alpha val="100000"/>
                      </a:srgbClr>
                    </a:gs>
                    <a:gs pos="100000">
                      <a:srgbClr val="FDD82E">
                        <a:alpha val="100000"/>
                      </a:srgbClr>
                    </a:gs>
                  </a:gsLst>
                  <a:lin ang="5400000"/>
                </a:gradFill>
                <a:latin typeface="Gagalin"/>
                <a:ea typeface="Gagalin"/>
                <a:cs typeface="Gagalin"/>
                <a:sym typeface="Gagalin"/>
              </a:rPr>
              <a:t>alting</a:t>
            </a:r>
          </a:p>
        </p:txBody>
      </p:sp>
      <p:sp>
        <p:nvSpPr>
          <p:cNvPr name="TextBox 5" id="5"/>
          <p:cNvSpPr txBox="true"/>
          <p:nvPr/>
        </p:nvSpPr>
        <p:spPr>
          <a:xfrm rot="0">
            <a:off x="0" y="4246681"/>
            <a:ext cx="10287000" cy="3796321"/>
          </a:xfrm>
          <a:prstGeom prst="rect">
            <a:avLst/>
          </a:prstGeom>
        </p:spPr>
        <p:txBody>
          <a:bodyPr anchor="t" rtlCol="false" tIns="0" lIns="0" bIns="0" rIns="0">
            <a:spAutoFit/>
          </a:bodyPr>
          <a:lstStyle/>
          <a:p>
            <a:pPr algn="l" marL="925900" indent="-462950" lvl="1">
              <a:lnSpc>
                <a:spcPts val="6003"/>
              </a:lnSpc>
              <a:buFont typeface="Arial"/>
              <a:buChar char="•"/>
            </a:pPr>
            <a:r>
              <a:rPr lang="en-US" sz="4288">
                <a:solidFill>
                  <a:srgbClr val="000000"/>
                </a:solidFill>
                <a:latin typeface="Canva Student Font"/>
                <a:ea typeface="Canva Student Font"/>
                <a:cs typeface="Canva Student Font"/>
                <a:sym typeface="Canva Student Font"/>
              </a:rPr>
              <a:t>prevents precomputed hash attacks by adding random value (salt) to passwords.</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Salting helps defend against precomputed attacks, such as rainbow-table attacks, and makes large-scale password cracking less efficient.</a:t>
            </a:r>
          </a:p>
        </p:txBody>
      </p:sp>
    </p:spTree>
  </p:cSld>
  <p:clrMapOvr>
    <a:masterClrMapping/>
  </p:clrMapOvr>
</p:sld>
</file>

<file path=ppt/slides/slide7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582592" y="-85725"/>
            <a:ext cx="2736354" cy="738796"/>
          </a:xfrm>
          <a:prstGeom prst="rect">
            <a:avLst/>
          </a:prstGeom>
        </p:spPr>
        <p:txBody>
          <a:bodyPr anchor="t" rtlCol="false" tIns="0" lIns="0" bIns="0" rIns="0">
            <a:spAutoFit/>
          </a:bodyPr>
          <a:lstStyle/>
          <a:p>
            <a:pPr algn="ctr">
              <a:lnSpc>
                <a:spcPts val="6003"/>
              </a:lnSpc>
              <a:spcBef>
                <a:spcPct val="0"/>
              </a:spcBef>
            </a:pPr>
            <a:r>
              <a:rPr lang="en-US" sz="4288">
                <a:gradFill>
                  <a:gsLst>
                    <a:gs pos="0">
                      <a:srgbClr val="7B2D9F">
                        <a:alpha val="100000"/>
                      </a:srgbClr>
                    </a:gs>
                    <a:gs pos="100000">
                      <a:srgbClr val="FDD82E">
                        <a:alpha val="100000"/>
                      </a:srgbClr>
                    </a:gs>
                  </a:gsLst>
                  <a:lin ang="5400000"/>
                </a:gradFill>
                <a:latin typeface="Gagalin"/>
                <a:ea typeface="Gagalin"/>
                <a:cs typeface="Gagalin"/>
                <a:sym typeface="Gagalin"/>
              </a:rPr>
              <a:t>blockchain</a:t>
            </a:r>
          </a:p>
        </p:txBody>
      </p:sp>
      <p:sp>
        <p:nvSpPr>
          <p:cNvPr name="TextBox 3" id="3"/>
          <p:cNvSpPr txBox="true"/>
          <p:nvPr/>
        </p:nvSpPr>
        <p:spPr>
          <a:xfrm rot="0">
            <a:off x="0" y="557821"/>
            <a:ext cx="10287000" cy="9130321"/>
          </a:xfrm>
          <a:prstGeom prst="rect">
            <a:avLst/>
          </a:prstGeom>
        </p:spPr>
        <p:txBody>
          <a:bodyPr anchor="t" rtlCol="false" tIns="0" lIns="0" bIns="0" rIns="0">
            <a:spAutoFit/>
          </a:bodyPr>
          <a:lstStyle/>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distributed digital ledger that rec</a:t>
            </a:r>
            <a:r>
              <a:rPr lang="en-US" sz="4288">
                <a:solidFill>
                  <a:srgbClr val="000000"/>
                </a:solidFill>
                <a:latin typeface="Canva Student Font"/>
                <a:ea typeface="Canva Student Font"/>
                <a:cs typeface="Canva Student Font"/>
                <a:sym typeface="Canva Student Font"/>
              </a:rPr>
              <a:t>ords transactions across multiple computers. </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Information is stored in blocks linked together using cryptographic hashes. </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Each block typically contains transaction data, a timestamp, and the hash of the previous block. </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This linking makes unauthorized changes detectable and helps protect the integrity of the records.</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decentralized: Public blockchains can operate without a central transaction-processing authority.</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Applications: Cryptocurrency, Property records, supply chain management, Asset tracking.</a:t>
            </a:r>
          </a:p>
        </p:txBody>
      </p:sp>
    </p:spTree>
  </p:cSld>
  <p:clrMapOvr>
    <a:masterClrMapping/>
  </p:clrMapOvr>
</p:sld>
</file>

<file path=ppt/slides/slide7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76433" y="-85725"/>
            <a:ext cx="8004125" cy="738796"/>
          </a:xfrm>
          <a:prstGeom prst="rect">
            <a:avLst/>
          </a:prstGeom>
        </p:spPr>
        <p:txBody>
          <a:bodyPr anchor="t" rtlCol="false" tIns="0" lIns="0" bIns="0" rIns="0">
            <a:spAutoFit/>
          </a:bodyPr>
          <a:lstStyle/>
          <a:p>
            <a:pPr algn="ctr">
              <a:lnSpc>
                <a:spcPts val="6003"/>
              </a:lnSpc>
              <a:spcBef>
                <a:spcPct val="0"/>
              </a:spcBef>
            </a:pPr>
            <a:r>
              <a:rPr lang="en-US" sz="4288">
                <a:gradFill>
                  <a:gsLst>
                    <a:gs pos="0">
                      <a:srgbClr val="7B2D9F">
                        <a:alpha val="100000"/>
                      </a:srgbClr>
                    </a:gs>
                    <a:gs pos="100000">
                      <a:srgbClr val="FDD82E">
                        <a:alpha val="100000"/>
                      </a:srgbClr>
                    </a:gs>
                  </a:gsLst>
                  <a:lin ang="5400000"/>
                </a:gradFill>
                <a:latin typeface="Gagalin"/>
                <a:ea typeface="Gagalin"/>
                <a:cs typeface="Gagalin"/>
                <a:sym typeface="Gagalin"/>
              </a:rPr>
              <a:t>subject alternative name (san)</a:t>
            </a:r>
          </a:p>
        </p:txBody>
      </p:sp>
      <p:sp>
        <p:nvSpPr>
          <p:cNvPr name="TextBox 3" id="3"/>
          <p:cNvSpPr txBox="true"/>
          <p:nvPr/>
        </p:nvSpPr>
        <p:spPr>
          <a:xfrm rot="0">
            <a:off x="0" y="702369"/>
            <a:ext cx="10287000" cy="7606321"/>
          </a:xfrm>
          <a:prstGeom prst="rect">
            <a:avLst/>
          </a:prstGeom>
        </p:spPr>
        <p:txBody>
          <a:bodyPr anchor="t" rtlCol="false" tIns="0" lIns="0" bIns="0" rIns="0">
            <a:spAutoFit/>
          </a:bodyPr>
          <a:lstStyle/>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an extensi</a:t>
            </a:r>
            <a:r>
              <a:rPr lang="en-US" sz="4288">
                <a:solidFill>
                  <a:srgbClr val="000000"/>
                </a:solidFill>
                <a:latin typeface="Canva Student Font"/>
                <a:ea typeface="Canva Student Font"/>
                <a:cs typeface="Canva Student Font"/>
                <a:sym typeface="Canva Student Font"/>
              </a:rPr>
              <a:t>on in a digital certificate that specifies the identities the certificate covers, such as fully qualified domain names (FQDNs), subdomains and IP addresses.</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Browsers use SAN entries to verify that a website's identity matches its certificate.</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A single certificate can include multiple domain names, and SAN entries may include wildcard domains where supported.</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Example: A single certificate can cover example.com, example.org and example.net.</a:t>
            </a:r>
          </a:p>
        </p:txBody>
      </p:sp>
    </p:spTree>
  </p:cSld>
  <p:clrMapOvr>
    <a:masterClrMapping/>
  </p:clrMapOvr>
</p:sld>
</file>

<file path=ppt/slides/slide7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566427" y="-14753"/>
            <a:ext cx="2431405" cy="738796"/>
          </a:xfrm>
          <a:prstGeom prst="rect">
            <a:avLst/>
          </a:prstGeom>
        </p:spPr>
        <p:txBody>
          <a:bodyPr anchor="t" rtlCol="false" tIns="0" lIns="0" bIns="0" rIns="0">
            <a:spAutoFit/>
          </a:bodyPr>
          <a:lstStyle/>
          <a:p>
            <a:pPr algn="ctr">
              <a:lnSpc>
                <a:spcPts val="6003"/>
              </a:lnSpc>
              <a:spcBef>
                <a:spcPct val="0"/>
              </a:spcBef>
            </a:pPr>
            <a:r>
              <a:rPr lang="en-US" sz="4288">
                <a:gradFill>
                  <a:gsLst>
                    <a:gs pos="0">
                      <a:srgbClr val="7B2D9F">
                        <a:alpha val="100000"/>
                      </a:srgbClr>
                    </a:gs>
                    <a:gs pos="100000">
                      <a:srgbClr val="FDD82E">
                        <a:alpha val="100000"/>
                      </a:srgbClr>
                    </a:gs>
                  </a:gsLst>
                  <a:lin ang="5400000"/>
                </a:gradFill>
                <a:latin typeface="Gagalin"/>
                <a:ea typeface="Gagalin"/>
                <a:cs typeface="Gagalin"/>
                <a:sym typeface="Gagalin"/>
              </a:rPr>
              <a:t>wildcards</a:t>
            </a:r>
          </a:p>
        </p:txBody>
      </p:sp>
      <p:sp>
        <p:nvSpPr>
          <p:cNvPr name="TextBox 3" id="3"/>
          <p:cNvSpPr txBox="true"/>
          <p:nvPr/>
        </p:nvSpPr>
        <p:spPr>
          <a:xfrm rot="0">
            <a:off x="30187" y="628792"/>
            <a:ext cx="10112265" cy="5320321"/>
          </a:xfrm>
          <a:prstGeom prst="rect">
            <a:avLst/>
          </a:prstGeom>
        </p:spPr>
        <p:txBody>
          <a:bodyPr anchor="t" rtlCol="false" tIns="0" lIns="0" bIns="0" rIns="0">
            <a:spAutoFit/>
          </a:bodyPr>
          <a:lstStyle/>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A digital certificate that secures multiple subd</a:t>
            </a:r>
            <a:r>
              <a:rPr lang="en-US" sz="4288">
                <a:solidFill>
                  <a:srgbClr val="000000"/>
                </a:solidFill>
                <a:latin typeface="Canva Student Font"/>
                <a:ea typeface="Canva Student Font"/>
                <a:cs typeface="Canva Student Font"/>
                <a:sym typeface="Canva Student Font"/>
              </a:rPr>
              <a:t>omains under the same domain using a wildcard (*). </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It simplifies certificate management and can reduce costs, but if its private key is compromised, all covered subdomains may be affected.</a:t>
            </a:r>
          </a:p>
          <a:p>
            <a:pPr algn="l" marL="925900" indent="-462950" lvl="1">
              <a:lnSpc>
                <a:spcPts val="6003"/>
              </a:lnSpc>
              <a:spcBef>
                <a:spcPct val="0"/>
              </a:spcBef>
              <a:buFont typeface="Arial"/>
              <a:buChar char="•"/>
            </a:pPr>
            <a:r>
              <a:rPr lang="en-US" sz="4288">
                <a:solidFill>
                  <a:srgbClr val="000000"/>
                </a:solidFill>
                <a:latin typeface="Canva Student Font"/>
                <a:ea typeface="Canva Student Font"/>
                <a:cs typeface="Canva Student Font"/>
                <a:sym typeface="Canva Student Font"/>
              </a:rPr>
              <a:t>Example: *.example.com can cover www.example.com, mail.example.com and shop.example.com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DAEalu23sRc</dc:identifier>
  <dcterms:modified xsi:type="dcterms:W3CDTF">2011-08-01T06:04:30Z</dcterms:modified>
  <cp:revision>1</cp:revision>
  <dc:title>general security concepts</dc:title>
</cp:coreProperties>
</file>